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7.xml" ContentType="application/vnd.openxmlformats-officedocument.presentationml.slide+xml"/>
  <Override PartName="/ppt/notesSlides/notesSlide2.xml" ContentType="application/vnd.openxmlformats-officedocument.presentationml.notesSlide+xml"/>
  <Override PartName="/ppt/slides/slide5.xml" ContentType="application/vnd.openxmlformats-officedocument.presentationml.slide+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presProps.xml" ContentType="application/vnd.openxmlformats-officedocument.presentationml.presProps+xml"/>
  <Override PartName="/ppt/slides/slide11.xml" ContentType="application/vnd.openxmlformats-officedocument.presentationml.slide+xml"/>
  <Override PartName="/ppt/slides/slide13.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docProps/core.xml" ContentType="application/vnd.openxmlformats-package.core-properties+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slides/slide23.xml" ContentType="application/vnd.openxmlformats-officedocument.presentationml.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tableStyles.xml" ContentType="application/vnd.openxmlformats-officedocument.presentationml.tableStyles+xml"/>
  <Override PartName="/ppt/notesSlides/notesSlide4.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88952" cy="9144000"/>
  <p:notesSz cx="9144000" cy="12188952"/>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39"/>
        <p:guide pos="288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notesMaster" Target="notesMasters/notesMaster1.xml"/><Relationship Id="rId28" Type="http://schemas.openxmlformats.org/officeDocument/2006/relationships/presProps" Target="presProps.xml" /><Relationship Id="rId29" Type="http://schemas.openxmlformats.org/officeDocument/2006/relationships/tableStyles" Target="tableStyles.xml" /><Relationship Id="rId3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637289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68923369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46835078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6308192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1765174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572324649"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6189801" name="Slide Image Placeholder 1"/>
          <p:cNvSpPr>
            <a:spLocks noChangeAspect="1" noGrp="1" noRot="1"/>
          </p:cNvSpPr>
          <p:nvPr>
            <p:ph type="sldImg"/>
          </p:nvPr>
        </p:nvSpPr>
        <p:spPr bwMode="auto"/>
      </p:sp>
      <p:sp>
        <p:nvSpPr>
          <p:cNvPr id="1787569658" name="Notes Placeholder 2"/>
          <p:cNvSpPr>
            <a:spLocks noGrp="1"/>
          </p:cNvSpPr>
          <p:nvPr>
            <p:ph type="body" idx="1"/>
          </p:nvPr>
        </p:nvSpPr>
        <p:spPr bwMode="auto"/>
        <p:txBody>
          <a:bodyPr/>
          <a:lstStyle/>
          <a:p>
            <a:pPr>
              <a:defRPr/>
            </a:pPr>
            <a:r>
              <a:rPr lang="en-US"/>
              <a:t>Portada del diario. Cada estudiante o equipo duplica el archivo y lo completa.</a:t>
            </a:r>
            <a:endParaRPr lang="en-US"/>
          </a:p>
        </p:txBody>
      </p:sp>
      <p:sp>
        <p:nvSpPr>
          <p:cNvPr id="1148130874"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5696245" name="Slide Image Placeholder 1"/>
          <p:cNvSpPr>
            <a:spLocks noChangeAspect="1" noGrp="1" noRot="1"/>
          </p:cNvSpPr>
          <p:nvPr>
            <p:ph type="sldImg"/>
          </p:nvPr>
        </p:nvSpPr>
        <p:spPr bwMode="auto"/>
      </p:sp>
      <p:sp>
        <p:nvSpPr>
          <p:cNvPr id="745295172" name="Notes Placeholder 2"/>
          <p:cNvSpPr>
            <a:spLocks noGrp="1"/>
          </p:cNvSpPr>
          <p:nvPr>
            <p:ph type="body" idx="1"/>
          </p:nvPr>
        </p:nvSpPr>
        <p:spPr bwMode="auto"/>
        <p:txBody>
          <a:bodyPr/>
          <a:lstStyle/>
          <a:p>
            <a:pPr>
              <a:defRPr/>
            </a:pPr>
            <a:endParaRPr lang="en-US"/>
          </a:p>
        </p:txBody>
      </p:sp>
      <p:sp>
        <p:nvSpPr>
          <p:cNvPr id="373530595"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90613" name="Slide Image Placeholder 1"/>
          <p:cNvSpPr>
            <a:spLocks noChangeAspect="1" noGrp="1" noRot="1"/>
          </p:cNvSpPr>
          <p:nvPr>
            <p:ph type="sldImg"/>
          </p:nvPr>
        </p:nvSpPr>
        <p:spPr bwMode="auto"/>
      </p:sp>
      <p:sp>
        <p:nvSpPr>
          <p:cNvPr id="1138702396" name="Notes Placeholder 2"/>
          <p:cNvSpPr>
            <a:spLocks noGrp="1"/>
          </p:cNvSpPr>
          <p:nvPr>
            <p:ph type="body" idx="1"/>
          </p:nvPr>
        </p:nvSpPr>
        <p:spPr bwMode="auto"/>
        <p:txBody>
          <a:bodyPr/>
          <a:lstStyle/>
          <a:p>
            <a:pPr>
              <a:defRPr/>
            </a:pPr>
            <a:endParaRPr lang="en-US"/>
          </a:p>
        </p:txBody>
      </p:sp>
      <p:sp>
        <p:nvSpPr>
          <p:cNvPr id="184193826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8902647" name="Slide Image Placeholder 1"/>
          <p:cNvSpPr>
            <a:spLocks noChangeAspect="1" noGrp="1" noRot="1"/>
          </p:cNvSpPr>
          <p:nvPr>
            <p:ph type="sldImg"/>
          </p:nvPr>
        </p:nvSpPr>
        <p:spPr bwMode="auto"/>
      </p:sp>
      <p:sp>
        <p:nvSpPr>
          <p:cNvPr id="1360431218" name="Notes Placeholder 2"/>
          <p:cNvSpPr>
            <a:spLocks noGrp="1"/>
          </p:cNvSpPr>
          <p:nvPr>
            <p:ph type="body" idx="1"/>
          </p:nvPr>
        </p:nvSpPr>
        <p:spPr bwMode="auto"/>
        <p:txBody>
          <a:bodyPr/>
          <a:lstStyle/>
          <a:p>
            <a:pPr>
              <a:defRPr/>
            </a:pPr>
            <a:endParaRPr lang="en-US"/>
          </a:p>
        </p:txBody>
      </p:sp>
      <p:sp>
        <p:nvSpPr>
          <p:cNvPr id="89571160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6836673" name="Slide Image Placeholder 1"/>
          <p:cNvSpPr>
            <a:spLocks noChangeAspect="1" noGrp="1" noRot="1"/>
          </p:cNvSpPr>
          <p:nvPr>
            <p:ph type="sldImg"/>
          </p:nvPr>
        </p:nvSpPr>
        <p:spPr bwMode="auto"/>
      </p:sp>
      <p:sp>
        <p:nvSpPr>
          <p:cNvPr id="1192183732" name="Notes Placeholder 2"/>
          <p:cNvSpPr>
            <a:spLocks noGrp="1"/>
          </p:cNvSpPr>
          <p:nvPr>
            <p:ph type="body" idx="1"/>
          </p:nvPr>
        </p:nvSpPr>
        <p:spPr bwMode="auto"/>
        <p:txBody>
          <a:bodyPr/>
          <a:lstStyle/>
          <a:p>
            <a:pPr>
              <a:defRPr/>
            </a:pPr>
            <a:endParaRPr lang="en-US"/>
          </a:p>
        </p:txBody>
      </p:sp>
      <p:sp>
        <p:nvSpPr>
          <p:cNvPr id="2075115413"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6143649" name="Slide Image Placeholder 1"/>
          <p:cNvSpPr>
            <a:spLocks noChangeAspect="1" noGrp="1" noRot="1"/>
          </p:cNvSpPr>
          <p:nvPr>
            <p:ph type="sldImg"/>
          </p:nvPr>
        </p:nvSpPr>
        <p:spPr bwMode="auto"/>
      </p:sp>
      <p:sp>
        <p:nvSpPr>
          <p:cNvPr id="1628839827" name="Notes Placeholder 2"/>
          <p:cNvSpPr>
            <a:spLocks noGrp="1"/>
          </p:cNvSpPr>
          <p:nvPr>
            <p:ph type="body" idx="1"/>
          </p:nvPr>
        </p:nvSpPr>
        <p:spPr bwMode="auto"/>
        <p:txBody>
          <a:bodyPr/>
          <a:lstStyle/>
          <a:p>
            <a:pPr>
              <a:defRPr/>
            </a:pPr>
            <a:endParaRPr lang="en-US"/>
          </a:p>
        </p:txBody>
      </p:sp>
      <p:sp>
        <p:nvSpPr>
          <p:cNvPr id="36361777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014733" name="Slide Image Placeholder 1"/>
          <p:cNvSpPr>
            <a:spLocks noChangeAspect="1" noGrp="1" noRot="1"/>
          </p:cNvSpPr>
          <p:nvPr>
            <p:ph type="sldImg"/>
          </p:nvPr>
        </p:nvSpPr>
        <p:spPr bwMode="auto"/>
      </p:sp>
      <p:sp>
        <p:nvSpPr>
          <p:cNvPr id="140571741" name="Notes Placeholder 2"/>
          <p:cNvSpPr>
            <a:spLocks noGrp="1"/>
          </p:cNvSpPr>
          <p:nvPr>
            <p:ph type="body" idx="1"/>
          </p:nvPr>
        </p:nvSpPr>
        <p:spPr bwMode="auto"/>
        <p:txBody>
          <a:bodyPr/>
          <a:lstStyle/>
          <a:p>
            <a:pPr>
              <a:defRPr/>
            </a:pPr>
            <a:endParaRPr lang="en-US"/>
          </a:p>
        </p:txBody>
      </p:sp>
      <p:sp>
        <p:nvSpPr>
          <p:cNvPr id="831012584"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0901118" name="Slide Image Placeholder 1"/>
          <p:cNvSpPr>
            <a:spLocks noChangeAspect="1" noGrp="1" noRot="1"/>
          </p:cNvSpPr>
          <p:nvPr>
            <p:ph type="sldImg"/>
          </p:nvPr>
        </p:nvSpPr>
        <p:spPr bwMode="auto"/>
      </p:sp>
      <p:sp>
        <p:nvSpPr>
          <p:cNvPr id="361311577" name="Notes Placeholder 2"/>
          <p:cNvSpPr>
            <a:spLocks noGrp="1"/>
          </p:cNvSpPr>
          <p:nvPr>
            <p:ph type="body" idx="1"/>
          </p:nvPr>
        </p:nvSpPr>
        <p:spPr bwMode="auto"/>
        <p:txBody>
          <a:bodyPr/>
          <a:lstStyle/>
          <a:p>
            <a:pPr>
              <a:defRPr/>
            </a:pPr>
            <a:endParaRPr lang="en-US"/>
          </a:p>
        </p:txBody>
      </p:sp>
      <p:sp>
        <p:nvSpPr>
          <p:cNvPr id="1434041113"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0424378" name="Slide Image Placeholder 1"/>
          <p:cNvSpPr>
            <a:spLocks noChangeAspect="1" noGrp="1" noRot="1"/>
          </p:cNvSpPr>
          <p:nvPr>
            <p:ph type="sldImg"/>
          </p:nvPr>
        </p:nvSpPr>
        <p:spPr bwMode="auto"/>
      </p:sp>
      <p:sp>
        <p:nvSpPr>
          <p:cNvPr id="2026525778" name="Notes Placeholder 2"/>
          <p:cNvSpPr>
            <a:spLocks noGrp="1"/>
          </p:cNvSpPr>
          <p:nvPr>
            <p:ph type="body" idx="1"/>
          </p:nvPr>
        </p:nvSpPr>
        <p:spPr bwMode="auto"/>
        <p:txBody>
          <a:bodyPr/>
          <a:lstStyle/>
          <a:p>
            <a:pPr>
              <a:defRPr/>
            </a:pPr>
            <a:endParaRPr lang="en-US"/>
          </a:p>
        </p:txBody>
      </p:sp>
      <p:sp>
        <p:nvSpPr>
          <p:cNvPr id="417636143"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8152453" name="Slide Image Placeholder 1"/>
          <p:cNvSpPr>
            <a:spLocks noChangeAspect="1" noGrp="1" noRot="1"/>
          </p:cNvSpPr>
          <p:nvPr>
            <p:ph type="sldImg"/>
          </p:nvPr>
        </p:nvSpPr>
        <p:spPr bwMode="auto"/>
      </p:sp>
      <p:sp>
        <p:nvSpPr>
          <p:cNvPr id="1036854828" name="Notes Placeholder 2"/>
          <p:cNvSpPr>
            <a:spLocks noGrp="1"/>
          </p:cNvSpPr>
          <p:nvPr>
            <p:ph type="body" idx="1"/>
          </p:nvPr>
        </p:nvSpPr>
        <p:spPr bwMode="auto"/>
        <p:txBody>
          <a:bodyPr/>
          <a:lstStyle/>
          <a:p>
            <a:pPr>
              <a:defRPr/>
            </a:pPr>
            <a:endParaRPr lang="en-US"/>
          </a:p>
        </p:txBody>
      </p:sp>
      <p:sp>
        <p:nvSpPr>
          <p:cNvPr id="7118989"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660658" name="Slide Image Placeholder 1"/>
          <p:cNvSpPr>
            <a:spLocks noChangeAspect="1" noGrp="1" noRot="1"/>
          </p:cNvSpPr>
          <p:nvPr>
            <p:ph type="sldImg"/>
          </p:nvPr>
        </p:nvSpPr>
        <p:spPr bwMode="auto"/>
      </p:sp>
      <p:sp>
        <p:nvSpPr>
          <p:cNvPr id="884304283" name="Notes Placeholder 2"/>
          <p:cNvSpPr>
            <a:spLocks noGrp="1"/>
          </p:cNvSpPr>
          <p:nvPr>
            <p:ph type="body" idx="1"/>
          </p:nvPr>
        </p:nvSpPr>
        <p:spPr bwMode="auto"/>
        <p:txBody>
          <a:bodyPr/>
          <a:lstStyle/>
          <a:p>
            <a:pPr>
              <a:defRPr/>
            </a:pPr>
            <a:endParaRPr lang="en-US"/>
          </a:p>
        </p:txBody>
      </p:sp>
      <p:sp>
        <p:nvSpPr>
          <p:cNvPr id="430437524"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6623267" name="Slide Image Placeholder 1"/>
          <p:cNvSpPr>
            <a:spLocks noChangeAspect="1" noGrp="1" noRot="1"/>
          </p:cNvSpPr>
          <p:nvPr>
            <p:ph type="sldImg"/>
          </p:nvPr>
        </p:nvSpPr>
        <p:spPr bwMode="auto"/>
      </p:sp>
      <p:sp>
        <p:nvSpPr>
          <p:cNvPr id="210541724" name="Notes Placeholder 2"/>
          <p:cNvSpPr>
            <a:spLocks noGrp="1"/>
          </p:cNvSpPr>
          <p:nvPr>
            <p:ph type="body" idx="1"/>
          </p:nvPr>
        </p:nvSpPr>
        <p:spPr bwMode="auto"/>
        <p:txBody>
          <a:bodyPr/>
          <a:lstStyle/>
          <a:p>
            <a:pPr>
              <a:defRPr/>
            </a:pPr>
            <a:endParaRPr lang="en-US"/>
          </a:p>
        </p:txBody>
      </p:sp>
      <p:sp>
        <p:nvSpPr>
          <p:cNvPr id="1528791317"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791746" name="Slide Image Placeholder 1"/>
          <p:cNvSpPr>
            <a:spLocks noChangeAspect="1" noGrp="1" noRot="1"/>
          </p:cNvSpPr>
          <p:nvPr>
            <p:ph type="sldImg"/>
          </p:nvPr>
        </p:nvSpPr>
        <p:spPr bwMode="auto"/>
      </p:sp>
      <p:sp>
        <p:nvSpPr>
          <p:cNvPr id="1310750717" name="Notes Placeholder 2"/>
          <p:cNvSpPr>
            <a:spLocks noGrp="1"/>
          </p:cNvSpPr>
          <p:nvPr>
            <p:ph type="body" idx="1"/>
          </p:nvPr>
        </p:nvSpPr>
        <p:spPr bwMode="auto"/>
        <p:txBody>
          <a:bodyPr/>
          <a:lstStyle/>
          <a:p>
            <a:pPr>
              <a:defRPr/>
            </a:pPr>
            <a:endParaRPr lang="en-US"/>
          </a:p>
        </p:txBody>
      </p:sp>
      <p:sp>
        <p:nvSpPr>
          <p:cNvPr id="353580588"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9410571" name="Slide Image Placeholder 1"/>
          <p:cNvSpPr>
            <a:spLocks noChangeAspect="1" noGrp="1" noRot="1"/>
          </p:cNvSpPr>
          <p:nvPr>
            <p:ph type="sldImg"/>
          </p:nvPr>
        </p:nvSpPr>
        <p:spPr bwMode="auto"/>
      </p:sp>
      <p:sp>
        <p:nvSpPr>
          <p:cNvPr id="1942644248" name="Notes Placeholder 2"/>
          <p:cNvSpPr>
            <a:spLocks noGrp="1"/>
          </p:cNvSpPr>
          <p:nvPr>
            <p:ph type="body" idx="1"/>
          </p:nvPr>
        </p:nvSpPr>
        <p:spPr bwMode="auto"/>
        <p:txBody>
          <a:bodyPr/>
          <a:lstStyle/>
          <a:p>
            <a:pPr>
              <a:defRPr/>
            </a:pPr>
            <a:endParaRPr lang="en-US"/>
          </a:p>
        </p:txBody>
      </p:sp>
      <p:sp>
        <p:nvSpPr>
          <p:cNvPr id="1510102074"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549554" name="Slide Image Placeholder 1"/>
          <p:cNvSpPr>
            <a:spLocks noChangeAspect="1" noGrp="1" noRot="1"/>
          </p:cNvSpPr>
          <p:nvPr>
            <p:ph type="sldImg"/>
          </p:nvPr>
        </p:nvSpPr>
        <p:spPr bwMode="auto"/>
      </p:sp>
      <p:sp>
        <p:nvSpPr>
          <p:cNvPr id="1247568472" name="Notes Placeholder 2"/>
          <p:cNvSpPr>
            <a:spLocks noGrp="1"/>
          </p:cNvSpPr>
          <p:nvPr>
            <p:ph type="body" idx="1"/>
          </p:nvPr>
        </p:nvSpPr>
        <p:spPr bwMode="auto"/>
        <p:txBody>
          <a:bodyPr/>
          <a:lstStyle/>
          <a:p>
            <a:pPr>
              <a:defRPr/>
            </a:pPr>
            <a:endParaRPr lang="en-US"/>
          </a:p>
        </p:txBody>
      </p:sp>
      <p:sp>
        <p:nvSpPr>
          <p:cNvPr id="2047884994"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2505220" name="Slide Image Placeholder 1"/>
          <p:cNvSpPr>
            <a:spLocks noChangeAspect="1" noGrp="1" noRot="1"/>
          </p:cNvSpPr>
          <p:nvPr>
            <p:ph type="sldImg"/>
          </p:nvPr>
        </p:nvSpPr>
        <p:spPr bwMode="auto"/>
      </p:sp>
      <p:sp>
        <p:nvSpPr>
          <p:cNvPr id="820634105" name="Notes Placeholder 2"/>
          <p:cNvSpPr>
            <a:spLocks noGrp="1"/>
          </p:cNvSpPr>
          <p:nvPr>
            <p:ph type="body" idx="1"/>
          </p:nvPr>
        </p:nvSpPr>
        <p:spPr bwMode="auto"/>
        <p:txBody>
          <a:bodyPr/>
          <a:lstStyle/>
          <a:p>
            <a:pPr>
              <a:defRPr/>
            </a:pPr>
            <a:endParaRPr lang="en-US"/>
          </a:p>
        </p:txBody>
      </p:sp>
      <p:sp>
        <p:nvSpPr>
          <p:cNvPr id="245288450"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9976273" name="Slide Image Placeholder 1"/>
          <p:cNvSpPr>
            <a:spLocks noChangeAspect="1" noGrp="1" noRot="1"/>
          </p:cNvSpPr>
          <p:nvPr>
            <p:ph type="sldImg"/>
          </p:nvPr>
        </p:nvSpPr>
        <p:spPr bwMode="auto"/>
      </p:sp>
      <p:sp>
        <p:nvSpPr>
          <p:cNvPr id="1344183977" name="Notes Placeholder 2"/>
          <p:cNvSpPr>
            <a:spLocks noGrp="1"/>
          </p:cNvSpPr>
          <p:nvPr>
            <p:ph type="body" idx="1"/>
          </p:nvPr>
        </p:nvSpPr>
        <p:spPr bwMode="auto"/>
        <p:txBody>
          <a:bodyPr/>
          <a:lstStyle/>
          <a:p>
            <a:pPr>
              <a:defRPr/>
            </a:pPr>
            <a:endParaRPr lang="en-US"/>
          </a:p>
        </p:txBody>
      </p:sp>
      <p:sp>
        <p:nvSpPr>
          <p:cNvPr id="1844234482" name="Slide Number Placeholder 3"/>
          <p:cNvSpPr>
            <a:spLocks noGrp="1"/>
          </p:cNvSpPr>
          <p:nvPr>
            <p:ph type="sldNum" sz="quarter" idx="10"/>
          </p:nvPr>
        </p:nvSpPr>
        <p:spPr bwMode="auto"/>
        <p:txBody>
          <a:bodyPr/>
          <a:lstStyle/>
          <a:p>
            <a:pPr>
              <a:defRPr/>
            </a:pPr>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5035330" name="Slide Image Placeholder 1"/>
          <p:cNvSpPr>
            <a:spLocks noChangeAspect="1" noGrp="1" noRot="1"/>
          </p:cNvSpPr>
          <p:nvPr>
            <p:ph type="sldImg"/>
          </p:nvPr>
        </p:nvSpPr>
        <p:spPr bwMode="auto"/>
      </p:sp>
      <p:sp>
        <p:nvSpPr>
          <p:cNvPr id="1297700207" name="Notes Placeholder 2"/>
          <p:cNvSpPr>
            <a:spLocks noGrp="1"/>
          </p:cNvSpPr>
          <p:nvPr>
            <p:ph type="body" idx="1"/>
          </p:nvPr>
        </p:nvSpPr>
        <p:spPr bwMode="auto"/>
        <p:txBody>
          <a:bodyPr/>
          <a:lstStyle/>
          <a:p>
            <a:pPr>
              <a:defRPr/>
            </a:pPr>
            <a:endParaRPr lang="en-US"/>
          </a:p>
        </p:txBody>
      </p:sp>
      <p:sp>
        <p:nvSpPr>
          <p:cNvPr id="912977477" name="Slide Number Placeholder 3"/>
          <p:cNvSpPr>
            <a:spLocks noGrp="1"/>
          </p:cNvSpPr>
          <p:nvPr>
            <p:ph type="sldNum" sz="quarter" idx="10"/>
          </p:nvPr>
        </p:nvSpPr>
        <p:spPr bwMode="auto"/>
        <p:txBody>
          <a:bodyPr/>
          <a:lstStyle/>
          <a:p>
            <a:pPr>
              <a:defRPr/>
            </a:pPr>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5347756" name="Slide Image Placeholder 1"/>
          <p:cNvSpPr>
            <a:spLocks noChangeAspect="1" noGrp="1" noRot="1"/>
          </p:cNvSpPr>
          <p:nvPr>
            <p:ph type="sldImg"/>
          </p:nvPr>
        </p:nvSpPr>
        <p:spPr bwMode="auto"/>
      </p:sp>
      <p:sp>
        <p:nvSpPr>
          <p:cNvPr id="1950701215" name="Notes Placeholder 2"/>
          <p:cNvSpPr>
            <a:spLocks noGrp="1"/>
          </p:cNvSpPr>
          <p:nvPr>
            <p:ph type="body" idx="1"/>
          </p:nvPr>
        </p:nvSpPr>
        <p:spPr bwMode="auto"/>
        <p:txBody>
          <a:bodyPr/>
          <a:lstStyle/>
          <a:p>
            <a:pPr>
              <a:defRPr/>
            </a:pPr>
            <a:endParaRPr lang="en-US"/>
          </a:p>
        </p:txBody>
      </p:sp>
      <p:sp>
        <p:nvSpPr>
          <p:cNvPr id="385476162" name="Slide Number Placeholder 3"/>
          <p:cNvSpPr>
            <a:spLocks noGrp="1"/>
          </p:cNvSpPr>
          <p:nvPr>
            <p:ph type="sldNum" sz="quarter" idx="10"/>
          </p:nvPr>
        </p:nvSpPr>
        <p:spPr bwMode="auto"/>
        <p:txBody>
          <a:bodyPr/>
          <a:lstStyle/>
          <a:p>
            <a:pPr>
              <a:defRPr/>
            </a:pPr>
            <a:fld id="{F7021451-1387-4CA6-816F-3879F97B5CBC}" type="slidenum">
              <a:rPr lang="en-US"/>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9548651" name="Slide Image Placeholder 1"/>
          <p:cNvSpPr>
            <a:spLocks noChangeAspect="1" noGrp="1" noRot="1"/>
          </p:cNvSpPr>
          <p:nvPr>
            <p:ph type="sldImg"/>
          </p:nvPr>
        </p:nvSpPr>
        <p:spPr bwMode="auto"/>
      </p:sp>
      <p:sp>
        <p:nvSpPr>
          <p:cNvPr id="1601903155" name="Notes Placeholder 2"/>
          <p:cNvSpPr>
            <a:spLocks noGrp="1"/>
          </p:cNvSpPr>
          <p:nvPr>
            <p:ph type="body" idx="1"/>
          </p:nvPr>
        </p:nvSpPr>
        <p:spPr bwMode="auto"/>
        <p:txBody>
          <a:bodyPr/>
          <a:lstStyle/>
          <a:p>
            <a:pPr>
              <a:defRPr/>
            </a:pPr>
            <a:endParaRPr lang="en-US"/>
          </a:p>
        </p:txBody>
      </p:sp>
      <p:sp>
        <p:nvSpPr>
          <p:cNvPr id="563853191" name="Slide Number Placeholder 3"/>
          <p:cNvSpPr>
            <a:spLocks noGrp="1"/>
          </p:cNvSpPr>
          <p:nvPr>
            <p:ph type="sldNum" sz="quarter" idx="10"/>
          </p:nvPr>
        </p:nvSpPr>
        <p:spPr bwMode="auto"/>
        <p:txBody>
          <a:bodyPr/>
          <a:lstStyle/>
          <a:p>
            <a:pPr>
              <a:defRPr/>
            </a:pPr>
            <a:fld id="{F7021451-1387-4CA6-816F-3879F97B5CBC}" type="slidenum">
              <a:rPr lang="en-US"/>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4685505" name="Slide Image Placeholder 1"/>
          <p:cNvSpPr>
            <a:spLocks noChangeAspect="1" noGrp="1" noRot="1"/>
          </p:cNvSpPr>
          <p:nvPr>
            <p:ph type="sldImg"/>
          </p:nvPr>
        </p:nvSpPr>
        <p:spPr bwMode="auto"/>
      </p:sp>
      <p:sp>
        <p:nvSpPr>
          <p:cNvPr id="1681221041" name="Notes Placeholder 2"/>
          <p:cNvSpPr>
            <a:spLocks noGrp="1"/>
          </p:cNvSpPr>
          <p:nvPr>
            <p:ph type="body" idx="1"/>
          </p:nvPr>
        </p:nvSpPr>
        <p:spPr bwMode="auto"/>
        <p:txBody>
          <a:bodyPr/>
          <a:lstStyle/>
          <a:p>
            <a:pPr>
              <a:defRPr/>
            </a:pPr>
            <a:endParaRPr lang="en-US"/>
          </a:p>
        </p:txBody>
      </p:sp>
      <p:sp>
        <p:nvSpPr>
          <p:cNvPr id="1448235327" name="Slide Number Placeholder 3"/>
          <p:cNvSpPr>
            <a:spLocks noGrp="1"/>
          </p:cNvSpPr>
          <p:nvPr>
            <p:ph type="sldNum" sz="quarter" idx="10"/>
          </p:nvPr>
        </p:nvSpPr>
        <p:spPr bwMode="auto"/>
        <p:txBody>
          <a:bodyPr/>
          <a:lstStyle/>
          <a:p>
            <a:pPr>
              <a:defRPr/>
            </a:pPr>
            <a:fld id="{F7021451-1387-4CA6-816F-3879F97B5CBC}" type="slidenum">
              <a:rPr lang="en-US"/>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7800126" name="Slide Image Placeholder 1"/>
          <p:cNvSpPr>
            <a:spLocks noChangeAspect="1" noGrp="1" noRot="1"/>
          </p:cNvSpPr>
          <p:nvPr>
            <p:ph type="sldImg"/>
          </p:nvPr>
        </p:nvSpPr>
        <p:spPr bwMode="auto"/>
      </p:sp>
      <p:sp>
        <p:nvSpPr>
          <p:cNvPr id="1199250790" name="Notes Placeholder 2"/>
          <p:cNvSpPr>
            <a:spLocks noGrp="1"/>
          </p:cNvSpPr>
          <p:nvPr>
            <p:ph type="body" idx="1"/>
          </p:nvPr>
        </p:nvSpPr>
        <p:spPr bwMode="auto"/>
        <p:txBody>
          <a:bodyPr/>
          <a:lstStyle/>
          <a:p>
            <a:pPr>
              <a:defRPr/>
            </a:pPr>
            <a:endParaRPr lang="en-US"/>
          </a:p>
        </p:txBody>
      </p:sp>
      <p:sp>
        <p:nvSpPr>
          <p:cNvPr id="1408770166" name="Slide Number Placeholder 3"/>
          <p:cNvSpPr>
            <a:spLocks noGrp="1"/>
          </p:cNvSpPr>
          <p:nvPr>
            <p:ph type="sldNum" sz="quarter" idx="10"/>
          </p:nvPr>
        </p:nvSpPr>
        <p:spPr bwMode="auto"/>
        <p:txBody>
          <a:bodyPr/>
          <a:lstStyle/>
          <a:p>
            <a:pPr>
              <a:defRPr/>
            </a:pPr>
            <a:fld id="{F7021451-1387-4CA6-816F-3879F97B5CBC}" type="slidenum">
              <a:rPr lang="en-US"/>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8842792" name="Slide Image Placeholder 1"/>
          <p:cNvSpPr>
            <a:spLocks noChangeAspect="1" noGrp="1" noRot="1"/>
          </p:cNvSpPr>
          <p:nvPr>
            <p:ph type="sldImg"/>
          </p:nvPr>
        </p:nvSpPr>
        <p:spPr bwMode="auto"/>
      </p:sp>
      <p:sp>
        <p:nvSpPr>
          <p:cNvPr id="798757388" name="Notes Placeholder 2"/>
          <p:cNvSpPr>
            <a:spLocks noGrp="1"/>
          </p:cNvSpPr>
          <p:nvPr>
            <p:ph type="body" idx="1"/>
          </p:nvPr>
        </p:nvSpPr>
        <p:spPr bwMode="auto"/>
        <p:txBody>
          <a:bodyPr/>
          <a:lstStyle/>
          <a:p>
            <a:pPr>
              <a:defRPr/>
            </a:pPr>
            <a:endParaRPr lang="en-US"/>
          </a:p>
        </p:txBody>
      </p:sp>
      <p:sp>
        <p:nvSpPr>
          <p:cNvPr id="42941253" name="Slide Number Placeholder 3"/>
          <p:cNvSpPr>
            <a:spLocks noGrp="1"/>
          </p:cNvSpPr>
          <p:nvPr>
            <p:ph type="sldNum" sz="quarter" idx="10"/>
          </p:nvPr>
        </p:nvSpPr>
        <p:spPr bwMode="auto"/>
        <p:txBody>
          <a:bodyPr/>
          <a:lstStyle/>
          <a:p>
            <a:pPr>
              <a:defRPr/>
            </a:pPr>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6008170" name="Slide Image Placeholder 1"/>
          <p:cNvSpPr>
            <a:spLocks noChangeAspect="1" noGrp="1" noRot="1"/>
          </p:cNvSpPr>
          <p:nvPr>
            <p:ph type="sldImg"/>
          </p:nvPr>
        </p:nvSpPr>
        <p:spPr bwMode="auto"/>
      </p:sp>
      <p:sp>
        <p:nvSpPr>
          <p:cNvPr id="1879544767" name="Notes Placeholder 2"/>
          <p:cNvSpPr>
            <a:spLocks noGrp="1"/>
          </p:cNvSpPr>
          <p:nvPr>
            <p:ph type="body" idx="1"/>
          </p:nvPr>
        </p:nvSpPr>
        <p:spPr bwMode="auto"/>
        <p:txBody>
          <a:bodyPr/>
          <a:lstStyle/>
          <a:p>
            <a:pPr>
              <a:defRPr/>
            </a:pPr>
            <a:endParaRPr lang="en-US"/>
          </a:p>
        </p:txBody>
      </p:sp>
      <p:sp>
        <p:nvSpPr>
          <p:cNvPr id="250970887" name="Slide Number Placeholder 3"/>
          <p:cNvSpPr>
            <a:spLocks noGrp="1"/>
          </p:cNvSpPr>
          <p:nvPr>
            <p:ph type="sldNum" sz="quarter" idx="10"/>
          </p:nvPr>
        </p:nvSpPr>
        <p:spPr bwMode="auto"/>
        <p:txBody>
          <a:bodyPr/>
          <a:lstStyle/>
          <a:p>
            <a:pPr>
              <a:defRPr/>
            </a:pPr>
            <a:fld id="{F7021451-1387-4CA6-816F-3879F97B5CBC}" type="slidenum">
              <a:rPr lang="en-US"/>
              <a:t>24</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FFFFF"/>
        </a:solidFill>
      </p:bgPr>
    </p:bg>
    <p:spTree>
      <p:nvGrpSpPr>
        <p:cNvPr id="1" name=""/>
        <p:cNvGrpSpPr/>
        <p:nvPr/>
      </p:nvGrpSpPr>
      <p:grpSpPr bwMode="auto">
        <a:xfrm>
          <a:off x="0" y="0"/>
          <a:ext cx="0" cy="0"/>
          <a:chOff x="0" y="0"/>
          <a:chExt cx="0" cy="0"/>
        </a:xfrm>
      </p:grpSpPr>
      <p:sp>
        <p:nvSpPr>
          <p:cNvPr id="873736258" name="Shape 0"/>
          <p:cNvSpPr/>
          <p:nvPr/>
        </p:nvSpPr>
        <p:spPr bwMode="auto">
          <a:xfrm>
            <a:off x="0" y="0"/>
            <a:ext cx="12188952" cy="9144000"/>
          </a:xfrm>
          <a:prstGeom prst="rect">
            <a:avLst/>
          </a:prstGeom>
          <a:solidFill>
            <a:srgbClr val="F8F9FA"/>
          </a:solidFill>
          <a:ln/>
        </p:spPr>
      </p:sp>
      <p:sp>
        <p:nvSpPr>
          <p:cNvPr id="286999005" name="Shape 1"/>
          <p:cNvSpPr/>
          <p:nvPr/>
        </p:nvSpPr>
        <p:spPr bwMode="auto">
          <a:xfrm>
            <a:off x="5989320" y="1874520"/>
            <a:ext cx="868680" cy="868680"/>
          </a:xfrm>
          <a:prstGeom prst="roundRect">
            <a:avLst>
              <a:gd name="adj" fmla="val 18947"/>
            </a:avLst>
          </a:prstGeom>
          <a:solidFill>
            <a:srgbClr val="34A853"/>
          </a:solidFill>
          <a:ln/>
        </p:spPr>
      </p:sp>
      <p:sp>
        <p:nvSpPr>
          <p:cNvPr id="1427095037" name="Shape 2"/>
          <p:cNvSpPr/>
          <p:nvPr/>
        </p:nvSpPr>
        <p:spPr bwMode="auto">
          <a:xfrm>
            <a:off x="5623560" y="3063240"/>
            <a:ext cx="640080" cy="640080"/>
          </a:xfrm>
          <a:prstGeom prst="roundRect">
            <a:avLst>
              <a:gd name="adj" fmla="val 25714"/>
            </a:avLst>
          </a:prstGeom>
          <a:solidFill>
            <a:srgbClr val="AECBFA"/>
          </a:solidFill>
          <a:ln/>
        </p:spPr>
      </p:sp>
      <p:sp>
        <p:nvSpPr>
          <p:cNvPr id="909624933" name="Shape 3"/>
          <p:cNvSpPr/>
          <p:nvPr/>
        </p:nvSpPr>
        <p:spPr bwMode="auto">
          <a:xfrm>
            <a:off x="6126480" y="4114800"/>
            <a:ext cx="1051560" cy="1051560"/>
          </a:xfrm>
          <a:prstGeom prst="roundRect">
            <a:avLst>
              <a:gd name="adj" fmla="val 15652"/>
            </a:avLst>
          </a:prstGeom>
          <a:solidFill>
            <a:srgbClr val="1967D2"/>
          </a:solidFill>
          <a:ln/>
        </p:spPr>
      </p:sp>
      <p:sp>
        <p:nvSpPr>
          <p:cNvPr id="1816898867" name="Shape 4"/>
          <p:cNvSpPr/>
          <p:nvPr/>
        </p:nvSpPr>
        <p:spPr bwMode="auto">
          <a:xfrm>
            <a:off x="6172200" y="5623560"/>
            <a:ext cx="731520" cy="731520"/>
          </a:xfrm>
          <a:prstGeom prst="roundRect">
            <a:avLst>
              <a:gd name="adj" fmla="val 22500"/>
            </a:avLst>
          </a:prstGeom>
          <a:solidFill>
            <a:srgbClr val="00838F"/>
          </a:solidFill>
          <a:ln/>
        </p:spPr>
      </p:sp>
      <p:sp>
        <p:nvSpPr>
          <p:cNvPr id="859807949" name="Shape 5"/>
          <p:cNvSpPr/>
          <p:nvPr/>
        </p:nvSpPr>
        <p:spPr bwMode="auto">
          <a:xfrm>
            <a:off x="10515600" y="1737360"/>
            <a:ext cx="777240" cy="777240"/>
          </a:xfrm>
          <a:prstGeom prst="roundRect">
            <a:avLst>
              <a:gd name="adj" fmla="val 21176"/>
            </a:avLst>
          </a:prstGeom>
          <a:solidFill>
            <a:srgbClr val="C5221F"/>
          </a:solidFill>
          <a:ln/>
        </p:spPr>
      </p:sp>
      <p:sp>
        <p:nvSpPr>
          <p:cNvPr id="1448086222" name="Shape 6"/>
          <p:cNvSpPr/>
          <p:nvPr/>
        </p:nvSpPr>
        <p:spPr bwMode="auto">
          <a:xfrm>
            <a:off x="10835640" y="2880360"/>
            <a:ext cx="594360" cy="594360"/>
          </a:xfrm>
          <a:prstGeom prst="roundRect">
            <a:avLst>
              <a:gd name="adj" fmla="val 27692"/>
            </a:avLst>
          </a:prstGeom>
          <a:solidFill>
            <a:srgbClr val="A8DAB5"/>
          </a:solidFill>
          <a:ln/>
        </p:spPr>
      </p:sp>
      <p:sp>
        <p:nvSpPr>
          <p:cNvPr id="1909090006" name="Shape 7"/>
          <p:cNvSpPr/>
          <p:nvPr/>
        </p:nvSpPr>
        <p:spPr bwMode="auto">
          <a:xfrm>
            <a:off x="10424160" y="3886200"/>
            <a:ext cx="1005840" cy="1005840"/>
          </a:xfrm>
          <a:prstGeom prst="roundRect">
            <a:avLst>
              <a:gd name="adj" fmla="val 16364"/>
            </a:avLst>
          </a:prstGeom>
          <a:solidFill>
            <a:srgbClr val="00838F"/>
          </a:solidFill>
          <a:ln/>
        </p:spPr>
      </p:sp>
      <p:sp>
        <p:nvSpPr>
          <p:cNvPr id="1276395237" name="Shape 8"/>
          <p:cNvSpPr/>
          <p:nvPr/>
        </p:nvSpPr>
        <p:spPr bwMode="auto">
          <a:xfrm>
            <a:off x="10744200" y="5394960"/>
            <a:ext cx="731520" cy="731520"/>
          </a:xfrm>
          <a:prstGeom prst="roundRect">
            <a:avLst>
              <a:gd name="adj" fmla="val 22500"/>
            </a:avLst>
          </a:prstGeom>
          <a:solidFill>
            <a:srgbClr val="1967D2"/>
          </a:solidFill>
          <a:ln/>
        </p:spPr>
      </p:sp>
      <p:sp>
        <p:nvSpPr>
          <p:cNvPr id="551486858" name="Shape 9"/>
          <p:cNvSpPr/>
          <p:nvPr/>
        </p:nvSpPr>
        <p:spPr bwMode="auto">
          <a:xfrm>
            <a:off x="10332720" y="6583680"/>
            <a:ext cx="548640" cy="548640"/>
          </a:xfrm>
          <a:prstGeom prst="roundRect">
            <a:avLst>
              <a:gd name="adj" fmla="val 30000"/>
            </a:avLst>
          </a:prstGeom>
          <a:solidFill>
            <a:srgbClr val="34A853"/>
          </a:solidFill>
          <a:ln/>
        </p:spPr>
      </p:sp>
      <p:sp>
        <p:nvSpPr>
          <p:cNvPr id="767664760" name="Shape 10"/>
          <p:cNvSpPr/>
          <p:nvPr/>
        </p:nvSpPr>
        <p:spPr bwMode="auto">
          <a:xfrm>
            <a:off x="7498080" y="2286000"/>
            <a:ext cx="2651760" cy="4937760"/>
          </a:xfrm>
          <a:prstGeom prst="roundRect">
            <a:avLst>
              <a:gd name="adj" fmla="val 4138"/>
            </a:avLst>
          </a:prstGeom>
          <a:solidFill>
            <a:srgbClr val="FFFFFF"/>
          </a:solidFill>
          <a:ln w="25400">
            <a:solidFill>
              <a:srgbClr val="DADCE0"/>
            </a:solidFill>
            <a:prstDash val="solid"/>
          </a:ln>
        </p:spPr>
      </p:sp>
      <p:sp>
        <p:nvSpPr>
          <p:cNvPr id="1350871276" name="Shape 11"/>
          <p:cNvSpPr/>
          <p:nvPr/>
        </p:nvSpPr>
        <p:spPr bwMode="auto">
          <a:xfrm>
            <a:off x="8549640" y="2432303"/>
            <a:ext cx="548640" cy="118872"/>
          </a:xfrm>
          <a:prstGeom prst="roundRect">
            <a:avLst>
              <a:gd name="adj" fmla="val 307692"/>
            </a:avLst>
          </a:prstGeom>
          <a:solidFill>
            <a:srgbClr val="DADCE0"/>
          </a:solidFill>
          <a:ln/>
        </p:spPr>
      </p:sp>
      <p:sp>
        <p:nvSpPr>
          <p:cNvPr id="1594973749" name="Shape 12"/>
          <p:cNvSpPr/>
          <p:nvPr/>
        </p:nvSpPr>
        <p:spPr bwMode="auto">
          <a:xfrm>
            <a:off x="7772400" y="2971800"/>
            <a:ext cx="2103120" cy="731520"/>
          </a:xfrm>
          <a:prstGeom prst="roundRect">
            <a:avLst>
              <a:gd name="adj" fmla="val 12500"/>
            </a:avLst>
          </a:prstGeom>
          <a:solidFill>
            <a:srgbClr val="34A853"/>
          </a:solidFill>
          <a:ln/>
        </p:spPr>
      </p:sp>
      <p:sp>
        <p:nvSpPr>
          <p:cNvPr id="1134504549" name="Shape 13"/>
          <p:cNvSpPr/>
          <p:nvPr/>
        </p:nvSpPr>
        <p:spPr bwMode="auto">
          <a:xfrm>
            <a:off x="7772400" y="3931920"/>
            <a:ext cx="2103120" cy="731520"/>
          </a:xfrm>
          <a:prstGeom prst="roundRect">
            <a:avLst>
              <a:gd name="adj" fmla="val 12500"/>
            </a:avLst>
          </a:prstGeom>
          <a:solidFill>
            <a:srgbClr val="1967D2"/>
          </a:solidFill>
          <a:ln/>
        </p:spPr>
      </p:sp>
      <p:sp>
        <p:nvSpPr>
          <p:cNvPr id="1938158663" name="Shape 14"/>
          <p:cNvSpPr/>
          <p:nvPr/>
        </p:nvSpPr>
        <p:spPr bwMode="auto">
          <a:xfrm>
            <a:off x="7772400" y="4892039"/>
            <a:ext cx="2103120" cy="731520"/>
          </a:xfrm>
          <a:prstGeom prst="roundRect">
            <a:avLst>
              <a:gd name="adj" fmla="val 12500"/>
            </a:avLst>
          </a:prstGeom>
          <a:solidFill>
            <a:srgbClr val="00838F"/>
          </a:solidFill>
          <a:ln/>
        </p:spPr>
      </p:sp>
      <p:sp>
        <p:nvSpPr>
          <p:cNvPr id="723384649" name="Shape 15"/>
          <p:cNvSpPr/>
          <p:nvPr/>
        </p:nvSpPr>
        <p:spPr bwMode="auto">
          <a:xfrm>
            <a:off x="7772400" y="5852160"/>
            <a:ext cx="2103120" cy="731520"/>
          </a:xfrm>
          <a:prstGeom prst="roundRect">
            <a:avLst>
              <a:gd name="adj" fmla="val 12500"/>
            </a:avLst>
          </a:prstGeom>
          <a:solidFill>
            <a:srgbClr val="C5221F"/>
          </a:solidFill>
          <a:ln/>
        </p:spPr>
      </p:sp>
      <p:sp>
        <p:nvSpPr>
          <p:cNvPr id="1201090785" name="Text 16"/>
          <p:cNvSpPr txBox="1"/>
          <p:nvPr/>
        </p:nvSpPr>
        <p:spPr bwMode="auto">
          <a:xfrm>
            <a:off x="822960" y="2148840"/>
            <a:ext cx="4754880" cy="274320"/>
          </a:xfrm>
          <a:prstGeom prst="rect">
            <a:avLst/>
          </a:prstGeom>
          <a:noFill/>
          <a:ln/>
        </p:spPr>
        <p:txBody>
          <a:bodyPr wrap="square" lIns="0" tIns="0" rIns="0" bIns="0" rtlCol="0" anchor="ctr"/>
          <a:lstStyle/>
          <a:p>
            <a:pPr marL="0" indent="0">
              <a:buNone/>
              <a:defRPr/>
            </a:pPr>
            <a:r>
              <a:rPr lang="en-US" sz="1300" b="1" spc="300">
                <a:solidFill>
                  <a:srgbClr val="34A853"/>
                </a:solidFill>
                <a:latin typeface="Arial"/>
                <a:ea typeface="Arial"/>
                <a:cs typeface="Arial"/>
              </a:rPr>
              <a:t>DIARIO DE TRABAJO</a:t>
            </a:r>
            <a:endParaRPr lang="en-US" sz="1300"/>
          </a:p>
        </p:txBody>
      </p:sp>
      <p:sp>
        <p:nvSpPr>
          <p:cNvPr id="1283938634" name="Text 17"/>
          <p:cNvSpPr txBox="1"/>
          <p:nvPr/>
        </p:nvSpPr>
        <p:spPr bwMode="auto">
          <a:xfrm>
            <a:off x="822960" y="2514600"/>
            <a:ext cx="4937760" cy="1737360"/>
          </a:xfrm>
          <a:prstGeom prst="rect">
            <a:avLst/>
          </a:prstGeom>
          <a:noFill/>
          <a:ln/>
        </p:spPr>
        <p:txBody>
          <a:bodyPr wrap="square" lIns="0" tIns="0" rIns="0" bIns="0" rtlCol="0" anchor="t"/>
          <a:lstStyle/>
          <a:p>
            <a:pPr marL="0" indent="0">
              <a:lnSpc>
                <a:spcPct val="95000"/>
              </a:lnSpc>
              <a:buNone/>
              <a:defRPr/>
            </a:pPr>
            <a:r>
              <a:rPr lang="en-US" sz="4400" b="1">
                <a:solidFill>
                  <a:srgbClr val="202124"/>
                </a:solidFill>
                <a:latin typeface="Arial"/>
                <a:ea typeface="Arial"/>
                <a:cs typeface="Arial"/>
              </a:rPr>
              <a:t>Diseña tu app Android</a:t>
            </a:r>
            <a:endParaRPr lang="en-US" sz="4400"/>
          </a:p>
        </p:txBody>
      </p:sp>
      <p:sp>
        <p:nvSpPr>
          <p:cNvPr id="1318885493" name="Text 18"/>
          <p:cNvSpPr txBox="1"/>
          <p:nvPr/>
        </p:nvSpPr>
        <p:spPr bwMode="auto">
          <a:xfrm>
            <a:off x="822960" y="4297680"/>
            <a:ext cx="4572000" cy="914400"/>
          </a:xfrm>
          <a:prstGeom prst="rect">
            <a:avLst/>
          </a:prstGeom>
          <a:noFill/>
          <a:ln/>
        </p:spPr>
        <p:txBody>
          <a:bodyPr wrap="square" lIns="0" tIns="0" rIns="0" bIns="0" rtlCol="0" anchor="t"/>
          <a:lstStyle/>
          <a:p>
            <a:pPr marL="0" indent="0">
              <a:lnSpc>
                <a:spcPct val="120000"/>
              </a:lnSpc>
              <a:buNone/>
              <a:defRPr/>
            </a:pPr>
            <a:r>
              <a:rPr lang="en-US" sz="1500">
                <a:solidFill>
                  <a:srgbClr val="5F6368"/>
                </a:solidFill>
                <a:latin typeface="Calibri"/>
                <a:ea typeface="Calibri"/>
                <a:cs typeface="Calibri"/>
              </a:rPr>
              <a:t>De la idea al prototipo en cuatro fases: Idea, Planifica, Prototipa y Evalúa. Completa cada página con tu proyecto.</a:t>
            </a:r>
            <a:endParaRPr lang="en-US" sz="1500"/>
          </a:p>
        </p:txBody>
      </p:sp>
      <p:sp>
        <p:nvSpPr>
          <p:cNvPr id="729393336" name="Text 19"/>
          <p:cNvSpPr txBox="1"/>
          <p:nvPr/>
        </p:nvSpPr>
        <p:spPr bwMode="auto">
          <a:xfrm>
            <a:off x="822960" y="5623560"/>
            <a:ext cx="3063240" cy="228600"/>
          </a:xfrm>
          <a:prstGeom prst="rect">
            <a:avLst/>
          </a:prstGeom>
          <a:noFill/>
          <a:ln/>
        </p:spPr>
        <p:txBody>
          <a:bodyPr wrap="square" lIns="0" tIns="0" rIns="0" bIns="0" rtlCol="0" anchor="ctr"/>
          <a:lstStyle/>
          <a:p>
            <a:pPr marL="0" indent="0">
              <a:buNone/>
              <a:defRPr/>
            </a:pPr>
            <a:r>
              <a:rPr lang="en-US" sz="950" b="1" spc="100">
                <a:solidFill>
                  <a:srgbClr val="5F6368"/>
                </a:solidFill>
                <a:latin typeface="Arial"/>
                <a:ea typeface="Arial"/>
                <a:cs typeface="Arial"/>
              </a:rPr>
              <a:t>ESTUDIANTE / EQUIPO</a:t>
            </a:r>
            <a:endParaRPr lang="en-US" sz="950"/>
          </a:p>
        </p:txBody>
      </p:sp>
      <p:sp>
        <p:nvSpPr>
          <p:cNvPr id="371137333" name="Text 20"/>
          <p:cNvSpPr txBox="1"/>
          <p:nvPr/>
        </p:nvSpPr>
        <p:spPr bwMode="auto">
          <a:xfrm>
            <a:off x="822960" y="5897880"/>
            <a:ext cx="3063240" cy="411480"/>
          </a:xfrm>
          <a:prstGeom prst="rect">
            <a:avLst/>
          </a:prstGeom>
          <a:solidFill>
            <a:srgbClr val="FFFFFF"/>
          </a:solidFill>
          <a:ln w="12700">
            <a:solidFill>
              <a:srgbClr val="DADCE0"/>
            </a:solidFill>
          </a:ln>
        </p:spPr>
        <p:txBody>
          <a:bodyPr wrap="square" lIns="101600" tIns="101600" rIns="101600" bIns="101600" rtlCol="0" anchor="ctr"/>
          <a:lstStyle/>
          <a:p>
            <a:pPr marL="0" indent="0">
              <a:buNone/>
              <a:defRPr/>
            </a:pPr>
            <a:r>
              <a:rPr lang="es-ES" sz="1300"/>
              <a:t>EQUIPO HEEP</a:t>
            </a:r>
            <a:endParaRPr lang="en-US" sz="1300"/>
          </a:p>
        </p:txBody>
      </p:sp>
      <p:sp>
        <p:nvSpPr>
          <p:cNvPr id="862066086" name="Text 21"/>
          <p:cNvSpPr txBox="1"/>
          <p:nvPr/>
        </p:nvSpPr>
        <p:spPr bwMode="auto">
          <a:xfrm>
            <a:off x="4069080" y="5623560"/>
            <a:ext cx="1691640" cy="228600"/>
          </a:xfrm>
          <a:prstGeom prst="rect">
            <a:avLst/>
          </a:prstGeom>
          <a:noFill/>
          <a:ln/>
        </p:spPr>
        <p:txBody>
          <a:bodyPr wrap="square" lIns="0" tIns="0" rIns="0" bIns="0" rtlCol="0" anchor="ctr"/>
          <a:lstStyle/>
          <a:p>
            <a:pPr marL="0" indent="0">
              <a:buNone/>
              <a:defRPr/>
            </a:pPr>
            <a:r>
              <a:rPr lang="en-US" sz="950" b="1" spc="100">
                <a:solidFill>
                  <a:srgbClr val="5F6368"/>
                </a:solidFill>
                <a:latin typeface="Arial"/>
                <a:ea typeface="Arial"/>
                <a:cs typeface="Arial"/>
              </a:rPr>
              <a:t>CURSO Y SECCIÓN</a:t>
            </a:r>
            <a:endParaRPr lang="en-US" sz="950"/>
          </a:p>
        </p:txBody>
      </p:sp>
      <p:sp>
        <p:nvSpPr>
          <p:cNvPr id="1227574017" name="Text 22"/>
          <p:cNvSpPr txBox="1"/>
          <p:nvPr/>
        </p:nvSpPr>
        <p:spPr bwMode="auto">
          <a:xfrm>
            <a:off x="4069080" y="5897880"/>
            <a:ext cx="1691640" cy="411480"/>
          </a:xfrm>
          <a:prstGeom prst="rect">
            <a:avLst/>
          </a:prstGeom>
          <a:solidFill>
            <a:srgbClr val="FFFFFF"/>
          </a:solidFill>
          <a:ln w="12700">
            <a:solidFill>
              <a:srgbClr val="DADCE0"/>
            </a:solidFill>
          </a:ln>
        </p:spPr>
        <p:txBody>
          <a:bodyPr wrap="square" lIns="101600" tIns="101600" rIns="101600" bIns="101600" rtlCol="0" anchor="ctr"/>
          <a:lstStyle/>
          <a:p>
            <a:pPr marL="0" indent="0">
              <a:buNone/>
              <a:defRPr/>
            </a:pPr>
            <a:r>
              <a:rPr lang="es-ES" sz="1300"/>
              <a:t>DESARROLLO MOVIL</a:t>
            </a:r>
            <a:endParaRPr lang="en-US" sz="1300"/>
          </a:p>
        </p:txBody>
      </p:sp>
      <p:sp>
        <p:nvSpPr>
          <p:cNvPr id="1150402569" name="Text 23"/>
          <p:cNvSpPr txBox="1"/>
          <p:nvPr/>
        </p:nvSpPr>
        <p:spPr bwMode="auto">
          <a:xfrm>
            <a:off x="822960" y="6492240"/>
            <a:ext cx="3063240" cy="228600"/>
          </a:xfrm>
          <a:prstGeom prst="rect">
            <a:avLst/>
          </a:prstGeom>
          <a:noFill/>
          <a:ln/>
        </p:spPr>
        <p:txBody>
          <a:bodyPr wrap="square" lIns="0" tIns="0" rIns="0" bIns="0" rtlCol="0" anchor="ctr"/>
          <a:lstStyle/>
          <a:p>
            <a:pPr marL="0" indent="0">
              <a:buNone/>
              <a:defRPr/>
            </a:pPr>
            <a:r>
              <a:rPr lang="en-US" sz="950" b="1" spc="100">
                <a:solidFill>
                  <a:srgbClr val="5F6368"/>
                </a:solidFill>
                <a:latin typeface="Arial"/>
                <a:ea typeface="Arial"/>
                <a:cs typeface="Arial"/>
              </a:rPr>
              <a:t>DOCENTE</a:t>
            </a:r>
            <a:endParaRPr lang="en-US" sz="950"/>
          </a:p>
        </p:txBody>
      </p:sp>
      <p:sp>
        <p:nvSpPr>
          <p:cNvPr id="1002152070" name="Text 24"/>
          <p:cNvSpPr txBox="1"/>
          <p:nvPr/>
        </p:nvSpPr>
        <p:spPr bwMode="auto">
          <a:xfrm>
            <a:off x="822960" y="6766560"/>
            <a:ext cx="3063240" cy="411480"/>
          </a:xfrm>
          <a:prstGeom prst="rect">
            <a:avLst/>
          </a:prstGeom>
          <a:solidFill>
            <a:srgbClr val="FFFFFF"/>
          </a:solidFill>
          <a:ln w="12700">
            <a:solidFill>
              <a:srgbClr val="DADCE0"/>
            </a:solidFill>
          </a:ln>
        </p:spPr>
        <p:txBody>
          <a:bodyPr wrap="square" lIns="101600" tIns="101600" rIns="101600" bIns="101600" rtlCol="0" anchor="ctr"/>
          <a:lstStyle/>
          <a:p>
            <a:pPr marL="0" indent="0">
              <a:buNone/>
              <a:defRPr/>
            </a:pPr>
            <a:r>
              <a:rPr lang="es-ES" sz="1300"/>
              <a:t>BRIAN BENJAMIN PAREJA MERUVIA</a:t>
            </a:r>
            <a:endParaRPr lang="en-US" sz="1300"/>
          </a:p>
        </p:txBody>
      </p:sp>
      <p:sp>
        <p:nvSpPr>
          <p:cNvPr id="1106338138" name="Text 25"/>
          <p:cNvSpPr txBox="1"/>
          <p:nvPr/>
        </p:nvSpPr>
        <p:spPr bwMode="auto">
          <a:xfrm>
            <a:off x="4069080" y="6492240"/>
            <a:ext cx="1691640" cy="228600"/>
          </a:xfrm>
          <a:prstGeom prst="rect">
            <a:avLst/>
          </a:prstGeom>
          <a:noFill/>
          <a:ln/>
        </p:spPr>
        <p:txBody>
          <a:bodyPr wrap="square" lIns="0" tIns="0" rIns="0" bIns="0" rtlCol="0" anchor="ctr"/>
          <a:lstStyle/>
          <a:p>
            <a:pPr marL="0" indent="0">
              <a:buNone/>
              <a:defRPr/>
            </a:pPr>
            <a:r>
              <a:rPr lang="en-US" sz="950" b="1" spc="100">
                <a:solidFill>
                  <a:srgbClr val="5F6368"/>
                </a:solidFill>
                <a:latin typeface="Arial"/>
                <a:ea typeface="Arial"/>
                <a:cs typeface="Arial"/>
              </a:rPr>
              <a:t>FECHA</a:t>
            </a:r>
            <a:endParaRPr lang="en-US" sz="950"/>
          </a:p>
        </p:txBody>
      </p:sp>
      <p:sp>
        <p:nvSpPr>
          <p:cNvPr id="1959751915" name="Text 26"/>
          <p:cNvSpPr txBox="1"/>
          <p:nvPr/>
        </p:nvSpPr>
        <p:spPr bwMode="auto">
          <a:xfrm>
            <a:off x="4069080" y="6766560"/>
            <a:ext cx="1691640" cy="411480"/>
          </a:xfrm>
          <a:prstGeom prst="rect">
            <a:avLst/>
          </a:prstGeom>
          <a:solidFill>
            <a:srgbClr val="FFFFFF"/>
          </a:solidFill>
          <a:ln w="12700">
            <a:solidFill>
              <a:srgbClr val="DADCE0"/>
            </a:solidFill>
          </a:ln>
        </p:spPr>
        <p:txBody>
          <a:bodyPr wrap="square" lIns="101600" tIns="101600" rIns="101600" bIns="101600" rtlCol="0" anchor="ctr"/>
          <a:lstStyle/>
          <a:p>
            <a:pPr marL="0" indent="0">
              <a:buNone/>
              <a:defRPr/>
            </a:pPr>
            <a:r>
              <a:rPr lang="es-ES" sz="1300"/>
              <a:t>9-10-2026</a:t>
            </a:r>
            <a:endParaRPr lang="en-US" sz="1300"/>
          </a:p>
        </p:txBody>
      </p:sp>
      <p:sp>
        <p:nvSpPr>
          <p:cNvPr id="1197580592" name="Text 27"/>
          <p:cNvSpPr txBox="1"/>
          <p:nvPr/>
        </p:nvSpPr>
        <p:spPr bwMode="auto">
          <a:xfrm>
            <a:off x="822960" y="7635240"/>
            <a:ext cx="5943600" cy="365760"/>
          </a:xfrm>
          <a:prstGeom prst="rect">
            <a:avLst/>
          </a:prstGeom>
          <a:noFill/>
          <a:ln/>
        </p:spPr>
        <p:txBody>
          <a:bodyPr wrap="square" lIns="0" tIns="0" rIns="0" bIns="0" rtlCol="0" anchor="ctr"/>
          <a:lstStyle/>
          <a:p>
            <a:pPr marL="0" indent="0">
              <a:buNone/>
              <a:defRPr/>
            </a:pPr>
            <a:r>
              <a:rPr lang="en-US" sz="1250" i="1">
                <a:solidFill>
                  <a:srgbClr val="5F6368"/>
                </a:solidFill>
                <a:latin typeface="Calibri"/>
                <a:ea typeface="Calibri"/>
                <a:cs typeface="Calibri"/>
              </a:rPr>
              <a:t>Duplica este archivo, renómbralo con el nombre de tu equipo y complétalo a lo largo del proyecto.</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2039222305" name="Text 0"/>
          <p:cNvSpPr txBox="1"/>
          <p:nvPr/>
        </p:nvSpPr>
        <p:spPr bwMode="auto">
          <a:xfrm>
            <a:off x="822960" y="640080"/>
            <a:ext cx="7315200" cy="640080"/>
          </a:xfrm>
          <a:prstGeom prst="rect">
            <a:avLst/>
          </a:prstGeom>
          <a:noFill/>
          <a:ln/>
        </p:spPr>
        <p:txBody>
          <a:bodyPr wrap="square" lIns="0" tIns="0" rIns="0" bIns="0" rtlCol="0" anchor="ctr"/>
          <a:lstStyle/>
          <a:p>
            <a:pPr marL="0" indent="0">
              <a:buNone/>
              <a:defRPr/>
            </a:pPr>
            <a:r>
              <a:rPr lang="en-US" sz="3400" b="1">
                <a:solidFill>
                  <a:srgbClr val="202124"/>
                </a:solidFill>
                <a:latin typeface="Arial"/>
                <a:ea typeface="Arial"/>
                <a:cs typeface="Arial"/>
              </a:rPr>
              <a:t>Cómo usar este diario</a:t>
            </a:r>
            <a:endParaRPr lang="en-US" sz="3400"/>
          </a:p>
        </p:txBody>
      </p:sp>
      <p:sp>
        <p:nvSpPr>
          <p:cNvPr id="794188042" name="Text 1"/>
          <p:cNvSpPr txBox="1"/>
          <p:nvPr/>
        </p:nvSpPr>
        <p:spPr bwMode="auto">
          <a:xfrm>
            <a:off x="822960" y="1417320"/>
            <a:ext cx="10515600" cy="1005840"/>
          </a:xfrm>
          <a:prstGeom prst="rect">
            <a:avLst/>
          </a:prstGeom>
          <a:noFill/>
          <a:ln/>
        </p:spPr>
        <p:txBody>
          <a:bodyPr wrap="square" lIns="0" tIns="0" rIns="0" bIns="0" rtlCol="0" anchor="t"/>
          <a:lstStyle/>
          <a:p>
            <a:pPr marL="0" indent="0">
              <a:lnSpc>
                <a:spcPct val="120000"/>
              </a:lnSpc>
              <a:buNone/>
              <a:defRPr/>
            </a:pPr>
            <a:r>
              <a:rPr lang="en-US" sz="1500">
                <a:solidFill>
                  <a:srgbClr val="5F6368"/>
                </a:solidFill>
                <a:latin typeface="Calibri"/>
                <a:ea typeface="Calibri"/>
                <a:cs typeface="Calibri"/>
              </a:rPr>
              <a:t>Las buenas apps empiezan por una buena idea, no por el código. Este diario te lleva por las cuatro fases del diseño: primero encuentras un problema que te importe, luego decides qué hará tu app, la prototipas y la pones a prueba con personas reales. Completa las páginas en orden, duplica las que necesites y guarda tus bocetos, capturas y notas aquí mismo.</a:t>
            </a:r>
            <a:endParaRPr lang="en-US" sz="1500"/>
          </a:p>
        </p:txBody>
      </p:sp>
      <p:sp>
        <p:nvSpPr>
          <p:cNvPr id="802129453" name="Shape 2"/>
          <p:cNvSpPr/>
          <p:nvPr/>
        </p:nvSpPr>
        <p:spPr bwMode="auto">
          <a:xfrm>
            <a:off x="822960" y="2834640"/>
            <a:ext cx="2468880" cy="4206240"/>
          </a:xfrm>
          <a:prstGeom prst="rect">
            <a:avLst/>
          </a:prstGeom>
          <a:solidFill>
            <a:srgbClr val="34A853"/>
          </a:solidFill>
          <a:ln/>
        </p:spPr>
      </p:sp>
      <p:sp>
        <p:nvSpPr>
          <p:cNvPr id="2117274605" name="Text 3"/>
          <p:cNvSpPr txBox="1"/>
          <p:nvPr/>
        </p:nvSpPr>
        <p:spPr bwMode="auto">
          <a:xfrm>
            <a:off x="1097280" y="3063240"/>
            <a:ext cx="1920240" cy="640080"/>
          </a:xfrm>
          <a:prstGeom prst="rect">
            <a:avLst/>
          </a:prstGeom>
          <a:noFill/>
          <a:ln/>
        </p:spPr>
        <p:txBody>
          <a:bodyPr wrap="square" lIns="0" tIns="0" rIns="0" bIns="0" rtlCol="0" anchor="ctr"/>
          <a:lstStyle/>
          <a:p>
            <a:pPr marL="0" indent="0">
              <a:buNone/>
              <a:defRPr/>
            </a:pPr>
            <a:r>
              <a:rPr lang="en-US" sz="3400" b="1">
                <a:solidFill>
                  <a:srgbClr val="FFFFFF"/>
                </a:solidFill>
                <a:latin typeface="Arial"/>
                <a:ea typeface="Arial"/>
                <a:cs typeface="Arial"/>
              </a:rPr>
              <a:t>01</a:t>
            </a:r>
            <a:endParaRPr lang="en-US" sz="3400"/>
          </a:p>
        </p:txBody>
      </p:sp>
      <p:sp>
        <p:nvSpPr>
          <p:cNvPr id="909250313" name="Text 4"/>
          <p:cNvSpPr txBox="1"/>
          <p:nvPr/>
        </p:nvSpPr>
        <p:spPr bwMode="auto">
          <a:xfrm>
            <a:off x="1097280" y="3794760"/>
            <a:ext cx="192024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Idea</a:t>
            </a:r>
            <a:endParaRPr lang="en-US" sz="2000"/>
          </a:p>
        </p:txBody>
      </p:sp>
      <p:sp>
        <p:nvSpPr>
          <p:cNvPr id="490513124" name="Text 5"/>
          <p:cNvSpPr txBox="1"/>
          <p:nvPr/>
        </p:nvSpPr>
        <p:spPr bwMode="auto">
          <a:xfrm>
            <a:off x="1097280" y="4389120"/>
            <a:ext cx="1920240" cy="1737360"/>
          </a:xfrm>
          <a:prstGeom prst="rect">
            <a:avLst/>
          </a:prstGeom>
          <a:noFill/>
          <a:ln/>
        </p:spPr>
        <p:txBody>
          <a:bodyPr wrap="square" lIns="0" tIns="0" rIns="0" bIns="0" rtlCol="0" anchor="t"/>
          <a:lstStyle/>
          <a:p>
            <a:pPr marL="0" indent="0">
              <a:spcAft>
                <a:spcPts val="600"/>
              </a:spcAft>
              <a:buNone/>
              <a:defRPr/>
            </a:pPr>
            <a:r>
              <a:rPr lang="en-US" sz="1250">
                <a:solidFill>
                  <a:srgbClr val="FFFFFF"/>
                </a:solidFill>
                <a:latin typeface="Calibri"/>
                <a:ea typeface="Calibri"/>
                <a:cs typeface="Calibri"/>
              </a:rPr>
              <a:t>Problema</a:t>
            </a:r>
            <a:endParaRPr lang="en-US" sz="1250"/>
          </a:p>
          <a:p>
            <a:pPr marL="0" indent="0">
              <a:spcAft>
                <a:spcPts val="600"/>
              </a:spcAft>
              <a:buNone/>
              <a:defRPr/>
            </a:pPr>
            <a:r>
              <a:rPr lang="en-US" sz="1250">
                <a:solidFill>
                  <a:srgbClr val="FFFFFF"/>
                </a:solidFill>
                <a:latin typeface="Calibri"/>
                <a:ea typeface="Calibri"/>
                <a:cs typeface="Calibri"/>
              </a:rPr>
              <a:t>Lluvia de ideas</a:t>
            </a:r>
            <a:endParaRPr lang="en-US" sz="1250"/>
          </a:p>
          <a:p>
            <a:pPr marL="0" indent="0">
              <a:spcAft>
                <a:spcPts val="600"/>
              </a:spcAft>
              <a:buNone/>
              <a:defRPr/>
            </a:pPr>
            <a:r>
              <a:rPr lang="en-US" sz="1250">
                <a:solidFill>
                  <a:srgbClr val="FFFFFF"/>
                </a:solidFill>
                <a:latin typeface="Calibri"/>
                <a:ea typeface="Calibri"/>
                <a:cs typeface="Calibri"/>
              </a:rPr>
              <a:t>Mi idea</a:t>
            </a:r>
            <a:endParaRPr lang="en-US" sz="1250"/>
          </a:p>
        </p:txBody>
      </p:sp>
      <p:sp>
        <p:nvSpPr>
          <p:cNvPr id="1622081529" name="Text 6"/>
          <p:cNvSpPr txBox="1"/>
          <p:nvPr/>
        </p:nvSpPr>
        <p:spPr bwMode="auto">
          <a:xfrm>
            <a:off x="1097280" y="6172200"/>
            <a:ext cx="1920240" cy="777240"/>
          </a:xfrm>
          <a:prstGeom prst="rect">
            <a:avLst/>
          </a:prstGeom>
          <a:noFill/>
          <a:ln/>
        </p:spPr>
        <p:txBody>
          <a:bodyPr wrap="square" lIns="0" tIns="0" rIns="0" bIns="0" rtlCol="0" anchor="b"/>
          <a:lstStyle/>
          <a:p>
            <a:pPr marL="0" indent="0">
              <a:lnSpc>
                <a:spcPct val="110000"/>
              </a:lnSpc>
              <a:buNone/>
              <a:defRPr/>
            </a:pPr>
            <a:r>
              <a:rPr lang="en-US" sz="1150" i="1">
                <a:solidFill>
                  <a:srgbClr val="FFFFFF"/>
                </a:solidFill>
                <a:latin typeface="Calibri"/>
                <a:ea typeface="Calibri"/>
                <a:cs typeface="Calibri"/>
              </a:rPr>
              <a:t>Encuentra un problema real y conviértelo en una idea de app.</a:t>
            </a:r>
            <a:endParaRPr lang="en-US" sz="1150"/>
          </a:p>
        </p:txBody>
      </p:sp>
      <p:sp>
        <p:nvSpPr>
          <p:cNvPr id="1020558556" name="Shape 7"/>
          <p:cNvSpPr/>
          <p:nvPr/>
        </p:nvSpPr>
        <p:spPr bwMode="auto">
          <a:xfrm>
            <a:off x="3520440" y="2834640"/>
            <a:ext cx="2468880" cy="4206240"/>
          </a:xfrm>
          <a:prstGeom prst="rect">
            <a:avLst/>
          </a:prstGeom>
          <a:solidFill>
            <a:srgbClr val="1967D2"/>
          </a:solidFill>
          <a:ln/>
        </p:spPr>
      </p:sp>
      <p:sp>
        <p:nvSpPr>
          <p:cNvPr id="1246373736" name="Text 8"/>
          <p:cNvSpPr txBox="1"/>
          <p:nvPr/>
        </p:nvSpPr>
        <p:spPr bwMode="auto">
          <a:xfrm>
            <a:off x="3794760" y="3063240"/>
            <a:ext cx="1920240" cy="640080"/>
          </a:xfrm>
          <a:prstGeom prst="rect">
            <a:avLst/>
          </a:prstGeom>
          <a:noFill/>
          <a:ln/>
        </p:spPr>
        <p:txBody>
          <a:bodyPr wrap="square" lIns="0" tIns="0" rIns="0" bIns="0" rtlCol="0" anchor="ctr"/>
          <a:lstStyle/>
          <a:p>
            <a:pPr marL="0" indent="0">
              <a:buNone/>
              <a:defRPr/>
            </a:pPr>
            <a:r>
              <a:rPr lang="en-US" sz="3400" b="1">
                <a:solidFill>
                  <a:srgbClr val="FFFFFF"/>
                </a:solidFill>
                <a:latin typeface="Arial"/>
                <a:ea typeface="Arial"/>
                <a:cs typeface="Arial"/>
              </a:rPr>
              <a:t>02</a:t>
            </a:r>
            <a:endParaRPr lang="en-US" sz="3400"/>
          </a:p>
        </p:txBody>
      </p:sp>
      <p:sp>
        <p:nvSpPr>
          <p:cNvPr id="1995548119" name="Text 9"/>
          <p:cNvSpPr txBox="1"/>
          <p:nvPr/>
        </p:nvSpPr>
        <p:spPr bwMode="auto">
          <a:xfrm>
            <a:off x="3794760" y="3794760"/>
            <a:ext cx="192024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Planifica</a:t>
            </a:r>
            <a:endParaRPr lang="en-US" sz="2000"/>
          </a:p>
        </p:txBody>
      </p:sp>
      <p:sp>
        <p:nvSpPr>
          <p:cNvPr id="583523592" name="Text 10"/>
          <p:cNvSpPr txBox="1"/>
          <p:nvPr/>
        </p:nvSpPr>
        <p:spPr bwMode="auto">
          <a:xfrm>
            <a:off x="3794760" y="4389120"/>
            <a:ext cx="1920240" cy="1737360"/>
          </a:xfrm>
          <a:prstGeom prst="rect">
            <a:avLst/>
          </a:prstGeom>
          <a:noFill/>
          <a:ln/>
        </p:spPr>
        <p:txBody>
          <a:bodyPr wrap="square" lIns="0" tIns="0" rIns="0" bIns="0" rtlCol="0" anchor="t"/>
          <a:lstStyle/>
          <a:p>
            <a:pPr marL="0" indent="0">
              <a:spcAft>
                <a:spcPts val="600"/>
              </a:spcAft>
              <a:buNone/>
              <a:defRPr/>
            </a:pPr>
            <a:r>
              <a:rPr lang="en-US" sz="1250">
                <a:solidFill>
                  <a:srgbClr val="FFFFFF"/>
                </a:solidFill>
                <a:latin typeface="Calibri"/>
                <a:ea typeface="Calibri"/>
                <a:cs typeface="Calibri"/>
              </a:rPr>
              <a:t>Acciones del usuario</a:t>
            </a:r>
            <a:endParaRPr lang="en-US" sz="1250"/>
          </a:p>
          <a:p>
            <a:pPr marL="0" indent="0">
              <a:spcAft>
                <a:spcPts val="600"/>
              </a:spcAft>
              <a:buNone/>
              <a:defRPr/>
            </a:pPr>
            <a:r>
              <a:rPr lang="en-US" sz="1250">
                <a:solidFill>
                  <a:srgbClr val="FFFFFF"/>
                </a:solidFill>
                <a:latin typeface="Calibri"/>
                <a:ea typeface="Calibri"/>
                <a:cs typeface="Calibri"/>
              </a:rPr>
              <a:t>Entradas y estado</a:t>
            </a:r>
            <a:endParaRPr lang="en-US" sz="1250"/>
          </a:p>
          <a:p>
            <a:pPr marL="0" indent="0">
              <a:spcAft>
                <a:spcPts val="600"/>
              </a:spcAft>
              <a:buNone/>
              <a:defRPr/>
            </a:pPr>
            <a:r>
              <a:rPr lang="en-US" sz="1250">
                <a:solidFill>
                  <a:srgbClr val="FFFFFF"/>
                </a:solidFill>
                <a:latin typeface="Calibri"/>
                <a:ea typeface="Calibri"/>
                <a:cs typeface="Calibri"/>
              </a:rPr>
              <a:t>Funciones del equipo</a:t>
            </a:r>
            <a:endParaRPr lang="en-US" sz="1250"/>
          </a:p>
          <a:p>
            <a:pPr marL="0" indent="0">
              <a:spcAft>
                <a:spcPts val="600"/>
              </a:spcAft>
              <a:buNone/>
              <a:defRPr/>
            </a:pPr>
            <a:r>
              <a:rPr lang="en-US" sz="1250">
                <a:solidFill>
                  <a:srgbClr val="FFFFFF"/>
                </a:solidFill>
                <a:latin typeface="Calibri"/>
                <a:ea typeface="Calibri"/>
                <a:cs typeface="Calibri"/>
              </a:rPr>
              <a:t>Diseño inclusivo</a:t>
            </a:r>
            <a:endParaRPr lang="en-US" sz="1250"/>
          </a:p>
        </p:txBody>
      </p:sp>
      <p:sp>
        <p:nvSpPr>
          <p:cNvPr id="246240116" name="Text 11"/>
          <p:cNvSpPr txBox="1"/>
          <p:nvPr/>
        </p:nvSpPr>
        <p:spPr bwMode="auto">
          <a:xfrm>
            <a:off x="3794760" y="6172200"/>
            <a:ext cx="1920240" cy="777240"/>
          </a:xfrm>
          <a:prstGeom prst="rect">
            <a:avLst/>
          </a:prstGeom>
          <a:noFill/>
          <a:ln/>
        </p:spPr>
        <p:txBody>
          <a:bodyPr wrap="square" lIns="0" tIns="0" rIns="0" bIns="0" rtlCol="0" anchor="b"/>
          <a:lstStyle/>
          <a:p>
            <a:pPr marL="0" indent="0">
              <a:lnSpc>
                <a:spcPct val="110000"/>
              </a:lnSpc>
              <a:buNone/>
              <a:defRPr/>
            </a:pPr>
            <a:r>
              <a:rPr lang="en-US" sz="1150" i="1">
                <a:solidFill>
                  <a:srgbClr val="FFFFFF"/>
                </a:solidFill>
                <a:latin typeface="Calibri"/>
                <a:ea typeface="Calibri"/>
                <a:cs typeface="Calibri"/>
              </a:rPr>
              <a:t>Define qué hará tu app, para quién y con qué del dispositivo.</a:t>
            </a:r>
            <a:endParaRPr lang="en-US" sz="1150"/>
          </a:p>
        </p:txBody>
      </p:sp>
      <p:sp>
        <p:nvSpPr>
          <p:cNvPr id="1010424643" name="Shape 12"/>
          <p:cNvSpPr/>
          <p:nvPr/>
        </p:nvSpPr>
        <p:spPr bwMode="auto">
          <a:xfrm>
            <a:off x="6217920" y="2834640"/>
            <a:ext cx="2468880" cy="4206240"/>
          </a:xfrm>
          <a:prstGeom prst="rect">
            <a:avLst/>
          </a:prstGeom>
          <a:solidFill>
            <a:srgbClr val="00838F"/>
          </a:solidFill>
          <a:ln/>
        </p:spPr>
      </p:sp>
      <p:sp>
        <p:nvSpPr>
          <p:cNvPr id="1005924050" name="Text 13"/>
          <p:cNvSpPr txBox="1"/>
          <p:nvPr/>
        </p:nvSpPr>
        <p:spPr bwMode="auto">
          <a:xfrm>
            <a:off x="6492240" y="3063240"/>
            <a:ext cx="1920240" cy="640080"/>
          </a:xfrm>
          <a:prstGeom prst="rect">
            <a:avLst/>
          </a:prstGeom>
          <a:noFill/>
          <a:ln/>
        </p:spPr>
        <p:txBody>
          <a:bodyPr wrap="square" lIns="0" tIns="0" rIns="0" bIns="0" rtlCol="0" anchor="ctr"/>
          <a:lstStyle/>
          <a:p>
            <a:pPr marL="0" indent="0">
              <a:buNone/>
              <a:defRPr/>
            </a:pPr>
            <a:r>
              <a:rPr lang="en-US" sz="3400" b="1">
                <a:solidFill>
                  <a:srgbClr val="FFFFFF"/>
                </a:solidFill>
                <a:latin typeface="Arial"/>
                <a:ea typeface="Arial"/>
                <a:cs typeface="Arial"/>
              </a:rPr>
              <a:t>03</a:t>
            </a:r>
            <a:endParaRPr lang="en-US" sz="3400"/>
          </a:p>
        </p:txBody>
      </p:sp>
      <p:sp>
        <p:nvSpPr>
          <p:cNvPr id="195337209" name="Text 14"/>
          <p:cNvSpPr txBox="1"/>
          <p:nvPr/>
        </p:nvSpPr>
        <p:spPr bwMode="auto">
          <a:xfrm>
            <a:off x="6492240" y="3794760"/>
            <a:ext cx="192024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Prototipa</a:t>
            </a:r>
            <a:endParaRPr lang="en-US" sz="2000"/>
          </a:p>
        </p:txBody>
      </p:sp>
      <p:sp>
        <p:nvSpPr>
          <p:cNvPr id="728942557" name="Text 15"/>
          <p:cNvSpPr txBox="1"/>
          <p:nvPr/>
        </p:nvSpPr>
        <p:spPr bwMode="auto">
          <a:xfrm>
            <a:off x="6492240" y="4389120"/>
            <a:ext cx="1920240" cy="1737360"/>
          </a:xfrm>
          <a:prstGeom prst="rect">
            <a:avLst/>
          </a:prstGeom>
          <a:noFill/>
          <a:ln/>
        </p:spPr>
        <p:txBody>
          <a:bodyPr wrap="square" lIns="0" tIns="0" rIns="0" bIns="0" rtlCol="0" anchor="t"/>
          <a:lstStyle/>
          <a:p>
            <a:pPr marL="0" indent="0">
              <a:spcAft>
                <a:spcPts val="600"/>
              </a:spcAft>
              <a:buNone/>
              <a:defRPr/>
            </a:pPr>
            <a:r>
              <a:rPr lang="en-US" sz="1250">
                <a:solidFill>
                  <a:srgbClr val="FFFFFF"/>
                </a:solidFill>
                <a:latin typeface="Calibri"/>
                <a:ea typeface="Calibri"/>
                <a:cs typeface="Calibri"/>
              </a:rPr>
              <a:t>Pantallas</a:t>
            </a:r>
            <a:endParaRPr lang="en-US" sz="1250"/>
          </a:p>
          <a:p>
            <a:pPr marL="0" indent="0">
              <a:spcAft>
                <a:spcPts val="600"/>
              </a:spcAft>
              <a:buNone/>
              <a:defRPr/>
            </a:pPr>
            <a:r>
              <a:rPr lang="en-US" sz="1250">
                <a:solidFill>
                  <a:srgbClr val="FFFFFF"/>
                </a:solidFill>
                <a:latin typeface="Calibri"/>
                <a:ea typeface="Calibri"/>
                <a:cs typeface="Calibri"/>
              </a:rPr>
              <a:t>Flujo de la app</a:t>
            </a:r>
            <a:endParaRPr lang="en-US" sz="1250"/>
          </a:p>
          <a:p>
            <a:pPr marL="0" indent="0">
              <a:spcAft>
                <a:spcPts val="600"/>
              </a:spcAft>
              <a:buNone/>
              <a:defRPr/>
            </a:pPr>
            <a:r>
              <a:rPr lang="en-US" sz="1250">
                <a:solidFill>
                  <a:srgbClr val="FFFFFF"/>
                </a:solidFill>
                <a:latin typeface="Calibri"/>
                <a:ea typeface="Calibri"/>
                <a:cs typeface="Calibri"/>
              </a:rPr>
              <a:t>Respuesta de la app</a:t>
            </a:r>
            <a:endParaRPr lang="en-US" sz="1250"/>
          </a:p>
          <a:p>
            <a:pPr marL="0" indent="0">
              <a:spcAft>
                <a:spcPts val="600"/>
              </a:spcAft>
              <a:buNone/>
              <a:defRPr/>
            </a:pPr>
            <a:r>
              <a:rPr lang="en-US" sz="1250">
                <a:solidFill>
                  <a:srgbClr val="FFFFFF"/>
                </a:solidFill>
                <a:latin typeface="Calibri"/>
                <a:ea typeface="Calibri"/>
                <a:cs typeface="Calibri"/>
              </a:rPr>
              <a:t>Estilo Material 3</a:t>
            </a:r>
            <a:endParaRPr lang="en-US" sz="1250"/>
          </a:p>
          <a:p>
            <a:pPr marL="0" indent="0">
              <a:spcAft>
                <a:spcPts val="600"/>
              </a:spcAft>
              <a:buNone/>
              <a:defRPr/>
            </a:pPr>
            <a:r>
              <a:rPr lang="en-US" sz="1250">
                <a:solidFill>
                  <a:srgbClr val="FFFFFF"/>
                </a:solidFill>
                <a:latin typeface="Calibri"/>
                <a:ea typeface="Calibri"/>
                <a:cs typeface="Calibri"/>
              </a:rPr>
              <a:t>Ícono y nombre</a:t>
            </a:r>
            <a:endParaRPr lang="en-US" sz="1250"/>
          </a:p>
        </p:txBody>
      </p:sp>
      <p:sp>
        <p:nvSpPr>
          <p:cNvPr id="1783050440" name="Text 16"/>
          <p:cNvSpPr txBox="1"/>
          <p:nvPr/>
        </p:nvSpPr>
        <p:spPr bwMode="auto">
          <a:xfrm>
            <a:off x="6492240" y="6172200"/>
            <a:ext cx="1920240" cy="777240"/>
          </a:xfrm>
          <a:prstGeom prst="rect">
            <a:avLst/>
          </a:prstGeom>
          <a:noFill/>
          <a:ln/>
        </p:spPr>
        <p:txBody>
          <a:bodyPr wrap="square" lIns="0" tIns="0" rIns="0" bIns="0" rtlCol="0" anchor="b"/>
          <a:lstStyle/>
          <a:p>
            <a:pPr marL="0" indent="0">
              <a:lnSpc>
                <a:spcPct val="110000"/>
              </a:lnSpc>
              <a:buNone/>
              <a:defRPr/>
            </a:pPr>
            <a:r>
              <a:rPr lang="en-US" sz="1150" i="1">
                <a:solidFill>
                  <a:srgbClr val="FFFFFF"/>
                </a:solidFill>
                <a:latin typeface="Calibri"/>
                <a:ea typeface="Calibri"/>
                <a:cs typeface="Calibri"/>
              </a:rPr>
              <a:t>Dibújala, dale estilo y hazla navegable sin escribir código.</a:t>
            </a:r>
            <a:endParaRPr lang="en-US" sz="1150"/>
          </a:p>
        </p:txBody>
      </p:sp>
      <p:sp>
        <p:nvSpPr>
          <p:cNvPr id="1807112353" name="Shape 17"/>
          <p:cNvSpPr/>
          <p:nvPr/>
        </p:nvSpPr>
        <p:spPr bwMode="auto">
          <a:xfrm>
            <a:off x="8915400" y="2834640"/>
            <a:ext cx="2468880" cy="4206240"/>
          </a:xfrm>
          <a:prstGeom prst="rect">
            <a:avLst/>
          </a:prstGeom>
          <a:solidFill>
            <a:srgbClr val="C5221F"/>
          </a:solidFill>
          <a:ln/>
        </p:spPr>
      </p:sp>
      <p:sp>
        <p:nvSpPr>
          <p:cNvPr id="1572181150" name="Text 18"/>
          <p:cNvSpPr txBox="1"/>
          <p:nvPr/>
        </p:nvSpPr>
        <p:spPr bwMode="auto">
          <a:xfrm>
            <a:off x="9189720" y="3063240"/>
            <a:ext cx="1920240" cy="640080"/>
          </a:xfrm>
          <a:prstGeom prst="rect">
            <a:avLst/>
          </a:prstGeom>
          <a:noFill/>
          <a:ln/>
        </p:spPr>
        <p:txBody>
          <a:bodyPr wrap="square" lIns="0" tIns="0" rIns="0" bIns="0" rtlCol="0" anchor="ctr"/>
          <a:lstStyle/>
          <a:p>
            <a:pPr marL="0" indent="0">
              <a:buNone/>
              <a:defRPr/>
            </a:pPr>
            <a:r>
              <a:rPr lang="en-US" sz="3400" b="1">
                <a:solidFill>
                  <a:srgbClr val="FFFFFF"/>
                </a:solidFill>
                <a:latin typeface="Arial"/>
                <a:ea typeface="Arial"/>
                <a:cs typeface="Arial"/>
              </a:rPr>
              <a:t>04</a:t>
            </a:r>
            <a:endParaRPr lang="en-US" sz="3400"/>
          </a:p>
        </p:txBody>
      </p:sp>
      <p:sp>
        <p:nvSpPr>
          <p:cNvPr id="523938110" name="Text 19"/>
          <p:cNvSpPr txBox="1"/>
          <p:nvPr/>
        </p:nvSpPr>
        <p:spPr bwMode="auto">
          <a:xfrm>
            <a:off x="9189720" y="3794760"/>
            <a:ext cx="192024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Evalúa</a:t>
            </a:r>
            <a:endParaRPr lang="en-US" sz="2000"/>
          </a:p>
        </p:txBody>
      </p:sp>
      <p:sp>
        <p:nvSpPr>
          <p:cNvPr id="2048303935" name="Text 20"/>
          <p:cNvSpPr txBox="1"/>
          <p:nvPr/>
        </p:nvSpPr>
        <p:spPr bwMode="auto">
          <a:xfrm>
            <a:off x="9189720" y="4389120"/>
            <a:ext cx="1920240" cy="1737360"/>
          </a:xfrm>
          <a:prstGeom prst="rect">
            <a:avLst/>
          </a:prstGeom>
          <a:noFill/>
          <a:ln/>
        </p:spPr>
        <p:txBody>
          <a:bodyPr wrap="square" lIns="0" tIns="0" rIns="0" bIns="0" rtlCol="0" anchor="t"/>
          <a:lstStyle/>
          <a:p>
            <a:pPr marL="0" indent="0">
              <a:spcAft>
                <a:spcPts val="600"/>
              </a:spcAft>
              <a:buNone/>
              <a:defRPr/>
            </a:pPr>
            <a:r>
              <a:rPr lang="en-US" sz="1250">
                <a:solidFill>
                  <a:srgbClr val="FFFFFF"/>
                </a:solidFill>
                <a:latin typeface="Calibri"/>
                <a:ea typeface="Calibri"/>
                <a:cs typeface="Calibri"/>
              </a:rPr>
              <a:t>Pitch</a:t>
            </a:r>
            <a:endParaRPr lang="en-US" sz="1250"/>
          </a:p>
          <a:p>
            <a:pPr marL="0" indent="0">
              <a:spcAft>
                <a:spcPts val="600"/>
              </a:spcAft>
              <a:buNone/>
              <a:defRPr/>
            </a:pPr>
            <a:r>
              <a:rPr lang="en-US" sz="1250">
                <a:solidFill>
                  <a:srgbClr val="FFFFFF"/>
                </a:solidFill>
                <a:latin typeface="Calibri"/>
                <a:ea typeface="Calibri"/>
                <a:cs typeface="Calibri"/>
              </a:rPr>
              <a:t>Prueba con usuarios</a:t>
            </a:r>
            <a:endParaRPr lang="en-US" sz="1250"/>
          </a:p>
          <a:p>
            <a:pPr marL="0" indent="0">
              <a:spcAft>
                <a:spcPts val="600"/>
              </a:spcAft>
              <a:buNone/>
              <a:defRPr/>
            </a:pPr>
            <a:r>
              <a:rPr lang="en-US" sz="1250">
                <a:solidFill>
                  <a:srgbClr val="FFFFFF"/>
                </a:solidFill>
                <a:latin typeface="Calibri"/>
                <a:ea typeface="Calibri"/>
                <a:cs typeface="Calibri"/>
              </a:rPr>
              <a:t>Observación</a:t>
            </a:r>
            <a:endParaRPr lang="en-US" sz="1250"/>
          </a:p>
          <a:p>
            <a:pPr marL="0" indent="0">
              <a:spcAft>
                <a:spcPts val="600"/>
              </a:spcAft>
              <a:buNone/>
              <a:defRPr/>
            </a:pPr>
            <a:r>
              <a:rPr lang="en-US" sz="1250">
                <a:solidFill>
                  <a:srgbClr val="FFFFFF"/>
                </a:solidFill>
                <a:latin typeface="Calibri"/>
                <a:ea typeface="Calibri"/>
                <a:cs typeface="Calibri"/>
              </a:rPr>
              <a:t>Iteración</a:t>
            </a:r>
            <a:endParaRPr lang="en-US" sz="1250"/>
          </a:p>
        </p:txBody>
      </p:sp>
      <p:sp>
        <p:nvSpPr>
          <p:cNvPr id="1600267545" name="Text 21"/>
          <p:cNvSpPr txBox="1"/>
          <p:nvPr/>
        </p:nvSpPr>
        <p:spPr bwMode="auto">
          <a:xfrm>
            <a:off x="9189720" y="6172200"/>
            <a:ext cx="1920240" cy="777240"/>
          </a:xfrm>
          <a:prstGeom prst="rect">
            <a:avLst/>
          </a:prstGeom>
          <a:noFill/>
          <a:ln/>
        </p:spPr>
        <p:txBody>
          <a:bodyPr wrap="square" lIns="0" tIns="0" rIns="0" bIns="0" rtlCol="0" anchor="b"/>
          <a:lstStyle/>
          <a:p>
            <a:pPr marL="0" indent="0">
              <a:lnSpc>
                <a:spcPct val="110000"/>
              </a:lnSpc>
              <a:buNone/>
              <a:defRPr/>
            </a:pPr>
            <a:r>
              <a:rPr lang="en-US" sz="1150" i="1">
                <a:solidFill>
                  <a:srgbClr val="FFFFFF"/>
                </a:solidFill>
                <a:latin typeface="Calibri"/>
                <a:ea typeface="Calibri"/>
                <a:cs typeface="Calibri"/>
              </a:rPr>
              <a:t>Ponla en manos de otras personas y mejórala con lo que veas.</a:t>
            </a:r>
            <a:endParaRPr lang="en-US" sz="1150"/>
          </a:p>
        </p:txBody>
      </p:sp>
      <p:sp>
        <p:nvSpPr>
          <p:cNvPr id="198891008" name="Shape 22"/>
          <p:cNvSpPr/>
          <p:nvPr/>
        </p:nvSpPr>
        <p:spPr bwMode="auto">
          <a:xfrm>
            <a:off x="822960" y="7452360"/>
            <a:ext cx="10515600" cy="1051560"/>
          </a:xfrm>
          <a:prstGeom prst="rect">
            <a:avLst/>
          </a:prstGeom>
          <a:solidFill>
            <a:srgbClr val="F1F3F4"/>
          </a:solidFill>
          <a:ln/>
        </p:spPr>
      </p:sp>
      <p:sp>
        <p:nvSpPr>
          <p:cNvPr id="474733577" name="Text 23"/>
          <p:cNvSpPr txBox="1"/>
          <p:nvPr/>
        </p:nvSpPr>
        <p:spPr bwMode="auto">
          <a:xfrm>
            <a:off x="1097280" y="7635240"/>
            <a:ext cx="9966960" cy="731520"/>
          </a:xfrm>
          <a:prstGeom prst="rect">
            <a:avLst/>
          </a:prstGeom>
          <a:noFill/>
          <a:ln/>
        </p:spPr>
        <p:txBody>
          <a:bodyPr wrap="square" lIns="0" tIns="0" rIns="0" bIns="0" rtlCol="0" anchor="t"/>
          <a:lstStyle/>
          <a:p>
            <a:pPr marL="0" indent="0">
              <a:lnSpc>
                <a:spcPct val="114999"/>
              </a:lnSpc>
              <a:buNone/>
              <a:defRPr/>
            </a:pPr>
            <a:r>
              <a:rPr lang="en-US" sz="1400" b="1">
                <a:solidFill>
                  <a:srgbClr val="202124"/>
                </a:solidFill>
                <a:latin typeface="Calibri"/>
                <a:ea typeface="Calibri"/>
                <a:cs typeface="Calibri"/>
              </a:rPr>
              <a:t>Tres reglas:  </a:t>
            </a:r>
            <a:r>
              <a:rPr lang="en-US" sz="1400">
                <a:solidFill>
                  <a:srgbClr val="5F6368"/>
                </a:solidFill>
                <a:latin typeface="Calibri"/>
                <a:ea typeface="Calibri"/>
                <a:cs typeface="Calibri"/>
              </a:rPr>
              <a:t>escribe todo lo que se te ocurra antes de filtrar  ·  dibuja a mano antes de abrir Android Studio  ·  ninguna idea está terminada hasta que alguien más la usa. En la página 15 hay un ejemplo completo por si te trabas.</a:t>
            </a:r>
            <a:endParaRPr lang="en-US" sz="1400"/>
          </a:p>
        </p:txBody>
      </p:sp>
      <p:sp>
        <p:nvSpPr>
          <p:cNvPr id="1064689346" name="Text 24"/>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2</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1022840490" name="Shape 0"/>
          <p:cNvSpPr/>
          <p:nvPr/>
        </p:nvSpPr>
        <p:spPr bwMode="auto">
          <a:xfrm>
            <a:off x="0" y="0"/>
            <a:ext cx="2514600" cy="9144000"/>
          </a:xfrm>
          <a:prstGeom prst="rect">
            <a:avLst/>
          </a:prstGeom>
          <a:solidFill>
            <a:srgbClr val="34A853"/>
          </a:solidFill>
          <a:ln/>
        </p:spPr>
      </p:sp>
      <p:sp>
        <p:nvSpPr>
          <p:cNvPr id="920336400"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1</a:t>
            </a:r>
            <a:endParaRPr lang="en-US" sz="1100"/>
          </a:p>
        </p:txBody>
      </p:sp>
      <p:sp>
        <p:nvSpPr>
          <p:cNvPr id="1442937168"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Idea</a:t>
            </a:r>
            <a:endParaRPr lang="en-US" sz="2600"/>
          </a:p>
        </p:txBody>
      </p:sp>
      <p:sp>
        <p:nvSpPr>
          <p:cNvPr id="1973074000"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8E6CF"/>
                </a:solidFill>
                <a:latin typeface="Calibri"/>
                <a:ea typeface="Calibri"/>
                <a:cs typeface="Calibri"/>
              </a:rPr>
              <a:t>Problema</a:t>
            </a:r>
            <a:endParaRPr lang="en-US" sz="1300"/>
          </a:p>
          <a:p>
            <a:pPr marL="0" indent="0">
              <a:spcAft>
                <a:spcPts val="800"/>
              </a:spcAft>
              <a:buNone/>
              <a:defRPr/>
            </a:pPr>
            <a:r>
              <a:rPr lang="en-US" sz="1300">
                <a:solidFill>
                  <a:srgbClr val="C8E6CF"/>
                </a:solidFill>
                <a:latin typeface="Calibri"/>
                <a:ea typeface="Calibri"/>
                <a:cs typeface="Calibri"/>
              </a:rPr>
              <a:t>Lluvia de ideas</a:t>
            </a:r>
            <a:endParaRPr lang="en-US" sz="1300"/>
          </a:p>
          <a:p>
            <a:pPr marL="0" indent="0">
              <a:spcAft>
                <a:spcPts val="800"/>
              </a:spcAft>
              <a:buNone/>
              <a:defRPr/>
            </a:pPr>
            <a:r>
              <a:rPr lang="en-US" sz="1300">
                <a:solidFill>
                  <a:srgbClr val="C8E6CF"/>
                </a:solidFill>
                <a:latin typeface="Calibri"/>
                <a:ea typeface="Calibri"/>
                <a:cs typeface="Calibri"/>
              </a:rPr>
              <a:t>Mi idea</a:t>
            </a:r>
            <a:endParaRPr lang="en-US" sz="1300"/>
          </a:p>
        </p:txBody>
      </p:sp>
      <p:sp>
        <p:nvSpPr>
          <p:cNvPr id="172545044" name="Shape 4"/>
          <p:cNvSpPr/>
          <p:nvPr/>
        </p:nvSpPr>
        <p:spPr bwMode="auto">
          <a:xfrm>
            <a:off x="7223760" y="2377440"/>
            <a:ext cx="4480560" cy="4389120"/>
          </a:xfrm>
          <a:prstGeom prst="roundRect">
            <a:avLst>
              <a:gd name="adj" fmla="val 1667"/>
            </a:avLst>
          </a:prstGeom>
          <a:solidFill>
            <a:srgbClr val="EAF6EC"/>
          </a:solidFill>
          <a:ln/>
        </p:spPr>
      </p:sp>
      <p:sp>
        <p:nvSpPr>
          <p:cNvPr id="960211271" name="Text 5"/>
          <p:cNvSpPr txBox="1"/>
          <p:nvPr/>
        </p:nvSpPr>
        <p:spPr bwMode="auto">
          <a:xfrm>
            <a:off x="7223760" y="2560320"/>
            <a:ext cx="4480560" cy="4023360"/>
          </a:xfrm>
          <a:prstGeom prst="rect">
            <a:avLst/>
          </a:prstGeom>
          <a:noFill/>
          <a:ln/>
        </p:spPr>
        <p:txBody>
          <a:bodyPr wrap="square" lIns="0" tIns="0" rIns="0" bIns="0" rtlCol="0" anchor="ctr"/>
          <a:lstStyle/>
          <a:p>
            <a:pPr marL="0" indent="0" algn="ctr">
              <a:buNone/>
              <a:defRPr/>
            </a:pPr>
            <a:r>
              <a:rPr lang="en-US" sz="20000" b="1">
                <a:solidFill>
                  <a:srgbClr val="A8DAB5"/>
                </a:solidFill>
                <a:latin typeface="Arial"/>
                <a:ea typeface="Arial"/>
                <a:cs typeface="Arial"/>
              </a:rPr>
              <a:t>1</a:t>
            </a:r>
            <a:endParaRPr lang="en-US" sz="20000"/>
          </a:p>
        </p:txBody>
      </p:sp>
      <p:sp>
        <p:nvSpPr>
          <p:cNvPr id="615946206" name="Text 6"/>
          <p:cNvSpPr txBox="1"/>
          <p:nvPr/>
        </p:nvSpPr>
        <p:spPr bwMode="auto">
          <a:xfrm>
            <a:off x="2880360" y="237744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Fase 1 · Idea</a:t>
            </a:r>
            <a:endParaRPr lang="en-US" sz="2500"/>
          </a:p>
        </p:txBody>
      </p:sp>
      <p:sp>
        <p:nvSpPr>
          <p:cNvPr id="5550216" name="Text 7"/>
          <p:cNvSpPr txBox="1"/>
          <p:nvPr/>
        </p:nvSpPr>
        <p:spPr bwMode="auto">
          <a:xfrm>
            <a:off x="2880360" y="3063240"/>
            <a:ext cx="4023360" cy="1828800"/>
          </a:xfrm>
          <a:prstGeom prst="rect">
            <a:avLst/>
          </a:prstGeom>
          <a:noFill/>
          <a:ln/>
        </p:spPr>
        <p:txBody>
          <a:bodyPr wrap="square" lIns="0" tIns="0" rIns="0" bIns="0" rtlCol="0" anchor="t"/>
          <a:lstStyle/>
          <a:p>
            <a:pPr marL="0" indent="0">
              <a:lnSpc>
                <a:spcPct val="114999"/>
              </a:lnSpc>
              <a:buNone/>
              <a:defRPr/>
            </a:pPr>
            <a:r>
              <a:rPr lang="en-US" sz="1500">
                <a:solidFill>
                  <a:srgbClr val="5F6368"/>
                </a:solidFill>
                <a:latin typeface="Calibri"/>
                <a:ea typeface="Calibri"/>
                <a:cs typeface="Calibri"/>
              </a:rPr>
              <a:t>Las apps pueden entretener, pero también resolver problemas y conectar personas. En esta fase eliges un problema real que te importe y lo conviertes en una idea de app. No busques la idea perfecta de entrada: busca muchas ideas y después elige.</a:t>
            </a:r>
            <a:endParaRPr lang="en-US" sz="1500"/>
          </a:p>
        </p:txBody>
      </p:sp>
      <p:sp>
        <p:nvSpPr>
          <p:cNvPr id="1694081286" name="Text 8"/>
          <p:cNvSpPr txBox="1"/>
          <p:nvPr/>
        </p:nvSpPr>
        <p:spPr bwMode="auto">
          <a:xfrm>
            <a:off x="2880360" y="5120640"/>
            <a:ext cx="4023360" cy="228600"/>
          </a:xfrm>
          <a:prstGeom prst="rect">
            <a:avLst/>
          </a:prstGeom>
          <a:noFill/>
          <a:ln/>
        </p:spPr>
        <p:txBody>
          <a:bodyPr wrap="square" lIns="0" tIns="0" rIns="0" bIns="0" rtlCol="0" anchor="ctr"/>
          <a:lstStyle/>
          <a:p>
            <a:pPr marL="0" indent="0">
              <a:buNone/>
              <a:defRPr/>
            </a:pPr>
            <a:r>
              <a:rPr lang="en-US" sz="1000" b="1" spc="150">
                <a:solidFill>
                  <a:srgbClr val="34A853"/>
                </a:solidFill>
                <a:latin typeface="Arial"/>
                <a:ea typeface="Arial"/>
                <a:cs typeface="Arial"/>
              </a:rPr>
              <a:t>AL TERMINAR TENDRÁS</a:t>
            </a:r>
            <a:endParaRPr lang="en-US" sz="1000"/>
          </a:p>
        </p:txBody>
      </p:sp>
      <p:sp>
        <p:nvSpPr>
          <p:cNvPr id="845739338" name="Text 9"/>
          <p:cNvSpPr txBox="1"/>
          <p:nvPr/>
        </p:nvSpPr>
        <p:spPr bwMode="auto">
          <a:xfrm>
            <a:off x="2880360" y="5440680"/>
            <a:ext cx="4023360" cy="1645920"/>
          </a:xfrm>
          <a:prstGeom prst="rect">
            <a:avLst/>
          </a:prstGeom>
          <a:noFill/>
          <a:ln/>
        </p:spPr>
        <p:txBody>
          <a:bodyPr wrap="square" lIns="0" tIns="0" rIns="0" bIns="0" rtlCol="0" anchor="t"/>
          <a:lstStyle/>
          <a:p>
            <a:pPr marL="342900" indent="-342900">
              <a:spcAft>
                <a:spcPts val="800"/>
              </a:spcAft>
              <a:buSzPct val="100000"/>
              <a:buChar char="•"/>
              <a:defRPr/>
            </a:pPr>
            <a:r>
              <a:rPr lang="en-US" sz="1350">
                <a:solidFill>
                  <a:srgbClr val="202124"/>
                </a:solidFill>
                <a:latin typeface="Calibri"/>
                <a:ea typeface="Calibri"/>
                <a:cs typeface="Calibri"/>
              </a:rPr>
              <a:t>Un problema definido en una oración</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Al menos cinco ideas de app</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Una idea elegida con sus metas</a:t>
            </a:r>
            <a:endParaRPr lang="en-US" sz="1350"/>
          </a:p>
        </p:txBody>
      </p:sp>
      <p:sp>
        <p:nvSpPr>
          <p:cNvPr id="1976838549" name="Text 10"/>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3</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923006325" name="Shape 0"/>
          <p:cNvSpPr/>
          <p:nvPr/>
        </p:nvSpPr>
        <p:spPr bwMode="auto">
          <a:xfrm>
            <a:off x="0" y="0"/>
            <a:ext cx="2514600" cy="9144000"/>
          </a:xfrm>
          <a:prstGeom prst="rect">
            <a:avLst/>
          </a:prstGeom>
          <a:solidFill>
            <a:srgbClr val="34A853"/>
          </a:solidFill>
          <a:ln/>
        </p:spPr>
      </p:sp>
      <p:sp>
        <p:nvSpPr>
          <p:cNvPr id="1693252566"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1</a:t>
            </a:r>
            <a:endParaRPr lang="en-US" sz="1100"/>
          </a:p>
        </p:txBody>
      </p:sp>
      <p:sp>
        <p:nvSpPr>
          <p:cNvPr id="1533212330"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Idea</a:t>
            </a:r>
            <a:endParaRPr lang="en-US" sz="2600"/>
          </a:p>
        </p:txBody>
      </p:sp>
      <p:sp>
        <p:nvSpPr>
          <p:cNvPr id="1639869669"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b="1">
                <a:solidFill>
                  <a:srgbClr val="FFFFFF"/>
                </a:solidFill>
                <a:latin typeface="Calibri"/>
                <a:ea typeface="Calibri"/>
                <a:cs typeface="Calibri"/>
              </a:rPr>
              <a:t>Problema</a:t>
            </a:r>
            <a:endParaRPr lang="en-US" sz="1300"/>
          </a:p>
          <a:p>
            <a:pPr marL="0" indent="0">
              <a:spcAft>
                <a:spcPts val="800"/>
              </a:spcAft>
              <a:buNone/>
              <a:defRPr/>
            </a:pPr>
            <a:r>
              <a:rPr lang="en-US" sz="1300">
                <a:solidFill>
                  <a:srgbClr val="C8E6CF"/>
                </a:solidFill>
                <a:latin typeface="Calibri"/>
                <a:ea typeface="Calibri"/>
                <a:cs typeface="Calibri"/>
              </a:rPr>
              <a:t>Lluvia de ideas</a:t>
            </a:r>
            <a:endParaRPr lang="en-US" sz="1300"/>
          </a:p>
          <a:p>
            <a:pPr marL="0" indent="0">
              <a:spcAft>
                <a:spcPts val="800"/>
              </a:spcAft>
              <a:buNone/>
              <a:defRPr/>
            </a:pPr>
            <a:r>
              <a:rPr lang="en-US" sz="1300">
                <a:solidFill>
                  <a:srgbClr val="C8E6CF"/>
                </a:solidFill>
                <a:latin typeface="Calibri"/>
                <a:ea typeface="Calibri"/>
                <a:cs typeface="Calibri"/>
              </a:rPr>
              <a:t>Mi idea</a:t>
            </a:r>
            <a:endParaRPr lang="en-US" sz="1300"/>
          </a:p>
        </p:txBody>
      </p:sp>
      <p:sp>
        <p:nvSpPr>
          <p:cNvPr id="598099033" name="Shape 4"/>
          <p:cNvSpPr/>
          <p:nvPr/>
        </p:nvSpPr>
        <p:spPr bwMode="auto">
          <a:xfrm>
            <a:off x="320040" y="7269480"/>
            <a:ext cx="1005840" cy="0"/>
          </a:xfrm>
          <a:prstGeom prst="line">
            <a:avLst/>
          </a:prstGeom>
          <a:noFill/>
          <a:ln w="19050">
            <a:solidFill>
              <a:srgbClr val="FFFFFF"/>
            </a:solidFill>
            <a:prstDash val="solid"/>
          </a:ln>
        </p:spPr>
      </p:sp>
      <p:sp>
        <p:nvSpPr>
          <p:cNvPr id="1943072897"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IR MÁS ALLÁ</a:t>
            </a:r>
            <a:endParaRPr lang="en-US" sz="1000"/>
          </a:p>
        </p:txBody>
      </p:sp>
      <p:sp>
        <p:nvSpPr>
          <p:cNvPr id="270776417"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Sal a preguntar. Cinco minutos de conversación con un usuario real valen más que una hora de suposiciones.</a:t>
            </a:r>
            <a:endParaRPr lang="en-US" sz="1100"/>
          </a:p>
        </p:txBody>
      </p:sp>
      <p:sp>
        <p:nvSpPr>
          <p:cNvPr id="493883489"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Define el problema u oportunidad</a:t>
            </a:r>
            <a:endParaRPr lang="en-US" sz="2500"/>
          </a:p>
        </p:txBody>
      </p:sp>
      <p:sp>
        <p:nvSpPr>
          <p:cNvPr id="1020343789" name="Text 8"/>
          <p:cNvSpPr txBox="1"/>
          <p:nvPr/>
        </p:nvSpPr>
        <p:spPr bwMode="auto">
          <a:xfrm>
            <a:off x="2880360" y="1051560"/>
            <a:ext cx="8851392" cy="6858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Piensa en cosas del día a día que te gustaría mejorar: en tu instituto, tu barrio, tu casa, tu trabajo o un pasatiempo. Responde con lo primero que se te venga a la mente; después afinamos.</a:t>
            </a:r>
            <a:endParaRPr lang="en-US" sz="1400"/>
          </a:p>
        </p:txBody>
      </p:sp>
      <p:sp>
        <p:nvSpPr>
          <p:cNvPr id="1658116620" name="Text 9"/>
          <p:cNvSpPr txBox="1"/>
          <p:nvPr/>
        </p:nvSpPr>
        <p:spPr bwMode="auto">
          <a:xfrm>
            <a:off x="2880360" y="1965960"/>
            <a:ext cx="8851392" cy="274320"/>
          </a:xfrm>
          <a:prstGeom prst="rect">
            <a:avLst/>
          </a:prstGeom>
          <a:noFill/>
          <a:ln/>
        </p:spPr>
        <p:txBody>
          <a:bodyPr wrap="square" lIns="0" tIns="0" rIns="0" bIns="0" rtlCol="0" anchor="ctr"/>
          <a:lstStyle/>
          <a:p>
            <a:pPr marL="0" indent="0">
              <a:buNone/>
              <a:defRPr/>
            </a:pPr>
            <a:r>
              <a:rPr lang="en-US" sz="1350" b="1">
                <a:solidFill>
                  <a:srgbClr val="202124"/>
                </a:solidFill>
                <a:latin typeface="Calibri"/>
                <a:ea typeface="Calibri"/>
                <a:cs typeface="Calibri"/>
              </a:rPr>
              <a:t>1.  ¿Qué situaciones te gustaría mejorar? Anota todas las que puedas.</a:t>
            </a:r>
            <a:endParaRPr lang="en-US" sz="1350"/>
          </a:p>
        </p:txBody>
      </p:sp>
      <p:sp>
        <p:nvSpPr>
          <p:cNvPr id="560194720" name="Text 10"/>
          <p:cNvSpPr txBox="1"/>
          <p:nvPr/>
        </p:nvSpPr>
        <p:spPr bwMode="auto">
          <a:xfrm>
            <a:off x="2880360" y="2267712"/>
            <a:ext cx="8851392" cy="123444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100" b="0">
                <a:solidFill>
                  <a:srgbClr val="303A42"/>
                </a:solidFill>
                <a:latin typeface="Calibri"/>
              </a:rPr>
              <a:t>Nivelar a estudiantes que aún no alcanzan lo esperado para su grado y ayudarles a mantener lo aprendido; planificar sesiones y refuerzos; preparar evidencias, instrumentos e informes; marcar asistencia casilla por casilla en SIAGIE; responder a familias fuera de horario y recibir justificaciones de tardanza/inasistencia dispersas entre WhatsApp y papel.</a:t>
            </a:r>
            <a:endParaRPr lang="en-US" sz="1300"/>
          </a:p>
        </p:txBody>
      </p:sp>
      <p:sp>
        <p:nvSpPr>
          <p:cNvPr id="812038901" name="Text 11"/>
          <p:cNvSpPr txBox="1"/>
          <p:nvPr/>
        </p:nvSpPr>
        <p:spPr bwMode="auto">
          <a:xfrm>
            <a:off x="2880360" y="3822192"/>
            <a:ext cx="8851392" cy="274320"/>
          </a:xfrm>
          <a:prstGeom prst="rect">
            <a:avLst/>
          </a:prstGeom>
          <a:noFill/>
          <a:ln/>
        </p:spPr>
        <p:txBody>
          <a:bodyPr wrap="square" lIns="0" tIns="0" rIns="0" bIns="0" rtlCol="0" anchor="ctr"/>
          <a:lstStyle/>
          <a:p>
            <a:pPr marL="0" indent="0">
              <a:buNone/>
              <a:defRPr/>
            </a:pPr>
            <a:r>
              <a:rPr lang="en-US" sz="1350" b="1">
                <a:solidFill>
                  <a:srgbClr val="202124"/>
                </a:solidFill>
                <a:latin typeface="Calibri"/>
                <a:ea typeface="Calibri"/>
                <a:cs typeface="Calibri"/>
              </a:rPr>
              <a:t>2.  Elige la más interesante y explícala en una sola oración.</a:t>
            </a:r>
            <a:endParaRPr lang="en-US" sz="1350"/>
          </a:p>
        </p:txBody>
      </p:sp>
      <p:sp>
        <p:nvSpPr>
          <p:cNvPr id="371936027" name="Text 12"/>
          <p:cNvSpPr txBox="1"/>
          <p:nvPr/>
        </p:nvSpPr>
        <p:spPr bwMode="auto">
          <a:xfrm>
            <a:off x="2880360" y="4123944"/>
            <a:ext cx="8851392" cy="77724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100" b="0">
                <a:solidFill>
                  <a:srgbClr val="303A42"/>
                </a:solidFill>
                <a:latin typeface="Calibri"/>
              </a:rPr>
              <a:t>El docente no siempre ve con claridad quién tiene brechas por competencia, qué refuerzo ayuda a cerrarlas ni si el alumno conserva lo aprendido semanas después. A la vez, las tareas repetidas y herramientas separadas dejan poco tiempo para enseñar y comunicarse con las familias; estas no reciben una visión oportuna de progreso, asistencia y llegada a clase.</a:t>
            </a:r>
            <a:endParaRPr lang="en-US" sz="1300"/>
          </a:p>
        </p:txBody>
      </p:sp>
      <p:sp>
        <p:nvSpPr>
          <p:cNvPr id="2078814036" name="Text 13"/>
          <p:cNvSpPr txBox="1"/>
          <p:nvPr/>
        </p:nvSpPr>
        <p:spPr bwMode="auto">
          <a:xfrm>
            <a:off x="2880360" y="5221224"/>
            <a:ext cx="8851392" cy="274320"/>
          </a:xfrm>
          <a:prstGeom prst="rect">
            <a:avLst/>
          </a:prstGeom>
          <a:noFill/>
          <a:ln/>
        </p:spPr>
        <p:txBody>
          <a:bodyPr wrap="square" lIns="0" tIns="0" rIns="0" bIns="0" rtlCol="0" anchor="ctr"/>
          <a:lstStyle/>
          <a:p>
            <a:pPr marL="0" indent="0">
              <a:buNone/>
              <a:defRPr/>
            </a:pPr>
            <a:r>
              <a:rPr lang="en-US" sz="1350" b="1">
                <a:solidFill>
                  <a:srgbClr val="202124"/>
                </a:solidFill>
                <a:latin typeface="Calibri"/>
                <a:ea typeface="Calibri"/>
                <a:cs typeface="Calibri"/>
              </a:rPr>
              <a:t>3.  ¿Qué sabes ya del problema y qué necesitas averiguar?</a:t>
            </a:r>
            <a:endParaRPr lang="en-US" sz="1350"/>
          </a:p>
        </p:txBody>
      </p:sp>
      <p:sp>
        <p:nvSpPr>
          <p:cNvPr id="2131205492" name="Text 14"/>
          <p:cNvSpPr txBox="1"/>
          <p:nvPr/>
        </p:nvSpPr>
        <p:spPr bwMode="auto">
          <a:xfrm>
            <a:off x="2880360" y="5522976"/>
            <a:ext cx="8851392" cy="105156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En la encuesta a docentes de primaria pública, 3 de 4 dedican 2–5 horas semanales a planificar; los 4 señalaron las conclusiones descriptivas como lentas/difíciles. El modelo documenta progreso AD/A/B/C por competencia, evidencias, retroalimentación y recomendaciones. La guía debe apoyarse en CNEB/desempeños del grado. Falta validar cómo medir retención y nivelación, necesidades para concursos, visibilidad diaria para familias y la forma autorizada de sincronizar SIAGIE: el repo no confirma una API.</a:t>
            </a:r>
            <a:endParaRPr lang="en-US" sz="1300"/>
          </a:p>
        </p:txBody>
      </p:sp>
      <p:sp>
        <p:nvSpPr>
          <p:cNvPr id="1967807807" name="Text 15"/>
          <p:cNvSpPr txBox="1"/>
          <p:nvPr/>
        </p:nvSpPr>
        <p:spPr bwMode="auto">
          <a:xfrm>
            <a:off x="2880360" y="6894576"/>
            <a:ext cx="8851392" cy="274320"/>
          </a:xfrm>
          <a:prstGeom prst="rect">
            <a:avLst/>
          </a:prstGeom>
          <a:noFill/>
          <a:ln/>
        </p:spPr>
        <p:txBody>
          <a:bodyPr wrap="square" lIns="0" tIns="0" rIns="0" bIns="0" rtlCol="0" anchor="ctr"/>
          <a:lstStyle/>
          <a:p>
            <a:pPr marL="0" indent="0">
              <a:buNone/>
              <a:defRPr/>
            </a:pPr>
            <a:r>
              <a:rPr lang="en-US" sz="1350" b="1">
                <a:solidFill>
                  <a:srgbClr val="202124"/>
                </a:solidFill>
                <a:latin typeface="Calibri"/>
                <a:ea typeface="Calibri"/>
                <a:cs typeface="Calibri"/>
              </a:rPr>
              <a:t>4.  ¿A quién le pasa? Describe a tu usuario: edad, contexto, cómo usa su celular.</a:t>
            </a:r>
            <a:endParaRPr lang="en-US" sz="1350"/>
          </a:p>
        </p:txBody>
      </p:sp>
      <p:sp>
        <p:nvSpPr>
          <p:cNvPr id="1362478155" name="Text 16"/>
          <p:cNvSpPr txBox="1"/>
          <p:nvPr/>
        </p:nvSpPr>
        <p:spPr bwMode="auto">
          <a:xfrm>
            <a:off x="2880360" y="7196328"/>
            <a:ext cx="8851392" cy="123444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100" b="0">
                <a:solidFill>
                  <a:srgbClr val="303A42"/>
                </a:solidFill>
                <a:latin typeface="Calibri"/>
              </a:rPr>
              <a:t>Docente de primaria pública en Perú. En la muestra, las secciones tienen 17–26 alumnos; combina cuaderno/Excel con SIAGIE y planifica con plantillas de colegas, PerúEduca, documentos o IA. Su experiencia digital varía y el wifi puede ser poco fiable. Busca detectar quién requiere apoyo sin estigmatizar, ajustar estrategias y materiales, y seguir avances. El apoderado trabaja en horarios distintos y suele enterarse en reuniones o por WhatsApp.</a:t>
            </a:r>
            <a:endParaRPr lang="en-US" sz="1300"/>
          </a:p>
        </p:txBody>
      </p:sp>
      <p:sp>
        <p:nvSpPr>
          <p:cNvPr id="47559641" name="Text 17"/>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4</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795547149" name="Shape 0"/>
          <p:cNvSpPr/>
          <p:nvPr/>
        </p:nvSpPr>
        <p:spPr bwMode="auto">
          <a:xfrm>
            <a:off x="0" y="0"/>
            <a:ext cx="2514600" cy="9144000"/>
          </a:xfrm>
          <a:prstGeom prst="rect">
            <a:avLst/>
          </a:prstGeom>
          <a:solidFill>
            <a:srgbClr val="34A853"/>
          </a:solidFill>
          <a:ln/>
        </p:spPr>
      </p:sp>
      <p:sp>
        <p:nvSpPr>
          <p:cNvPr id="861869444"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1</a:t>
            </a:r>
            <a:endParaRPr lang="en-US" sz="1100"/>
          </a:p>
        </p:txBody>
      </p:sp>
      <p:sp>
        <p:nvSpPr>
          <p:cNvPr id="1681556522"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Idea</a:t>
            </a:r>
            <a:endParaRPr lang="en-US" sz="2600"/>
          </a:p>
        </p:txBody>
      </p:sp>
      <p:sp>
        <p:nvSpPr>
          <p:cNvPr id="890077105"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8E6CF"/>
                </a:solidFill>
                <a:latin typeface="Calibri"/>
                <a:ea typeface="Calibri"/>
                <a:cs typeface="Calibri"/>
              </a:rPr>
              <a:t>Problema</a:t>
            </a:r>
            <a:endParaRPr lang="en-US" sz="1300"/>
          </a:p>
          <a:p>
            <a:pPr marL="0" indent="0">
              <a:spcAft>
                <a:spcPts val="800"/>
              </a:spcAft>
              <a:buNone/>
              <a:defRPr/>
            </a:pPr>
            <a:r>
              <a:rPr lang="en-US" sz="1300" b="1">
                <a:solidFill>
                  <a:srgbClr val="FFFFFF"/>
                </a:solidFill>
                <a:latin typeface="Calibri"/>
                <a:ea typeface="Calibri"/>
                <a:cs typeface="Calibri"/>
              </a:rPr>
              <a:t>Lluvia de ideas</a:t>
            </a:r>
            <a:endParaRPr lang="en-US" sz="1300"/>
          </a:p>
          <a:p>
            <a:pPr marL="0" indent="0">
              <a:spcAft>
                <a:spcPts val="800"/>
              </a:spcAft>
              <a:buNone/>
              <a:defRPr/>
            </a:pPr>
            <a:r>
              <a:rPr lang="en-US" sz="1300">
                <a:solidFill>
                  <a:srgbClr val="C8E6CF"/>
                </a:solidFill>
                <a:latin typeface="Calibri"/>
                <a:ea typeface="Calibri"/>
                <a:cs typeface="Calibri"/>
              </a:rPr>
              <a:t>Mi idea</a:t>
            </a:r>
            <a:endParaRPr lang="en-US" sz="1300"/>
          </a:p>
        </p:txBody>
      </p:sp>
      <p:sp>
        <p:nvSpPr>
          <p:cNvPr id="1390628058" name="Shape 4"/>
          <p:cNvSpPr/>
          <p:nvPr/>
        </p:nvSpPr>
        <p:spPr bwMode="auto">
          <a:xfrm>
            <a:off x="320040" y="7269480"/>
            <a:ext cx="1005840" cy="0"/>
          </a:xfrm>
          <a:prstGeom prst="line">
            <a:avLst/>
          </a:prstGeom>
          <a:noFill/>
          <a:ln w="19050">
            <a:solidFill>
              <a:srgbClr val="FFFFFF"/>
            </a:solidFill>
            <a:prstDash val="solid"/>
          </a:ln>
        </p:spPr>
      </p:sp>
      <p:sp>
        <p:nvSpPr>
          <p:cNvPr id="346706886"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IR MÁS ALLÁ</a:t>
            </a:r>
            <a:endParaRPr lang="en-US" sz="1000"/>
          </a:p>
        </p:txBody>
      </p:sp>
      <p:sp>
        <p:nvSpPr>
          <p:cNvPr id="61360207"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Una idea por nota adhesiva y todas pegadas en la pared: es más fácil ver patrones y combinar ideas.</a:t>
            </a:r>
            <a:endParaRPr lang="en-US" sz="1100"/>
          </a:p>
        </p:txBody>
      </p:sp>
      <p:sp>
        <p:nvSpPr>
          <p:cNvPr id="695067169"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Mi lluvia de ideas</a:t>
            </a:r>
            <a:endParaRPr lang="en-US" sz="2500"/>
          </a:p>
        </p:txBody>
      </p:sp>
      <p:sp>
        <p:nvSpPr>
          <p:cNvPr id="1297442012" name="Text 8"/>
          <p:cNvSpPr txBox="1"/>
          <p:nvPr/>
        </p:nvSpPr>
        <p:spPr bwMode="auto">
          <a:xfrm>
            <a:off x="2880360" y="1051560"/>
            <a:ext cx="8851392" cy="6858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Escribe al menos cinco ideas de app para el problema que elegiste. Cantidad antes que calidad: incluye las obvias, las ambiciosas y las que suenen ridículas. Después será fácil descartar.</a:t>
            </a:r>
            <a:endParaRPr lang="en-US" sz="1400"/>
          </a:p>
        </p:txBody>
      </p:sp>
      <p:sp>
        <p:nvSpPr>
          <p:cNvPr id="1938440335" name="Shape 9"/>
          <p:cNvSpPr/>
          <p:nvPr/>
        </p:nvSpPr>
        <p:spPr bwMode="auto">
          <a:xfrm>
            <a:off x="2880360" y="1965960"/>
            <a:ext cx="3429000" cy="365760"/>
          </a:xfrm>
          <a:prstGeom prst="rect">
            <a:avLst/>
          </a:prstGeom>
          <a:solidFill>
            <a:srgbClr val="34A853"/>
          </a:solidFill>
          <a:ln/>
        </p:spPr>
      </p:sp>
      <p:sp>
        <p:nvSpPr>
          <p:cNvPr id="475075316" name="Text 10"/>
          <p:cNvSpPr txBox="1"/>
          <p:nvPr/>
        </p:nvSpPr>
        <p:spPr bwMode="auto">
          <a:xfrm>
            <a:off x="2990088" y="1965960"/>
            <a:ext cx="3209544"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Mi idea de app</a:t>
            </a:r>
            <a:endParaRPr lang="en-US" sz="1200"/>
          </a:p>
        </p:txBody>
      </p:sp>
      <p:sp>
        <p:nvSpPr>
          <p:cNvPr id="2122446664" name="Shape 11"/>
          <p:cNvSpPr/>
          <p:nvPr/>
        </p:nvSpPr>
        <p:spPr bwMode="auto">
          <a:xfrm>
            <a:off x="6629400" y="1965960"/>
            <a:ext cx="5102352" cy="365760"/>
          </a:xfrm>
          <a:prstGeom prst="rect">
            <a:avLst/>
          </a:prstGeom>
          <a:solidFill>
            <a:srgbClr val="34A853"/>
          </a:solidFill>
          <a:ln/>
        </p:spPr>
      </p:sp>
      <p:sp>
        <p:nvSpPr>
          <p:cNvPr id="927805743" name="Text 12"/>
          <p:cNvSpPr txBox="1"/>
          <p:nvPr/>
        </p:nvSpPr>
        <p:spPr bwMode="auto">
          <a:xfrm>
            <a:off x="6739128" y="1965960"/>
            <a:ext cx="4882896"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Cómo ayuda a mi usuario</a:t>
            </a:r>
            <a:endParaRPr lang="en-US" sz="1200"/>
          </a:p>
        </p:txBody>
      </p:sp>
      <p:sp>
        <p:nvSpPr>
          <p:cNvPr id="1820122663" name="Text 13"/>
          <p:cNvSpPr txBox="1"/>
          <p:nvPr/>
        </p:nvSpPr>
        <p:spPr bwMode="auto">
          <a:xfrm>
            <a:off x="2880360" y="2468880"/>
            <a:ext cx="3429000"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Diagnóstico de brechas por competencia y grado</a:t>
            </a:r>
            <a:endParaRPr lang="en-US" sz="1300"/>
          </a:p>
        </p:txBody>
      </p:sp>
      <p:sp>
        <p:nvSpPr>
          <p:cNvPr id="1201799000" name="Text 14"/>
          <p:cNvSpPr txBox="1"/>
          <p:nvPr/>
        </p:nvSpPr>
        <p:spPr bwMode="auto">
          <a:xfrm>
            <a:off x="6629400" y="2468880"/>
            <a:ext cx="5102352"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Contrasta evidencias con desempeños esperados y ayuda al docente a priorizar apoyos sin etiquetar al alumno.</a:t>
            </a:r>
            <a:endParaRPr lang="en-US" sz="1300"/>
          </a:p>
        </p:txBody>
      </p:sp>
      <p:sp>
        <p:nvSpPr>
          <p:cNvPr id="669364311" name="Text 15"/>
          <p:cNvSpPr txBox="1"/>
          <p:nvPr/>
        </p:nvSpPr>
        <p:spPr bwMode="auto">
          <a:xfrm>
            <a:off x="6309360" y="2468880"/>
            <a:ext cx="320040" cy="841248"/>
          </a:xfrm>
          <a:prstGeom prst="rect">
            <a:avLst/>
          </a:prstGeom>
          <a:noFill/>
          <a:ln/>
        </p:spPr>
        <p:txBody>
          <a:bodyPr wrap="square" lIns="0" tIns="0" rIns="0" bIns="0" rtlCol="0" anchor="ctr"/>
          <a:lstStyle/>
          <a:p>
            <a:pPr marL="0" indent="0" algn="ctr">
              <a:buNone/>
              <a:defRPr/>
            </a:pPr>
            <a:r>
              <a:rPr lang="en-US" sz="1500" b="1">
                <a:solidFill>
                  <a:srgbClr val="34A853"/>
                </a:solidFill>
                <a:latin typeface="Calibri"/>
                <a:ea typeface="Calibri"/>
                <a:cs typeface="Calibri"/>
              </a:rPr>
              <a:t>→</a:t>
            </a:r>
            <a:endParaRPr lang="en-US" sz="1500"/>
          </a:p>
        </p:txBody>
      </p:sp>
      <p:sp>
        <p:nvSpPr>
          <p:cNvPr id="2037882750" name="Text 16"/>
          <p:cNvSpPr txBox="1"/>
          <p:nvPr/>
        </p:nvSpPr>
        <p:spPr bwMode="auto">
          <a:xfrm>
            <a:off x="2880360" y="3438144"/>
            <a:ext cx="3429000"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Refuerzo diferenciado y práctica espaciada</a:t>
            </a:r>
            <a:endParaRPr lang="en-US" sz="1300"/>
          </a:p>
        </p:txBody>
      </p:sp>
      <p:sp>
        <p:nvSpPr>
          <p:cNvPr id="276105437" name="Text 17"/>
          <p:cNvSpPr txBox="1"/>
          <p:nvPr/>
        </p:nvSpPr>
        <p:spPr bwMode="auto">
          <a:xfrm>
            <a:off x="6629400" y="3438144"/>
            <a:ext cx="5102352"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Propone sesiones, ejercicios y repasos según la brecha; vuelve a revisar lo aprendido para sostenerlo.</a:t>
            </a:r>
            <a:endParaRPr lang="en-US" sz="1300"/>
          </a:p>
        </p:txBody>
      </p:sp>
      <p:sp>
        <p:nvSpPr>
          <p:cNvPr id="306821265" name="Text 18"/>
          <p:cNvSpPr txBox="1"/>
          <p:nvPr/>
        </p:nvSpPr>
        <p:spPr bwMode="auto">
          <a:xfrm>
            <a:off x="6309360" y="3438144"/>
            <a:ext cx="320040" cy="841248"/>
          </a:xfrm>
          <a:prstGeom prst="rect">
            <a:avLst/>
          </a:prstGeom>
          <a:noFill/>
          <a:ln/>
        </p:spPr>
        <p:txBody>
          <a:bodyPr wrap="square" lIns="0" tIns="0" rIns="0" bIns="0" rtlCol="0" anchor="ctr"/>
          <a:lstStyle/>
          <a:p>
            <a:pPr marL="0" indent="0" algn="ctr">
              <a:buNone/>
              <a:defRPr/>
            </a:pPr>
            <a:r>
              <a:rPr lang="en-US" sz="1500" b="1">
                <a:solidFill>
                  <a:srgbClr val="34A853"/>
                </a:solidFill>
                <a:latin typeface="Calibri"/>
                <a:ea typeface="Calibri"/>
                <a:cs typeface="Calibri"/>
              </a:rPr>
              <a:t>→</a:t>
            </a:r>
            <a:endParaRPr lang="en-US" sz="1500"/>
          </a:p>
        </p:txBody>
      </p:sp>
      <p:sp>
        <p:nvSpPr>
          <p:cNvPr id="647798706" name="Text 19"/>
          <p:cNvSpPr txBox="1"/>
          <p:nvPr/>
        </p:nvSpPr>
        <p:spPr bwMode="auto">
          <a:xfrm>
            <a:off x="2880360" y="4407408"/>
            <a:ext cx="3429000"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Retos para aplicar y prepararse para concursos</a:t>
            </a:r>
            <a:endParaRPr lang="en-US" sz="1300"/>
          </a:p>
        </p:txBody>
      </p:sp>
      <p:sp>
        <p:nvSpPr>
          <p:cNvPr id="1983458061" name="Text 20"/>
          <p:cNvSpPr txBox="1"/>
          <p:nvPr/>
        </p:nvSpPr>
        <p:spPr bwMode="auto">
          <a:xfrm>
            <a:off x="6629400" y="4407408"/>
            <a:ext cx="5102352"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Ofrece práctica gradual de resolución de problemas; el reto complementa, no reemplaza, el currículo.</a:t>
            </a:r>
            <a:endParaRPr lang="en-US" sz="1300"/>
          </a:p>
        </p:txBody>
      </p:sp>
      <p:sp>
        <p:nvSpPr>
          <p:cNvPr id="450735071" name="Text 21"/>
          <p:cNvSpPr txBox="1"/>
          <p:nvPr/>
        </p:nvSpPr>
        <p:spPr bwMode="auto">
          <a:xfrm>
            <a:off x="6309360" y="4407408"/>
            <a:ext cx="320040" cy="841248"/>
          </a:xfrm>
          <a:prstGeom prst="rect">
            <a:avLst/>
          </a:prstGeom>
          <a:noFill/>
          <a:ln/>
        </p:spPr>
        <p:txBody>
          <a:bodyPr wrap="square" lIns="0" tIns="0" rIns="0" bIns="0" rtlCol="0" anchor="ctr"/>
          <a:lstStyle/>
          <a:p>
            <a:pPr marL="0" indent="0" algn="ctr">
              <a:buNone/>
              <a:defRPr/>
            </a:pPr>
            <a:r>
              <a:rPr lang="en-US" sz="1500" b="1">
                <a:solidFill>
                  <a:srgbClr val="34A853"/>
                </a:solidFill>
                <a:latin typeface="Calibri"/>
                <a:ea typeface="Calibri"/>
                <a:cs typeface="Calibri"/>
              </a:rPr>
              <a:t>→</a:t>
            </a:r>
            <a:endParaRPr lang="en-US" sz="1500"/>
          </a:p>
        </p:txBody>
      </p:sp>
      <p:sp>
        <p:nvSpPr>
          <p:cNvPr id="2081465888" name="Text 22"/>
          <p:cNvSpPr txBox="1"/>
          <p:nvPr/>
        </p:nvSpPr>
        <p:spPr bwMode="auto">
          <a:xfrm>
            <a:off x="2880360" y="5376672"/>
            <a:ext cx="3429000"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Seguimiento diario de aprendizaje y feedback</a:t>
            </a:r>
            <a:endParaRPr lang="en-US" sz="1300"/>
          </a:p>
        </p:txBody>
      </p:sp>
      <p:sp>
        <p:nvSpPr>
          <p:cNvPr id="1593840182" name="Text 23"/>
          <p:cNvSpPr txBox="1"/>
          <p:nvPr/>
        </p:nvSpPr>
        <p:spPr bwMode="auto">
          <a:xfrm>
            <a:off x="6629400" y="5376672"/>
            <a:ext cx="5102352"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Registra evidencias por estudiante/competencia, muestra progreso y ayuda a decidir el siguiente refuerzo.</a:t>
            </a:r>
            <a:endParaRPr lang="en-US" sz="1300"/>
          </a:p>
        </p:txBody>
      </p:sp>
      <p:sp>
        <p:nvSpPr>
          <p:cNvPr id="155782966" name="Text 24"/>
          <p:cNvSpPr txBox="1"/>
          <p:nvPr/>
        </p:nvSpPr>
        <p:spPr bwMode="auto">
          <a:xfrm>
            <a:off x="6309360" y="5376672"/>
            <a:ext cx="320040" cy="841248"/>
          </a:xfrm>
          <a:prstGeom prst="rect">
            <a:avLst/>
          </a:prstGeom>
          <a:noFill/>
          <a:ln/>
        </p:spPr>
        <p:txBody>
          <a:bodyPr wrap="square" lIns="0" tIns="0" rIns="0" bIns="0" rtlCol="0" anchor="ctr"/>
          <a:lstStyle/>
          <a:p>
            <a:pPr marL="0" indent="0" algn="ctr">
              <a:buNone/>
              <a:defRPr/>
            </a:pPr>
            <a:r>
              <a:rPr lang="en-US" sz="1500" b="1">
                <a:solidFill>
                  <a:srgbClr val="34A853"/>
                </a:solidFill>
                <a:latin typeface="Calibri"/>
                <a:ea typeface="Calibri"/>
                <a:cs typeface="Calibri"/>
              </a:rPr>
              <a:t>→</a:t>
            </a:r>
            <a:endParaRPr lang="en-US" sz="1500"/>
          </a:p>
        </p:txBody>
      </p:sp>
      <p:sp>
        <p:nvSpPr>
          <p:cNvPr id="2081163613" name="Text 25"/>
          <p:cNvSpPr txBox="1"/>
          <p:nvPr/>
        </p:nvSpPr>
        <p:spPr bwMode="auto">
          <a:xfrm>
            <a:off x="2880360" y="6345936"/>
            <a:ext cx="3429000"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Asistencia rápida e integración por validar con SIAGIE</a:t>
            </a:r>
            <a:endParaRPr lang="en-US" sz="1300"/>
          </a:p>
        </p:txBody>
      </p:sp>
      <p:sp>
        <p:nvSpPr>
          <p:cNvPr id="1252586315" name="Text 26"/>
          <p:cNvSpPr txBox="1"/>
          <p:nvPr/>
        </p:nvSpPr>
        <p:spPr bwMode="auto">
          <a:xfrm>
            <a:off x="6629400" y="6345936"/>
            <a:ext cx="5102352"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Evita marcar fila por fila si existe una vía oficial; deja registro sincronizado y avisa llegada/ausencia.</a:t>
            </a:r>
            <a:endParaRPr lang="en-US" sz="1300"/>
          </a:p>
        </p:txBody>
      </p:sp>
      <p:sp>
        <p:nvSpPr>
          <p:cNvPr id="653772437" name="Text 27"/>
          <p:cNvSpPr txBox="1"/>
          <p:nvPr/>
        </p:nvSpPr>
        <p:spPr bwMode="auto">
          <a:xfrm>
            <a:off x="6309360" y="6345936"/>
            <a:ext cx="320040" cy="841248"/>
          </a:xfrm>
          <a:prstGeom prst="rect">
            <a:avLst/>
          </a:prstGeom>
          <a:noFill/>
          <a:ln/>
        </p:spPr>
        <p:txBody>
          <a:bodyPr wrap="square" lIns="0" tIns="0" rIns="0" bIns="0" rtlCol="0" anchor="ctr"/>
          <a:lstStyle/>
          <a:p>
            <a:pPr marL="0" indent="0" algn="ctr">
              <a:buNone/>
              <a:defRPr/>
            </a:pPr>
            <a:r>
              <a:rPr lang="en-US" sz="1500" b="1">
                <a:solidFill>
                  <a:srgbClr val="34A853"/>
                </a:solidFill>
                <a:latin typeface="Calibri"/>
                <a:ea typeface="Calibri"/>
                <a:cs typeface="Calibri"/>
              </a:rPr>
              <a:t>→</a:t>
            </a:r>
            <a:endParaRPr lang="en-US" sz="1500"/>
          </a:p>
        </p:txBody>
      </p:sp>
      <p:sp>
        <p:nvSpPr>
          <p:cNvPr id="727843623" name="Text 28"/>
          <p:cNvSpPr txBox="1"/>
          <p:nvPr/>
        </p:nvSpPr>
        <p:spPr bwMode="auto">
          <a:xfrm>
            <a:off x="2880360" y="7315200"/>
            <a:ext cx="3429000"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Familia conectada de manera asincrónica</a:t>
            </a:r>
            <a:endParaRPr lang="en-US" sz="1300"/>
          </a:p>
        </p:txBody>
      </p:sp>
      <p:sp>
        <p:nvSpPr>
          <p:cNvPr id="142195248" name="Text 29"/>
          <p:cNvSpPr txBox="1"/>
          <p:nvPr/>
        </p:nvSpPr>
        <p:spPr bwMode="auto">
          <a:xfrm>
            <a:off x="6629400" y="7315200"/>
            <a:ext cx="5102352" cy="841248"/>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Ve progreso, notas y asistencia del hijo; envía justificación con evidencia y mensaje sin coincidir en horario.</a:t>
            </a:r>
            <a:endParaRPr lang="en-US" sz="1300"/>
          </a:p>
        </p:txBody>
      </p:sp>
      <p:sp>
        <p:nvSpPr>
          <p:cNvPr id="447985130" name="Text 30"/>
          <p:cNvSpPr txBox="1"/>
          <p:nvPr/>
        </p:nvSpPr>
        <p:spPr bwMode="auto">
          <a:xfrm>
            <a:off x="6309360" y="7315200"/>
            <a:ext cx="320040" cy="841248"/>
          </a:xfrm>
          <a:prstGeom prst="rect">
            <a:avLst/>
          </a:prstGeom>
          <a:noFill/>
          <a:ln/>
        </p:spPr>
        <p:txBody>
          <a:bodyPr wrap="square" lIns="0" tIns="0" rIns="0" bIns="0" rtlCol="0" anchor="ctr"/>
          <a:lstStyle/>
          <a:p>
            <a:pPr marL="0" indent="0" algn="ctr">
              <a:buNone/>
              <a:defRPr/>
            </a:pPr>
            <a:r>
              <a:rPr lang="en-US" sz="1500" b="1">
                <a:solidFill>
                  <a:srgbClr val="34A853"/>
                </a:solidFill>
                <a:latin typeface="Calibri"/>
                <a:ea typeface="Calibri"/>
                <a:cs typeface="Calibri"/>
              </a:rPr>
              <a:t>→</a:t>
            </a:r>
            <a:endParaRPr lang="en-US" sz="1500"/>
          </a:p>
        </p:txBody>
      </p:sp>
      <p:sp>
        <p:nvSpPr>
          <p:cNvPr id="876731707" name="Text 31"/>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5</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820800878" name="Shape 0"/>
          <p:cNvSpPr/>
          <p:nvPr/>
        </p:nvSpPr>
        <p:spPr bwMode="auto">
          <a:xfrm>
            <a:off x="0" y="0"/>
            <a:ext cx="2514600" cy="9144000"/>
          </a:xfrm>
          <a:prstGeom prst="rect">
            <a:avLst/>
          </a:prstGeom>
          <a:solidFill>
            <a:srgbClr val="34A853"/>
          </a:solidFill>
          <a:ln/>
        </p:spPr>
      </p:sp>
      <p:sp>
        <p:nvSpPr>
          <p:cNvPr id="1903742337"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1</a:t>
            </a:r>
            <a:endParaRPr lang="en-US" sz="1100"/>
          </a:p>
        </p:txBody>
      </p:sp>
      <p:sp>
        <p:nvSpPr>
          <p:cNvPr id="2136728540"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Idea</a:t>
            </a:r>
            <a:endParaRPr lang="en-US" sz="2600"/>
          </a:p>
        </p:txBody>
      </p:sp>
      <p:sp>
        <p:nvSpPr>
          <p:cNvPr id="1483901944"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8E6CF"/>
                </a:solidFill>
                <a:latin typeface="Calibri"/>
                <a:ea typeface="Calibri"/>
                <a:cs typeface="Calibri"/>
              </a:rPr>
              <a:t>Problema</a:t>
            </a:r>
            <a:endParaRPr lang="en-US" sz="1300"/>
          </a:p>
          <a:p>
            <a:pPr marL="0" indent="0">
              <a:spcAft>
                <a:spcPts val="800"/>
              </a:spcAft>
              <a:buNone/>
              <a:defRPr/>
            </a:pPr>
            <a:r>
              <a:rPr lang="en-US" sz="1300">
                <a:solidFill>
                  <a:srgbClr val="C8E6CF"/>
                </a:solidFill>
                <a:latin typeface="Calibri"/>
                <a:ea typeface="Calibri"/>
                <a:cs typeface="Calibri"/>
              </a:rPr>
              <a:t>Lluvia de ideas</a:t>
            </a:r>
            <a:endParaRPr lang="en-US" sz="1300"/>
          </a:p>
          <a:p>
            <a:pPr marL="0" indent="0">
              <a:spcAft>
                <a:spcPts val="800"/>
              </a:spcAft>
              <a:buNone/>
              <a:defRPr/>
            </a:pPr>
            <a:r>
              <a:rPr lang="en-US" sz="1300" b="1">
                <a:solidFill>
                  <a:srgbClr val="FFFFFF"/>
                </a:solidFill>
                <a:latin typeface="Calibri"/>
                <a:ea typeface="Calibri"/>
                <a:cs typeface="Calibri"/>
              </a:rPr>
              <a:t>Mi idea</a:t>
            </a:r>
            <a:endParaRPr lang="en-US" sz="1300"/>
          </a:p>
        </p:txBody>
      </p:sp>
      <p:sp>
        <p:nvSpPr>
          <p:cNvPr id="1625234722" name="Shape 4"/>
          <p:cNvSpPr/>
          <p:nvPr/>
        </p:nvSpPr>
        <p:spPr bwMode="auto">
          <a:xfrm>
            <a:off x="320040" y="7269480"/>
            <a:ext cx="1005840" cy="0"/>
          </a:xfrm>
          <a:prstGeom prst="line">
            <a:avLst/>
          </a:prstGeom>
          <a:noFill/>
          <a:ln w="19050">
            <a:solidFill>
              <a:srgbClr val="FFFFFF"/>
            </a:solidFill>
            <a:prstDash val="solid"/>
          </a:ln>
        </p:spPr>
      </p:sp>
      <p:sp>
        <p:nvSpPr>
          <p:cNvPr id="1425868677"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IR MÁS ALLÁ</a:t>
            </a:r>
            <a:endParaRPr lang="en-US" sz="1000"/>
          </a:p>
        </p:txBody>
      </p:sp>
      <p:sp>
        <p:nvSpPr>
          <p:cNvPr id="235568612"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Busca en Play Store apps parecidas. Mira sus reseñas de 1 y 2 estrellas: ahí están las oportunidades.</a:t>
            </a:r>
            <a:endParaRPr lang="en-US" sz="1100"/>
          </a:p>
        </p:txBody>
      </p:sp>
      <p:sp>
        <p:nvSpPr>
          <p:cNvPr id="1292817322"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Mi idea de app</a:t>
            </a:r>
            <a:endParaRPr lang="en-US" sz="2500"/>
          </a:p>
        </p:txBody>
      </p:sp>
      <p:sp>
        <p:nvSpPr>
          <p:cNvPr id="316022812" name="Text 8"/>
          <p:cNvSpPr txBox="1"/>
          <p:nvPr/>
        </p:nvSpPr>
        <p:spPr bwMode="auto">
          <a:xfrm>
            <a:off x="2880360" y="1051560"/>
            <a:ext cx="8851392" cy="36576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De tu lista, elige la idea que vas a llevar al prototipo y escríbela usando esta plantilla.</a:t>
            </a:r>
            <a:endParaRPr lang="en-US" sz="1400"/>
          </a:p>
        </p:txBody>
      </p:sp>
      <p:sp>
        <p:nvSpPr>
          <p:cNvPr id="896065095" name="Shape 9"/>
          <p:cNvSpPr/>
          <p:nvPr/>
        </p:nvSpPr>
        <p:spPr bwMode="auto">
          <a:xfrm>
            <a:off x="2880360" y="1554480"/>
            <a:ext cx="8851392" cy="685800"/>
          </a:xfrm>
          <a:prstGeom prst="rect">
            <a:avLst/>
          </a:prstGeom>
          <a:solidFill>
            <a:srgbClr val="EAF6EC"/>
          </a:solidFill>
          <a:ln/>
        </p:spPr>
      </p:sp>
      <p:sp>
        <p:nvSpPr>
          <p:cNvPr id="1593749981" name="Text 10"/>
          <p:cNvSpPr txBox="1"/>
          <p:nvPr/>
        </p:nvSpPr>
        <p:spPr bwMode="auto">
          <a:xfrm>
            <a:off x="3108960" y="1554480"/>
            <a:ext cx="8394192" cy="685800"/>
          </a:xfrm>
          <a:prstGeom prst="rect">
            <a:avLst/>
          </a:prstGeom>
          <a:noFill/>
          <a:ln/>
        </p:spPr>
        <p:txBody>
          <a:bodyPr wrap="square" lIns="0" tIns="0" rIns="0" bIns="0" rtlCol="0" anchor="ctr"/>
          <a:lstStyle/>
          <a:p>
            <a:pPr marL="0" indent="0" algn="l">
              <a:buNone/>
              <a:defRPr/>
            </a:pPr>
            <a:r>
              <a:rPr sz="1000" b="0">
                <a:solidFill>
                  <a:srgbClr val="303A42"/>
                </a:solidFill>
                <a:latin typeface="Calibri"/>
              </a:rPr>
              <a:t>Mi app ayudará a docentes peruanos a detectar brechas, nivelar y sostener aprendizajes, mediante refuerzos y repasos por competencia, seguimiento móvil/web y herramientas rápidas de asistencia. Apoderados autorizados verán progreso y llegada, y enviarán justificaciones asincrónicas; la sincronización con SIAGIE está por validar.</a:t>
            </a:r>
            <a:endParaRPr lang="en-US" sz="1700"/>
          </a:p>
        </p:txBody>
      </p:sp>
      <p:sp>
        <p:nvSpPr>
          <p:cNvPr id="244347976" name="Text 11"/>
          <p:cNvSpPr txBox="1"/>
          <p:nvPr/>
        </p:nvSpPr>
        <p:spPr bwMode="auto">
          <a:xfrm>
            <a:off x="2880360" y="2423160"/>
            <a:ext cx="8851392" cy="137160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100" b="0">
                <a:solidFill>
                  <a:srgbClr val="303A42"/>
                </a:solidFill>
                <a:latin typeface="Calibri"/>
              </a:rPr>
              <a:t>1) Detectar por competencia quién necesita nivelación respecto al desempeño esperado del grado.</a:t>
            </a:r>
            <a:endParaRPr lang="en-US" sz="1300"/>
          </a:p>
          <a:p>
            <a:pPr algn="l">
              <a:defRPr/>
            </a:pPr>
            <a:r>
              <a:rPr sz="1100" b="0">
                <a:solidFill>
                  <a:srgbClr val="303A42"/>
                </a:solidFill>
                <a:latin typeface="Calibri"/>
              </a:rPr>
              <a:t>2) Proponer refuerzo y práctica espaciada; revisar progreso y preparar retos para concursos.</a:t>
            </a:r>
            <a:endParaRPr/>
          </a:p>
          <a:p>
            <a:pPr algn="l">
              <a:defRPr/>
            </a:pPr>
            <a:r>
              <a:rPr sz="1100" b="0">
                <a:solidFill>
                  <a:srgbClr val="303A42"/>
                </a:solidFill>
                <a:latin typeface="Calibri"/>
              </a:rPr>
              <a:t>3) Dar a familias autorizadas progreso/asistencia diarios y un canal asincrónico de justificación.</a:t>
            </a:r>
            <a:endParaRPr/>
          </a:p>
        </p:txBody>
      </p:sp>
      <p:sp>
        <p:nvSpPr>
          <p:cNvPr id="2057439759" name="Text 12"/>
          <p:cNvSpPr txBox="1"/>
          <p:nvPr/>
        </p:nvSpPr>
        <p:spPr bwMode="auto">
          <a:xfrm>
            <a:off x="2880360" y="3977640"/>
            <a:ext cx="8851392" cy="274320"/>
          </a:xfrm>
          <a:prstGeom prst="rect">
            <a:avLst/>
          </a:prstGeom>
          <a:noFill/>
          <a:ln/>
        </p:spPr>
        <p:txBody>
          <a:bodyPr wrap="square" lIns="0" tIns="0" rIns="0" bIns="0" rtlCol="0" anchor="ctr"/>
          <a:lstStyle/>
          <a:p>
            <a:pPr marL="0" indent="0">
              <a:buNone/>
              <a:defRPr/>
            </a:pPr>
            <a:r>
              <a:rPr lang="en-US" sz="1350" b="1">
                <a:solidFill>
                  <a:srgbClr val="202124"/>
                </a:solidFill>
                <a:latin typeface="Calibri"/>
                <a:ea typeface="Calibri"/>
                <a:cs typeface="Calibri"/>
              </a:rPr>
              <a:t>Sé más específico: ¿qué podrá hacer una persona con tu app que hoy no puede? Escribe dos o tres metas.</a:t>
            </a:r>
            <a:endParaRPr lang="en-US" sz="1350"/>
          </a:p>
        </p:txBody>
      </p:sp>
      <p:sp>
        <p:nvSpPr>
          <p:cNvPr id="27954089" name="Text 13"/>
          <p:cNvSpPr txBox="1"/>
          <p:nvPr/>
        </p:nvSpPr>
        <p:spPr bwMode="auto">
          <a:xfrm>
            <a:off x="2880360" y="4343400"/>
            <a:ext cx="8851392" cy="1508759"/>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100" b="0">
                <a:solidFill>
                  <a:srgbClr val="303A42"/>
                </a:solidFill>
                <a:latin typeface="Calibri"/>
              </a:rPr>
              <a:t>La calidad significa que un alumno alcance lo esperado para su grado, conserve lo aprendido y pueda aplicarlo en tareas nuevas; si tiene brechas, recibe apoyo oportuno y no una etiqueta. El docente interpreta evidencias y decide el refuerzo. La familia acompaña con información clara, asistencia/llegada y comunicación asincrónica; la app reduce digitación repetida.</a:t>
            </a:r>
            <a:endParaRPr lang="en-US" sz="1300"/>
          </a:p>
        </p:txBody>
      </p:sp>
      <p:sp>
        <p:nvSpPr>
          <p:cNvPr id="651215615" name="Text 14"/>
          <p:cNvSpPr txBox="1"/>
          <p:nvPr/>
        </p:nvSpPr>
        <p:spPr bwMode="auto">
          <a:xfrm>
            <a:off x="2880360" y="6126480"/>
            <a:ext cx="4206240" cy="237744"/>
          </a:xfrm>
          <a:prstGeom prst="rect">
            <a:avLst/>
          </a:prstGeom>
          <a:noFill/>
          <a:ln/>
        </p:spPr>
        <p:txBody>
          <a:bodyPr wrap="square" lIns="0" tIns="0" rIns="0" bIns="0" rtlCol="0" anchor="t"/>
          <a:lstStyle/>
          <a:p>
            <a:pPr marL="0" indent="0">
              <a:buNone/>
              <a:defRPr/>
            </a:pPr>
            <a:r>
              <a:rPr lang="en-US" sz="1100" b="1">
                <a:solidFill>
                  <a:srgbClr val="34A853"/>
                </a:solidFill>
                <a:latin typeface="Arial"/>
                <a:ea typeface="Arial"/>
                <a:cs typeface="Arial"/>
              </a:rPr>
              <a:t>Nombre provisional</a:t>
            </a:r>
            <a:endParaRPr lang="en-US" sz="1100"/>
          </a:p>
        </p:txBody>
      </p:sp>
      <p:sp>
        <p:nvSpPr>
          <p:cNvPr id="1265564322" name="Text 15"/>
          <p:cNvSpPr txBox="1"/>
          <p:nvPr/>
        </p:nvSpPr>
        <p:spPr bwMode="auto">
          <a:xfrm>
            <a:off x="2880360" y="6400800"/>
            <a:ext cx="4206240" cy="54864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200" b="1">
                <a:solidFill>
                  <a:srgbClr val="303A42"/>
                </a:solidFill>
                <a:latin typeface="Calibri"/>
              </a:rPr>
              <a:t>EduFast (nombre provisional)</a:t>
            </a:r>
            <a:endParaRPr lang="en-US" sz="1300"/>
          </a:p>
        </p:txBody>
      </p:sp>
      <p:sp>
        <p:nvSpPr>
          <p:cNvPr id="864450807" name="Text 16"/>
          <p:cNvSpPr txBox="1"/>
          <p:nvPr/>
        </p:nvSpPr>
        <p:spPr bwMode="auto">
          <a:xfrm>
            <a:off x="7525512" y="6126480"/>
            <a:ext cx="4206240" cy="237744"/>
          </a:xfrm>
          <a:prstGeom prst="rect">
            <a:avLst/>
          </a:prstGeom>
          <a:noFill/>
          <a:ln/>
        </p:spPr>
        <p:txBody>
          <a:bodyPr wrap="square" lIns="0" tIns="0" rIns="0" bIns="0" rtlCol="0" anchor="t"/>
          <a:lstStyle/>
          <a:p>
            <a:pPr marL="0" indent="0">
              <a:buNone/>
              <a:defRPr/>
            </a:pPr>
            <a:r>
              <a:rPr lang="en-US" sz="1100" b="1">
                <a:solidFill>
                  <a:srgbClr val="34A853"/>
                </a:solidFill>
                <a:latin typeface="Arial"/>
                <a:ea typeface="Arial"/>
                <a:cs typeface="Arial"/>
              </a:rPr>
              <a:t>¿Por qué esta idea y no otra?</a:t>
            </a:r>
            <a:endParaRPr lang="en-US" sz="1100"/>
          </a:p>
        </p:txBody>
      </p:sp>
      <p:sp>
        <p:nvSpPr>
          <p:cNvPr id="43247626" name="Text 17"/>
          <p:cNvSpPr txBox="1"/>
          <p:nvPr/>
        </p:nvSpPr>
        <p:spPr bwMode="auto">
          <a:xfrm>
            <a:off x="7525512" y="6400800"/>
            <a:ext cx="4206240" cy="54864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900" b="0">
                <a:solidFill>
                  <a:srgbClr val="303A42"/>
                </a:solidFill>
                <a:latin typeface="Calibri"/>
              </a:rPr>
              <a:t>Responde a la nivelación, retención y seguimiento del aprendizaje, junto con las horas de planificación y conclusiones reportadas por docentes. Conecta apoyo pedagógico, asistencia y familia; prioriza oportunidades de aprender, no solo llenar formatos.</a:t>
            </a:r>
            <a:endParaRPr lang="en-US" sz="1300"/>
          </a:p>
        </p:txBody>
      </p:sp>
      <p:sp>
        <p:nvSpPr>
          <p:cNvPr id="1828004633" name="Text 18"/>
          <p:cNvSpPr txBox="1"/>
          <p:nvPr/>
        </p:nvSpPr>
        <p:spPr bwMode="auto">
          <a:xfrm>
            <a:off x="2880360" y="7178039"/>
            <a:ext cx="8851392" cy="237744"/>
          </a:xfrm>
          <a:prstGeom prst="rect">
            <a:avLst/>
          </a:prstGeom>
          <a:noFill/>
          <a:ln/>
        </p:spPr>
        <p:txBody>
          <a:bodyPr wrap="square" lIns="0" tIns="0" rIns="0" bIns="0" rtlCol="0" anchor="t"/>
          <a:lstStyle/>
          <a:p>
            <a:pPr marL="0" indent="0">
              <a:buNone/>
              <a:defRPr/>
            </a:pPr>
            <a:r>
              <a:rPr lang="en-US" sz="1100" b="1">
                <a:solidFill>
                  <a:srgbClr val="34A853"/>
                </a:solidFill>
                <a:latin typeface="Arial"/>
                <a:ea typeface="Arial"/>
                <a:cs typeface="Arial"/>
              </a:rPr>
              <a:t>Apps parecidas que ya existen y qué haría distinto la mía</a:t>
            </a:r>
            <a:endParaRPr lang="en-US" sz="1100"/>
          </a:p>
        </p:txBody>
      </p:sp>
      <p:sp>
        <p:nvSpPr>
          <p:cNvPr id="1406167696" name="Text 19"/>
          <p:cNvSpPr txBox="1"/>
          <p:nvPr/>
        </p:nvSpPr>
        <p:spPr bwMode="auto">
          <a:xfrm>
            <a:off x="2880360" y="7452360"/>
            <a:ext cx="8851392" cy="1051560"/>
          </a:xfrm>
          <a:prstGeom prst="rect">
            <a:avLst/>
          </a:prstGeom>
          <a:solidFill>
            <a:srgbClr val="EAF6EC"/>
          </a:solidFill>
          <a:ln w="12700">
            <a:solidFill>
              <a:srgbClr val="A8DAB5"/>
            </a:solidFill>
          </a:ln>
        </p:spPr>
        <p:txBody>
          <a:bodyPr wrap="square" lIns="114300" tIns="114300" rIns="114300" bIns="114300" rtlCol="0" anchor="t"/>
          <a:lstStyle/>
          <a:p>
            <a:pPr marL="0" indent="0" algn="l">
              <a:buNone/>
              <a:defRPr/>
            </a:pPr>
            <a:r>
              <a:rPr sz="1000" b="0">
                <a:solidFill>
                  <a:srgbClr val="303A42"/>
                </a:solidFill>
                <a:latin typeface="Calibri"/>
              </a:rPr>
              <a:t>SIAGIE: registro oficial; el docente reporta marcar casillas una por una. Una extensión mostrada por un profesor automatiza ese paso, pero no se ha validado su seguridad, permiso ni compatibilidad. PerúEduca/plantillas aportan recursos; Excel/cuaderno duplican registros. EduFast uniría diagnóstico → refuerzo/repaso → evidencias/progreso y familia, más asistencia rápida. SIAGIE solo se integrará mediante vía autorizada por confirmar; mientras tanto se debe investigar alternativas oficiales de intercambio.</a:t>
            </a:r>
            <a:endParaRPr lang="en-US" sz="1300"/>
          </a:p>
        </p:txBody>
      </p:sp>
      <p:sp>
        <p:nvSpPr>
          <p:cNvPr id="147214284" name="Text 20"/>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6</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1331209906" name="Shape 0"/>
          <p:cNvSpPr/>
          <p:nvPr/>
        </p:nvSpPr>
        <p:spPr bwMode="auto">
          <a:xfrm>
            <a:off x="0" y="0"/>
            <a:ext cx="2514600" cy="9144000"/>
          </a:xfrm>
          <a:prstGeom prst="rect">
            <a:avLst/>
          </a:prstGeom>
          <a:solidFill>
            <a:srgbClr val="1967D2"/>
          </a:solidFill>
          <a:ln/>
        </p:spPr>
      </p:sp>
      <p:sp>
        <p:nvSpPr>
          <p:cNvPr id="1111495989"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2</a:t>
            </a:r>
            <a:endParaRPr lang="en-US" sz="1100"/>
          </a:p>
        </p:txBody>
      </p:sp>
      <p:sp>
        <p:nvSpPr>
          <p:cNvPr id="599060024"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Planifica</a:t>
            </a:r>
            <a:endParaRPr lang="en-US" sz="2600"/>
          </a:p>
        </p:txBody>
      </p:sp>
      <p:sp>
        <p:nvSpPr>
          <p:cNvPr id="1320530875"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BDDFA"/>
                </a:solidFill>
                <a:latin typeface="Calibri"/>
                <a:ea typeface="Calibri"/>
                <a:cs typeface="Calibri"/>
              </a:rPr>
              <a:t>Acciones del usuario</a:t>
            </a:r>
            <a:endParaRPr lang="en-US" sz="1300"/>
          </a:p>
          <a:p>
            <a:pPr marL="0" indent="0">
              <a:spcAft>
                <a:spcPts val="800"/>
              </a:spcAft>
              <a:buNone/>
              <a:defRPr/>
            </a:pPr>
            <a:r>
              <a:rPr lang="en-US" sz="1300">
                <a:solidFill>
                  <a:srgbClr val="CBDDFA"/>
                </a:solidFill>
                <a:latin typeface="Calibri"/>
                <a:ea typeface="Calibri"/>
                <a:cs typeface="Calibri"/>
              </a:rPr>
              <a:t>Entradas y estado</a:t>
            </a:r>
            <a:endParaRPr lang="en-US" sz="1300"/>
          </a:p>
          <a:p>
            <a:pPr marL="0" indent="0">
              <a:spcAft>
                <a:spcPts val="800"/>
              </a:spcAft>
              <a:buNone/>
              <a:defRPr/>
            </a:pPr>
            <a:r>
              <a:rPr lang="en-US" sz="1300">
                <a:solidFill>
                  <a:srgbClr val="CBDDFA"/>
                </a:solidFill>
                <a:latin typeface="Calibri"/>
                <a:ea typeface="Calibri"/>
                <a:cs typeface="Calibri"/>
              </a:rPr>
              <a:t>Funciones del equipo</a:t>
            </a:r>
            <a:endParaRPr lang="en-US" sz="1300"/>
          </a:p>
          <a:p>
            <a:pPr marL="0" indent="0">
              <a:spcAft>
                <a:spcPts val="800"/>
              </a:spcAft>
              <a:buNone/>
              <a:defRPr/>
            </a:pPr>
            <a:r>
              <a:rPr lang="en-US" sz="1300">
                <a:solidFill>
                  <a:srgbClr val="CBDDFA"/>
                </a:solidFill>
                <a:latin typeface="Calibri"/>
                <a:ea typeface="Calibri"/>
                <a:cs typeface="Calibri"/>
              </a:rPr>
              <a:t>Diseño inclusivo</a:t>
            </a:r>
            <a:endParaRPr lang="en-US" sz="1300"/>
          </a:p>
        </p:txBody>
      </p:sp>
      <p:sp>
        <p:nvSpPr>
          <p:cNvPr id="549244823" name="Shape 4"/>
          <p:cNvSpPr/>
          <p:nvPr/>
        </p:nvSpPr>
        <p:spPr bwMode="auto">
          <a:xfrm>
            <a:off x="7223760" y="2377440"/>
            <a:ext cx="4480560" cy="4389120"/>
          </a:xfrm>
          <a:prstGeom prst="roundRect">
            <a:avLst>
              <a:gd name="adj" fmla="val 1667"/>
            </a:avLst>
          </a:prstGeom>
          <a:solidFill>
            <a:srgbClr val="EAF1FD"/>
          </a:solidFill>
          <a:ln/>
        </p:spPr>
      </p:sp>
      <p:sp>
        <p:nvSpPr>
          <p:cNvPr id="1557833535" name="Text 5"/>
          <p:cNvSpPr txBox="1"/>
          <p:nvPr/>
        </p:nvSpPr>
        <p:spPr bwMode="auto">
          <a:xfrm>
            <a:off x="7223760" y="2560320"/>
            <a:ext cx="4480560" cy="4023360"/>
          </a:xfrm>
          <a:prstGeom prst="rect">
            <a:avLst/>
          </a:prstGeom>
          <a:noFill/>
          <a:ln/>
        </p:spPr>
        <p:txBody>
          <a:bodyPr wrap="square" lIns="0" tIns="0" rIns="0" bIns="0" rtlCol="0" anchor="ctr"/>
          <a:lstStyle/>
          <a:p>
            <a:pPr marL="0" indent="0" algn="ctr">
              <a:buNone/>
              <a:defRPr/>
            </a:pPr>
            <a:r>
              <a:rPr lang="en-US" sz="20000" b="1">
                <a:solidFill>
                  <a:srgbClr val="AECBFA"/>
                </a:solidFill>
                <a:latin typeface="Arial"/>
                <a:ea typeface="Arial"/>
                <a:cs typeface="Arial"/>
              </a:rPr>
              <a:t>2</a:t>
            </a:r>
            <a:endParaRPr lang="en-US" sz="20000"/>
          </a:p>
        </p:txBody>
      </p:sp>
      <p:sp>
        <p:nvSpPr>
          <p:cNvPr id="673850053" name="Text 6"/>
          <p:cNvSpPr txBox="1"/>
          <p:nvPr/>
        </p:nvSpPr>
        <p:spPr bwMode="auto">
          <a:xfrm>
            <a:off x="2880360" y="237744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Fase 2 · Planifica</a:t>
            </a:r>
            <a:endParaRPr lang="en-US" sz="2500"/>
          </a:p>
        </p:txBody>
      </p:sp>
      <p:sp>
        <p:nvSpPr>
          <p:cNvPr id="777012915" name="Text 7"/>
          <p:cNvSpPr txBox="1"/>
          <p:nvPr/>
        </p:nvSpPr>
        <p:spPr bwMode="auto">
          <a:xfrm>
            <a:off x="2880360" y="3063240"/>
            <a:ext cx="4023360" cy="1828800"/>
          </a:xfrm>
          <a:prstGeom prst="rect">
            <a:avLst/>
          </a:prstGeom>
          <a:noFill/>
          <a:ln/>
        </p:spPr>
        <p:txBody>
          <a:bodyPr wrap="square" lIns="0" tIns="0" rIns="0" bIns="0" rtlCol="0" anchor="t"/>
          <a:lstStyle/>
          <a:p>
            <a:pPr marL="0" indent="0">
              <a:lnSpc>
                <a:spcPct val="114999"/>
              </a:lnSpc>
              <a:buNone/>
              <a:defRPr/>
            </a:pPr>
            <a:r>
              <a:rPr lang="en-US" sz="1500">
                <a:solidFill>
                  <a:srgbClr val="5F6368"/>
                </a:solidFill>
                <a:latin typeface="Calibri"/>
                <a:ea typeface="Calibri"/>
                <a:cs typeface="Calibri"/>
              </a:rPr>
              <a:t>Aquí decides qué hará tu app y cómo. Vas a listar lo que la persona puede hacer, lo que la app responde, las funciones del dispositivo que necesitas y cómo la haces usable para todos.</a:t>
            </a:r>
            <a:endParaRPr lang="en-US" sz="1500"/>
          </a:p>
        </p:txBody>
      </p:sp>
      <p:sp>
        <p:nvSpPr>
          <p:cNvPr id="1297583724" name="Text 8"/>
          <p:cNvSpPr txBox="1"/>
          <p:nvPr/>
        </p:nvSpPr>
        <p:spPr bwMode="auto">
          <a:xfrm>
            <a:off x="2880360" y="5120640"/>
            <a:ext cx="4023360" cy="228600"/>
          </a:xfrm>
          <a:prstGeom prst="rect">
            <a:avLst/>
          </a:prstGeom>
          <a:noFill/>
          <a:ln/>
        </p:spPr>
        <p:txBody>
          <a:bodyPr wrap="square" lIns="0" tIns="0" rIns="0" bIns="0" rtlCol="0" anchor="ctr"/>
          <a:lstStyle/>
          <a:p>
            <a:pPr marL="0" indent="0">
              <a:buNone/>
              <a:defRPr/>
            </a:pPr>
            <a:r>
              <a:rPr lang="en-US" sz="1000" b="1" spc="150">
                <a:solidFill>
                  <a:srgbClr val="1967D2"/>
                </a:solidFill>
                <a:latin typeface="Arial"/>
                <a:ea typeface="Arial"/>
                <a:cs typeface="Arial"/>
              </a:rPr>
              <a:t>AL TERMINAR TENDRÁS</a:t>
            </a:r>
            <a:endParaRPr lang="en-US" sz="1000"/>
          </a:p>
        </p:txBody>
      </p:sp>
      <p:sp>
        <p:nvSpPr>
          <p:cNvPr id="46037253" name="Text 9"/>
          <p:cNvSpPr txBox="1"/>
          <p:nvPr/>
        </p:nvSpPr>
        <p:spPr bwMode="auto">
          <a:xfrm>
            <a:off x="2880360" y="5440680"/>
            <a:ext cx="4023360" cy="1645920"/>
          </a:xfrm>
          <a:prstGeom prst="rect">
            <a:avLst/>
          </a:prstGeom>
          <a:noFill/>
          <a:ln/>
        </p:spPr>
        <p:txBody>
          <a:bodyPr wrap="square" lIns="0" tIns="0" rIns="0" bIns="0" rtlCol="0" anchor="t"/>
          <a:lstStyle/>
          <a:p>
            <a:pPr marL="342900" indent="-342900">
              <a:spcAft>
                <a:spcPts val="800"/>
              </a:spcAft>
              <a:buSzPct val="100000"/>
              <a:buChar char="•"/>
              <a:defRPr/>
            </a:pPr>
            <a:r>
              <a:rPr lang="en-US" sz="1350">
                <a:solidFill>
                  <a:srgbClr val="202124"/>
                </a:solidFill>
                <a:latin typeface="Calibri"/>
                <a:ea typeface="Calibri"/>
                <a:cs typeface="Calibri"/>
              </a:rPr>
              <a:t>La lista de acciones del usuario</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Las entradas y los cambios de estado</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Las funciones y permisos que usarás</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Tus decisiones de accesibilidad</a:t>
            </a:r>
            <a:endParaRPr lang="en-US" sz="1350"/>
          </a:p>
        </p:txBody>
      </p:sp>
      <p:sp>
        <p:nvSpPr>
          <p:cNvPr id="2117860061" name="Text 10"/>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7</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1807307370" name="Shape 0"/>
          <p:cNvSpPr/>
          <p:nvPr/>
        </p:nvSpPr>
        <p:spPr bwMode="auto">
          <a:xfrm>
            <a:off x="0" y="0"/>
            <a:ext cx="2514600" cy="9144000"/>
          </a:xfrm>
          <a:prstGeom prst="rect">
            <a:avLst/>
          </a:prstGeom>
          <a:solidFill>
            <a:srgbClr val="1967D2"/>
          </a:solidFill>
          <a:ln/>
        </p:spPr>
      </p:sp>
      <p:sp>
        <p:nvSpPr>
          <p:cNvPr id="478426819"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2</a:t>
            </a:r>
            <a:endParaRPr lang="en-US" sz="1100"/>
          </a:p>
        </p:txBody>
      </p:sp>
      <p:sp>
        <p:nvSpPr>
          <p:cNvPr id="990102281"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Planifica</a:t>
            </a:r>
            <a:endParaRPr lang="en-US" sz="2600"/>
          </a:p>
        </p:txBody>
      </p:sp>
      <p:sp>
        <p:nvSpPr>
          <p:cNvPr id="981260552"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b="1">
                <a:solidFill>
                  <a:srgbClr val="FFFFFF"/>
                </a:solidFill>
                <a:latin typeface="Calibri"/>
                <a:ea typeface="Calibri"/>
                <a:cs typeface="Calibri"/>
              </a:rPr>
              <a:t>Acciones del usuario</a:t>
            </a:r>
            <a:endParaRPr lang="en-US" sz="1300"/>
          </a:p>
          <a:p>
            <a:pPr marL="0" indent="0">
              <a:spcAft>
                <a:spcPts val="800"/>
              </a:spcAft>
              <a:buNone/>
              <a:defRPr/>
            </a:pPr>
            <a:r>
              <a:rPr lang="en-US" sz="1300">
                <a:solidFill>
                  <a:srgbClr val="CBDDFA"/>
                </a:solidFill>
                <a:latin typeface="Calibri"/>
                <a:ea typeface="Calibri"/>
                <a:cs typeface="Calibri"/>
              </a:rPr>
              <a:t>Entradas y estado</a:t>
            </a:r>
            <a:endParaRPr lang="en-US" sz="1300"/>
          </a:p>
          <a:p>
            <a:pPr marL="0" indent="0">
              <a:spcAft>
                <a:spcPts val="800"/>
              </a:spcAft>
              <a:buNone/>
              <a:defRPr/>
            </a:pPr>
            <a:r>
              <a:rPr lang="en-US" sz="1300">
                <a:solidFill>
                  <a:srgbClr val="CBDDFA"/>
                </a:solidFill>
                <a:latin typeface="Calibri"/>
                <a:ea typeface="Calibri"/>
                <a:cs typeface="Calibri"/>
              </a:rPr>
              <a:t>Funciones del equipo</a:t>
            </a:r>
            <a:endParaRPr lang="en-US" sz="1300"/>
          </a:p>
          <a:p>
            <a:pPr marL="0" indent="0">
              <a:spcAft>
                <a:spcPts val="800"/>
              </a:spcAft>
              <a:buNone/>
              <a:defRPr/>
            </a:pPr>
            <a:r>
              <a:rPr lang="en-US" sz="1300">
                <a:solidFill>
                  <a:srgbClr val="CBDDFA"/>
                </a:solidFill>
                <a:latin typeface="Calibri"/>
                <a:ea typeface="Calibri"/>
                <a:cs typeface="Calibri"/>
              </a:rPr>
              <a:t>Diseño inclusivo</a:t>
            </a:r>
            <a:endParaRPr lang="en-US" sz="1300"/>
          </a:p>
        </p:txBody>
      </p:sp>
      <p:sp>
        <p:nvSpPr>
          <p:cNvPr id="2065737289" name="Shape 4"/>
          <p:cNvSpPr/>
          <p:nvPr/>
        </p:nvSpPr>
        <p:spPr bwMode="auto">
          <a:xfrm>
            <a:off x="320040" y="7269480"/>
            <a:ext cx="1005840" cy="0"/>
          </a:xfrm>
          <a:prstGeom prst="line">
            <a:avLst/>
          </a:prstGeom>
          <a:noFill/>
          <a:ln w="19050">
            <a:solidFill>
              <a:srgbClr val="FFFFFF"/>
            </a:solidFill>
            <a:prstDash val="solid"/>
          </a:ln>
        </p:spPr>
      </p:sp>
      <p:sp>
        <p:nvSpPr>
          <p:cNvPr id="1976710151"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TIP</a:t>
            </a:r>
            <a:endParaRPr lang="en-US" sz="1000"/>
          </a:p>
        </p:txBody>
      </p:sp>
      <p:sp>
        <p:nvSpPr>
          <p:cNvPr id="62938975"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Si una caja necesita un "y" para explicarse, probablemente son dos acciones distintas. Sepáralas.</a:t>
            </a:r>
            <a:endParaRPr lang="en-US" sz="1100"/>
          </a:p>
        </p:txBody>
      </p:sp>
      <p:sp>
        <p:nvSpPr>
          <p:cNvPr id="1377430976"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Las acciones del usuario en mi app</a:t>
            </a:r>
            <a:endParaRPr lang="en-US" sz="2500"/>
          </a:p>
        </p:txBody>
      </p:sp>
      <p:sp>
        <p:nvSpPr>
          <p:cNvPr id="814250945" name="Text 8"/>
          <p:cNvSpPr txBox="1"/>
          <p:nvPr/>
        </p:nvSpPr>
        <p:spPr bwMode="auto">
          <a:xfrm>
            <a:off x="2880360" y="1051560"/>
            <a:ext cx="8851392" cy="6858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Anota todo lo que una persona podrá hacer dentro de tu app: una acción por caja, empezando con un verbo (registrar, buscar, escanear, filtrar, compartir, marcar como favorito). Luego marca con una estrella la acción principal, la que justifica que tu app exista.</a:t>
            </a:r>
            <a:endParaRPr lang="en-US" sz="1400"/>
          </a:p>
        </p:txBody>
      </p:sp>
      <p:sp>
        <p:nvSpPr>
          <p:cNvPr id="1571007786" name="Text 9"/>
          <p:cNvSpPr txBox="1"/>
          <p:nvPr/>
        </p:nvSpPr>
        <p:spPr bwMode="auto">
          <a:xfrm>
            <a:off x="2880360" y="201168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Docente: elegir sección y estudiante</a:t>
            </a:r>
            <a:endParaRPr lang="en-US" sz="1300"/>
          </a:p>
        </p:txBody>
      </p:sp>
      <p:sp>
        <p:nvSpPr>
          <p:cNvPr id="1746169208" name="Text 10"/>
          <p:cNvSpPr txBox="1"/>
          <p:nvPr/>
        </p:nvSpPr>
        <p:spPr bwMode="auto">
          <a:xfrm>
            <a:off x="5349240" y="294436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1</a:t>
            </a:r>
            <a:endParaRPr lang="en-US" sz="1000"/>
          </a:p>
        </p:txBody>
      </p:sp>
      <p:sp>
        <p:nvSpPr>
          <p:cNvPr id="1275856891" name="Text 11"/>
          <p:cNvSpPr txBox="1"/>
          <p:nvPr/>
        </p:nvSpPr>
        <p:spPr bwMode="auto">
          <a:xfrm>
            <a:off x="5897880" y="201168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Revisar evidencias y brecha por competencia</a:t>
            </a:r>
            <a:endParaRPr lang="en-US" sz="1300"/>
          </a:p>
        </p:txBody>
      </p:sp>
      <p:sp>
        <p:nvSpPr>
          <p:cNvPr id="132189799" name="Text 12"/>
          <p:cNvSpPr txBox="1"/>
          <p:nvPr/>
        </p:nvSpPr>
        <p:spPr bwMode="auto">
          <a:xfrm>
            <a:off x="8366760" y="294436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2</a:t>
            </a:r>
            <a:endParaRPr lang="en-US" sz="1000"/>
          </a:p>
        </p:txBody>
      </p:sp>
      <p:sp>
        <p:nvSpPr>
          <p:cNvPr id="1781890484" name="Text 13"/>
          <p:cNvSpPr txBox="1"/>
          <p:nvPr/>
        </p:nvSpPr>
        <p:spPr bwMode="auto">
          <a:xfrm>
            <a:off x="8915400" y="201168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Diseñar refuerzo alineado al CNEB ★</a:t>
            </a:r>
            <a:endParaRPr lang="en-US" sz="1300"/>
          </a:p>
        </p:txBody>
      </p:sp>
      <p:sp>
        <p:nvSpPr>
          <p:cNvPr id="48177194" name="Text 14"/>
          <p:cNvSpPr txBox="1"/>
          <p:nvPr/>
        </p:nvSpPr>
        <p:spPr bwMode="auto">
          <a:xfrm>
            <a:off x="11384280" y="294436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3</a:t>
            </a:r>
            <a:endParaRPr lang="en-US" sz="1000"/>
          </a:p>
        </p:txBody>
      </p:sp>
      <p:sp>
        <p:nvSpPr>
          <p:cNvPr id="1605389988" name="Text 15"/>
          <p:cNvSpPr txBox="1"/>
          <p:nvPr/>
        </p:nvSpPr>
        <p:spPr bwMode="auto">
          <a:xfrm>
            <a:off x="2880360" y="342900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Asignar práctica según la necesidad</a:t>
            </a:r>
            <a:endParaRPr lang="en-US" sz="1300"/>
          </a:p>
        </p:txBody>
      </p:sp>
      <p:sp>
        <p:nvSpPr>
          <p:cNvPr id="91759633" name="Text 16"/>
          <p:cNvSpPr txBox="1"/>
          <p:nvPr/>
        </p:nvSpPr>
        <p:spPr bwMode="auto">
          <a:xfrm>
            <a:off x="5349240" y="436168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4</a:t>
            </a:r>
            <a:endParaRPr lang="en-US" sz="1000"/>
          </a:p>
        </p:txBody>
      </p:sp>
      <p:sp>
        <p:nvSpPr>
          <p:cNvPr id="803765887" name="Text 17"/>
          <p:cNvSpPr txBox="1"/>
          <p:nvPr/>
        </p:nvSpPr>
        <p:spPr bwMode="auto">
          <a:xfrm>
            <a:off x="5897880" y="342900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Programar repasos y retos para concursos</a:t>
            </a:r>
            <a:endParaRPr lang="en-US" sz="1300"/>
          </a:p>
        </p:txBody>
      </p:sp>
      <p:sp>
        <p:nvSpPr>
          <p:cNvPr id="174958366" name="Text 18"/>
          <p:cNvSpPr txBox="1"/>
          <p:nvPr/>
        </p:nvSpPr>
        <p:spPr bwMode="auto">
          <a:xfrm>
            <a:off x="8366760" y="436168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5</a:t>
            </a:r>
            <a:endParaRPr lang="en-US" sz="1000"/>
          </a:p>
        </p:txBody>
      </p:sp>
      <p:sp>
        <p:nvSpPr>
          <p:cNvPr id="1954514325" name="Text 19"/>
          <p:cNvSpPr txBox="1"/>
          <p:nvPr/>
        </p:nvSpPr>
        <p:spPr bwMode="auto">
          <a:xfrm>
            <a:off x="8915400" y="342900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Registrar resultados y retroalimentación</a:t>
            </a:r>
            <a:endParaRPr lang="en-US" sz="1300"/>
          </a:p>
        </p:txBody>
      </p:sp>
      <p:sp>
        <p:nvSpPr>
          <p:cNvPr id="1095573147" name="Text 20"/>
          <p:cNvSpPr txBox="1"/>
          <p:nvPr/>
        </p:nvSpPr>
        <p:spPr bwMode="auto">
          <a:xfrm>
            <a:off x="11384280" y="436168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6</a:t>
            </a:r>
            <a:endParaRPr lang="en-US" sz="1000"/>
          </a:p>
        </p:txBody>
      </p:sp>
      <p:sp>
        <p:nvSpPr>
          <p:cNvPr id="2146940297" name="Text 21"/>
          <p:cNvSpPr txBox="1"/>
          <p:nvPr/>
        </p:nvSpPr>
        <p:spPr bwMode="auto">
          <a:xfrm>
            <a:off x="2880360" y="484632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Tomar y confirmar asistencia de la sección</a:t>
            </a:r>
            <a:endParaRPr lang="en-US" sz="1300"/>
          </a:p>
        </p:txBody>
      </p:sp>
      <p:sp>
        <p:nvSpPr>
          <p:cNvPr id="1309338652" name="Text 22"/>
          <p:cNvSpPr txBox="1"/>
          <p:nvPr/>
        </p:nvSpPr>
        <p:spPr bwMode="auto">
          <a:xfrm>
            <a:off x="5349240" y="577900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7</a:t>
            </a:r>
            <a:endParaRPr lang="en-US" sz="1000"/>
          </a:p>
        </p:txBody>
      </p:sp>
      <p:sp>
        <p:nvSpPr>
          <p:cNvPr id="642633531" name="Text 23"/>
          <p:cNvSpPr txBox="1"/>
          <p:nvPr/>
        </p:nvSpPr>
        <p:spPr bwMode="auto">
          <a:xfrm>
            <a:off x="5897880" y="484632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Apoderado: ver progreso/notas y llegada</a:t>
            </a:r>
            <a:endParaRPr lang="en-US" sz="1300"/>
          </a:p>
        </p:txBody>
      </p:sp>
      <p:sp>
        <p:nvSpPr>
          <p:cNvPr id="1729491174" name="Text 24"/>
          <p:cNvSpPr txBox="1"/>
          <p:nvPr/>
        </p:nvSpPr>
        <p:spPr bwMode="auto">
          <a:xfrm>
            <a:off x="8366760" y="577900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8</a:t>
            </a:r>
            <a:endParaRPr lang="en-US" sz="1000"/>
          </a:p>
        </p:txBody>
      </p:sp>
      <p:sp>
        <p:nvSpPr>
          <p:cNvPr id="229666400" name="Text 25"/>
          <p:cNvSpPr txBox="1"/>
          <p:nvPr/>
        </p:nvSpPr>
        <p:spPr bwMode="auto">
          <a:xfrm>
            <a:off x="8915400" y="4846320"/>
            <a:ext cx="2788920" cy="123444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Enviar justificación o consulta asincrónica</a:t>
            </a:r>
            <a:endParaRPr lang="en-US" sz="1300"/>
          </a:p>
        </p:txBody>
      </p:sp>
      <p:sp>
        <p:nvSpPr>
          <p:cNvPr id="1485219753" name="Text 26"/>
          <p:cNvSpPr txBox="1"/>
          <p:nvPr/>
        </p:nvSpPr>
        <p:spPr bwMode="auto">
          <a:xfrm>
            <a:off x="11384280" y="5779008"/>
            <a:ext cx="274320" cy="228600"/>
          </a:xfrm>
          <a:prstGeom prst="rect">
            <a:avLst/>
          </a:prstGeom>
          <a:noFill/>
          <a:ln/>
        </p:spPr>
        <p:txBody>
          <a:bodyPr wrap="square" lIns="0" tIns="0" rIns="0" bIns="0" rtlCol="0" anchor="ctr"/>
          <a:lstStyle/>
          <a:p>
            <a:pPr marL="0" indent="0" algn="r">
              <a:buNone/>
              <a:defRPr/>
            </a:pPr>
            <a:r>
              <a:rPr lang="en-US" sz="1000">
                <a:solidFill>
                  <a:srgbClr val="AECBFA"/>
                </a:solidFill>
                <a:latin typeface="Calibri"/>
                <a:ea typeface="Calibri"/>
                <a:cs typeface="Calibri"/>
              </a:rPr>
              <a:t>9</a:t>
            </a:r>
            <a:endParaRPr lang="en-US" sz="1000"/>
          </a:p>
        </p:txBody>
      </p:sp>
      <p:sp>
        <p:nvSpPr>
          <p:cNvPr id="1385135860" name="Text 27"/>
          <p:cNvSpPr txBox="1"/>
          <p:nvPr/>
        </p:nvSpPr>
        <p:spPr bwMode="auto">
          <a:xfrm>
            <a:off x="2880360" y="6492240"/>
            <a:ext cx="8851392" cy="237744"/>
          </a:xfrm>
          <a:prstGeom prst="rect">
            <a:avLst/>
          </a:prstGeom>
          <a:noFill/>
          <a:ln/>
        </p:spPr>
        <p:txBody>
          <a:bodyPr wrap="square" lIns="0" tIns="0" rIns="0" bIns="0" rtlCol="0" anchor="t"/>
          <a:lstStyle/>
          <a:p>
            <a:pPr marL="0" indent="0">
              <a:buNone/>
              <a:defRPr/>
            </a:pPr>
            <a:r>
              <a:rPr lang="en-US" sz="1200" b="1">
                <a:solidFill>
                  <a:srgbClr val="1967D2"/>
                </a:solidFill>
                <a:latin typeface="Arial"/>
                <a:ea typeface="Arial"/>
                <a:cs typeface="Arial"/>
              </a:rPr>
              <a:t>¿Cuál es la acción principal y por qué?</a:t>
            </a:r>
            <a:endParaRPr lang="en-US" sz="1200"/>
          </a:p>
        </p:txBody>
      </p:sp>
      <p:sp>
        <p:nvSpPr>
          <p:cNvPr id="944967623" name="Text 28"/>
          <p:cNvSpPr txBox="1"/>
          <p:nvPr/>
        </p:nvSpPr>
        <p:spPr bwMode="auto">
          <a:xfrm>
            <a:off x="2880360" y="6766560"/>
            <a:ext cx="8851392" cy="173736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100" b="0">
                <a:solidFill>
                  <a:srgbClr val="303A42"/>
                </a:solidFill>
                <a:latin typeface="Calibri"/>
              </a:rPr>
              <a:t>★ Detectar una brecha y asignar un refuerzo pertinente: se compara evidencia con el desempeño esperado del grado, se propone práctica/repaso y después se vuelve a observar el avance. El docente valida el diagnóstico, adapta la sesión y decide el siguiente paso.</a:t>
            </a:r>
            <a:endParaRPr lang="en-US" sz="1300"/>
          </a:p>
        </p:txBody>
      </p:sp>
      <p:sp>
        <p:nvSpPr>
          <p:cNvPr id="2016047842" name="Text 29"/>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8</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905070960" name="Shape 0"/>
          <p:cNvSpPr/>
          <p:nvPr/>
        </p:nvSpPr>
        <p:spPr bwMode="auto">
          <a:xfrm>
            <a:off x="0" y="0"/>
            <a:ext cx="2514600" cy="9144000"/>
          </a:xfrm>
          <a:prstGeom prst="rect">
            <a:avLst/>
          </a:prstGeom>
          <a:solidFill>
            <a:srgbClr val="1967D2"/>
          </a:solidFill>
          <a:ln/>
        </p:spPr>
      </p:sp>
      <p:sp>
        <p:nvSpPr>
          <p:cNvPr id="618787393"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2</a:t>
            </a:r>
            <a:endParaRPr lang="en-US" sz="1100"/>
          </a:p>
        </p:txBody>
      </p:sp>
      <p:sp>
        <p:nvSpPr>
          <p:cNvPr id="1900878893"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Planifica</a:t>
            </a:r>
            <a:endParaRPr lang="en-US" sz="2600"/>
          </a:p>
        </p:txBody>
      </p:sp>
      <p:sp>
        <p:nvSpPr>
          <p:cNvPr id="1308002683"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BDDFA"/>
                </a:solidFill>
                <a:latin typeface="Calibri"/>
                <a:ea typeface="Calibri"/>
                <a:cs typeface="Calibri"/>
              </a:rPr>
              <a:t>Acciones del usuario</a:t>
            </a:r>
            <a:endParaRPr lang="en-US" sz="1300"/>
          </a:p>
          <a:p>
            <a:pPr marL="0" indent="0">
              <a:spcAft>
                <a:spcPts val="800"/>
              </a:spcAft>
              <a:buNone/>
              <a:defRPr/>
            </a:pPr>
            <a:r>
              <a:rPr lang="en-US" sz="1300" b="1">
                <a:solidFill>
                  <a:srgbClr val="FFFFFF"/>
                </a:solidFill>
                <a:latin typeface="Calibri"/>
                <a:ea typeface="Calibri"/>
                <a:cs typeface="Calibri"/>
              </a:rPr>
              <a:t>Entradas y estado</a:t>
            </a:r>
            <a:endParaRPr lang="en-US" sz="1300"/>
          </a:p>
          <a:p>
            <a:pPr marL="0" indent="0">
              <a:spcAft>
                <a:spcPts val="800"/>
              </a:spcAft>
              <a:buNone/>
              <a:defRPr/>
            </a:pPr>
            <a:r>
              <a:rPr lang="en-US" sz="1300">
                <a:solidFill>
                  <a:srgbClr val="CBDDFA"/>
                </a:solidFill>
                <a:latin typeface="Calibri"/>
                <a:ea typeface="Calibri"/>
                <a:cs typeface="Calibri"/>
              </a:rPr>
              <a:t>Funciones del equipo</a:t>
            </a:r>
            <a:endParaRPr lang="en-US" sz="1300"/>
          </a:p>
          <a:p>
            <a:pPr marL="0" indent="0">
              <a:spcAft>
                <a:spcPts val="800"/>
              </a:spcAft>
              <a:buNone/>
              <a:defRPr/>
            </a:pPr>
            <a:r>
              <a:rPr lang="en-US" sz="1300">
                <a:solidFill>
                  <a:srgbClr val="CBDDFA"/>
                </a:solidFill>
                <a:latin typeface="Calibri"/>
                <a:ea typeface="Calibri"/>
                <a:cs typeface="Calibri"/>
              </a:rPr>
              <a:t>Diseño inclusivo</a:t>
            </a:r>
            <a:endParaRPr lang="en-US" sz="1300"/>
          </a:p>
        </p:txBody>
      </p:sp>
      <p:sp>
        <p:nvSpPr>
          <p:cNvPr id="117480235" name="Shape 4"/>
          <p:cNvSpPr/>
          <p:nvPr/>
        </p:nvSpPr>
        <p:spPr bwMode="auto">
          <a:xfrm>
            <a:off x="320040" y="7269480"/>
            <a:ext cx="1005840" cy="0"/>
          </a:xfrm>
          <a:prstGeom prst="line">
            <a:avLst/>
          </a:prstGeom>
          <a:noFill/>
          <a:ln w="19050">
            <a:solidFill>
              <a:srgbClr val="FFFFFF"/>
            </a:solidFill>
            <a:prstDash val="solid"/>
          </a:ln>
        </p:spPr>
      </p:sp>
      <p:sp>
        <p:nvSpPr>
          <p:cNvPr id="1128415237"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EN COMPOSE</a:t>
            </a:r>
            <a:endParaRPr lang="en-US" sz="1000"/>
          </a:p>
        </p:txBody>
      </p:sp>
      <p:sp>
        <p:nvSpPr>
          <p:cNvPr id="1841848790"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Cada cambio de estado vuelve a dibujar la interfaz. Si algo debe verse distinto, tiene que vivir en el estado.</a:t>
            </a:r>
            <a:endParaRPr lang="en-US" sz="1100"/>
          </a:p>
        </p:txBody>
      </p:sp>
      <p:sp>
        <p:nvSpPr>
          <p:cNvPr id="25342021"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Entradas del usuario y cambios de estado</a:t>
            </a:r>
            <a:endParaRPr lang="en-US" sz="2500"/>
          </a:p>
        </p:txBody>
      </p:sp>
      <p:sp>
        <p:nvSpPr>
          <p:cNvPr id="1942591041" name="Text 8"/>
          <p:cNvSpPr txBox="1"/>
          <p:nvPr/>
        </p:nvSpPr>
        <p:spPr bwMode="auto">
          <a:xfrm>
            <a:off x="2880360" y="1051560"/>
            <a:ext cx="8851392" cy="6858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El estado es la información que tu app recuerda mientras se usa: qué pantalla se ve, qué datos cargó, si la sesión está abierta, qué eligió el usuario. Para cada acción de la página anterior, anota qué ingresa la persona y qué cambia en la app.</a:t>
            </a:r>
            <a:endParaRPr lang="en-US" sz="1400"/>
          </a:p>
        </p:txBody>
      </p:sp>
      <p:sp>
        <p:nvSpPr>
          <p:cNvPr id="63446264" name="Shape 9"/>
          <p:cNvSpPr/>
          <p:nvPr/>
        </p:nvSpPr>
        <p:spPr bwMode="auto">
          <a:xfrm>
            <a:off x="2880360" y="1965960"/>
            <a:ext cx="4114800" cy="365760"/>
          </a:xfrm>
          <a:prstGeom prst="rect">
            <a:avLst/>
          </a:prstGeom>
          <a:solidFill>
            <a:srgbClr val="1967D2"/>
          </a:solidFill>
          <a:ln/>
        </p:spPr>
      </p:sp>
      <p:sp>
        <p:nvSpPr>
          <p:cNvPr id="1260946711" name="Text 10"/>
          <p:cNvSpPr txBox="1"/>
          <p:nvPr/>
        </p:nvSpPr>
        <p:spPr bwMode="auto">
          <a:xfrm>
            <a:off x="2990088" y="1965960"/>
            <a:ext cx="3895343"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Entrada del usuario</a:t>
            </a:r>
            <a:endParaRPr lang="en-US" sz="1200"/>
          </a:p>
        </p:txBody>
      </p:sp>
      <p:sp>
        <p:nvSpPr>
          <p:cNvPr id="1918354267" name="Shape 11"/>
          <p:cNvSpPr/>
          <p:nvPr/>
        </p:nvSpPr>
        <p:spPr bwMode="auto">
          <a:xfrm>
            <a:off x="7616952" y="1965960"/>
            <a:ext cx="4114800" cy="365760"/>
          </a:xfrm>
          <a:prstGeom prst="rect">
            <a:avLst/>
          </a:prstGeom>
          <a:solidFill>
            <a:srgbClr val="1967D2"/>
          </a:solidFill>
          <a:ln/>
        </p:spPr>
      </p:sp>
      <p:sp>
        <p:nvSpPr>
          <p:cNvPr id="1835183980" name="Text 12"/>
          <p:cNvSpPr txBox="1"/>
          <p:nvPr/>
        </p:nvSpPr>
        <p:spPr bwMode="auto">
          <a:xfrm>
            <a:off x="7726680" y="1965960"/>
            <a:ext cx="3895343"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Cambio en el estado de la app</a:t>
            </a:r>
            <a:endParaRPr lang="en-US" sz="1200"/>
          </a:p>
        </p:txBody>
      </p:sp>
      <p:sp>
        <p:nvSpPr>
          <p:cNvPr id="507749902" name="Text 13"/>
          <p:cNvSpPr txBox="1"/>
          <p:nvPr/>
        </p:nvSpPr>
        <p:spPr bwMode="auto">
          <a:xfrm>
            <a:off x="2880360" y="2468880"/>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Recoge evidencia inicial y selecciona competencia/grado</a:t>
            </a:r>
            <a:endParaRPr lang="en-US" sz="1300"/>
          </a:p>
        </p:txBody>
      </p:sp>
      <p:sp>
        <p:nvSpPr>
          <p:cNvPr id="2040229084" name="Text 14"/>
          <p:cNvSpPr txBox="1"/>
          <p:nvPr/>
        </p:nvSpPr>
        <p:spPr bwMode="auto">
          <a:xfrm>
            <a:off x="2953512" y="3200400"/>
            <a:ext cx="3968496" cy="228600"/>
          </a:xfrm>
          <a:prstGeom prst="rect">
            <a:avLst/>
          </a:prstGeom>
          <a:noFill/>
          <a:ln/>
        </p:spPr>
        <p:txBody>
          <a:bodyPr wrap="square" lIns="0" tIns="0" rIns="0" bIns="0" rtlCol="0" anchor="ctr"/>
          <a:lstStyle/>
          <a:p>
            <a:pPr marL="0" indent="0" algn="r">
              <a:buNone/>
              <a:defRPr/>
            </a:pPr>
            <a:endParaRPr lang="en-US" sz="950"/>
          </a:p>
        </p:txBody>
      </p:sp>
      <p:sp>
        <p:nvSpPr>
          <p:cNvPr id="1814331022" name="Text 15"/>
          <p:cNvSpPr txBox="1"/>
          <p:nvPr/>
        </p:nvSpPr>
        <p:spPr bwMode="auto">
          <a:xfrm>
            <a:off x="6995160" y="2468880"/>
            <a:ext cx="621792" cy="1024128"/>
          </a:xfrm>
          <a:prstGeom prst="rect">
            <a:avLst/>
          </a:prstGeom>
          <a:noFill/>
          <a:ln/>
        </p:spPr>
        <p:txBody>
          <a:bodyPr wrap="square" lIns="0" tIns="0" rIns="0" bIns="0" rtlCol="0" anchor="ctr"/>
          <a:lstStyle/>
          <a:p>
            <a:pPr marL="0" indent="0" algn="ctr">
              <a:buNone/>
              <a:defRPr/>
            </a:pPr>
            <a:r>
              <a:rPr lang="en-US" sz="1800" b="1">
                <a:solidFill>
                  <a:srgbClr val="AECBFA"/>
                </a:solidFill>
                <a:latin typeface="Calibri"/>
                <a:ea typeface="Calibri"/>
                <a:cs typeface="Calibri"/>
              </a:rPr>
              <a:t>→</a:t>
            </a:r>
            <a:endParaRPr lang="en-US" sz="1800"/>
          </a:p>
        </p:txBody>
      </p:sp>
      <p:sp>
        <p:nvSpPr>
          <p:cNvPr id="2034950636" name="Text 16"/>
          <p:cNvSpPr txBox="1"/>
          <p:nvPr/>
        </p:nvSpPr>
        <p:spPr bwMode="auto">
          <a:xfrm>
            <a:off x="7616952" y="2468880"/>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Se estima el nivel respecto al desempeño esperado y queda visible la brecha a atender, no una etiqueta.</a:t>
            </a:r>
            <a:endParaRPr lang="en-US" sz="1300"/>
          </a:p>
        </p:txBody>
      </p:sp>
      <p:sp>
        <p:nvSpPr>
          <p:cNvPr id="987910990" name="Text 17"/>
          <p:cNvSpPr txBox="1"/>
          <p:nvPr/>
        </p:nvSpPr>
        <p:spPr bwMode="auto">
          <a:xfrm>
            <a:off x="2880360" y="3639312"/>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Docente elige brecha, contexto y recursos del alumno</a:t>
            </a:r>
            <a:endParaRPr lang="en-US" sz="1300"/>
          </a:p>
        </p:txBody>
      </p:sp>
      <p:sp>
        <p:nvSpPr>
          <p:cNvPr id="765011632" name="Text 18"/>
          <p:cNvSpPr txBox="1"/>
          <p:nvPr/>
        </p:nvSpPr>
        <p:spPr bwMode="auto">
          <a:xfrm>
            <a:off x="2953512" y="4370832"/>
            <a:ext cx="3968496" cy="228600"/>
          </a:xfrm>
          <a:prstGeom prst="rect">
            <a:avLst/>
          </a:prstGeom>
          <a:noFill/>
          <a:ln/>
        </p:spPr>
        <p:txBody>
          <a:bodyPr wrap="square" lIns="0" tIns="0" rIns="0" bIns="0" rtlCol="0" anchor="ctr"/>
          <a:lstStyle/>
          <a:p>
            <a:pPr marL="0" indent="0" algn="r">
              <a:buNone/>
              <a:defRPr/>
            </a:pPr>
            <a:endParaRPr lang="en-US" sz="950"/>
          </a:p>
        </p:txBody>
      </p:sp>
      <p:sp>
        <p:nvSpPr>
          <p:cNvPr id="1444052506" name="Text 19"/>
          <p:cNvSpPr txBox="1"/>
          <p:nvPr/>
        </p:nvSpPr>
        <p:spPr bwMode="auto">
          <a:xfrm>
            <a:off x="6995160" y="3639312"/>
            <a:ext cx="621792" cy="1024128"/>
          </a:xfrm>
          <a:prstGeom prst="rect">
            <a:avLst/>
          </a:prstGeom>
          <a:noFill/>
          <a:ln/>
        </p:spPr>
        <p:txBody>
          <a:bodyPr wrap="square" lIns="0" tIns="0" rIns="0" bIns="0" rtlCol="0" anchor="ctr"/>
          <a:lstStyle/>
          <a:p>
            <a:pPr marL="0" indent="0" algn="ctr">
              <a:buNone/>
              <a:defRPr/>
            </a:pPr>
            <a:r>
              <a:rPr lang="en-US" sz="1800" b="1">
                <a:solidFill>
                  <a:srgbClr val="AECBFA"/>
                </a:solidFill>
                <a:latin typeface="Calibri"/>
                <a:ea typeface="Calibri"/>
                <a:cs typeface="Calibri"/>
              </a:rPr>
              <a:t>→</a:t>
            </a:r>
            <a:endParaRPr lang="en-US" sz="1800"/>
          </a:p>
        </p:txBody>
      </p:sp>
      <p:sp>
        <p:nvSpPr>
          <p:cNvPr id="225632314" name="Text 20"/>
          <p:cNvSpPr txBox="1"/>
          <p:nvPr/>
        </p:nvSpPr>
        <p:spPr bwMode="auto">
          <a:xfrm>
            <a:off x="7616952" y="3639312"/>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Se prepara un refuerzo editable con actividades y meta de aprendizaje apropiadas para esa necesidad.</a:t>
            </a:r>
            <a:endParaRPr lang="en-US" sz="1300"/>
          </a:p>
        </p:txBody>
      </p:sp>
      <p:sp>
        <p:nvSpPr>
          <p:cNvPr id="1010965167" name="Text 21"/>
          <p:cNvSpPr txBox="1"/>
          <p:nvPr/>
        </p:nvSpPr>
        <p:spPr bwMode="auto">
          <a:xfrm>
            <a:off x="2880360" y="4809744"/>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Alumno responde prácticas y vuelve a intentarlas después</a:t>
            </a:r>
            <a:endParaRPr lang="en-US" sz="1300"/>
          </a:p>
        </p:txBody>
      </p:sp>
      <p:sp>
        <p:nvSpPr>
          <p:cNvPr id="1402637835" name="Text 22"/>
          <p:cNvSpPr txBox="1"/>
          <p:nvPr/>
        </p:nvSpPr>
        <p:spPr bwMode="auto">
          <a:xfrm>
            <a:off x="2953512" y="5541264"/>
            <a:ext cx="3968496" cy="228600"/>
          </a:xfrm>
          <a:prstGeom prst="rect">
            <a:avLst/>
          </a:prstGeom>
          <a:noFill/>
          <a:ln/>
        </p:spPr>
        <p:txBody>
          <a:bodyPr wrap="square" lIns="0" tIns="0" rIns="0" bIns="0" rtlCol="0" anchor="ctr"/>
          <a:lstStyle/>
          <a:p>
            <a:pPr marL="0" indent="0" algn="r">
              <a:buNone/>
              <a:defRPr/>
            </a:pPr>
            <a:endParaRPr lang="en-US" sz="950"/>
          </a:p>
        </p:txBody>
      </p:sp>
      <p:sp>
        <p:nvSpPr>
          <p:cNvPr id="1503965312" name="Text 23"/>
          <p:cNvSpPr txBox="1"/>
          <p:nvPr/>
        </p:nvSpPr>
        <p:spPr bwMode="auto">
          <a:xfrm>
            <a:off x="6995160" y="4809744"/>
            <a:ext cx="621792" cy="1024128"/>
          </a:xfrm>
          <a:prstGeom prst="rect">
            <a:avLst/>
          </a:prstGeom>
          <a:noFill/>
          <a:ln/>
        </p:spPr>
        <p:txBody>
          <a:bodyPr wrap="square" lIns="0" tIns="0" rIns="0" bIns="0" rtlCol="0" anchor="ctr"/>
          <a:lstStyle/>
          <a:p>
            <a:pPr marL="0" indent="0" algn="ctr">
              <a:buNone/>
              <a:defRPr/>
            </a:pPr>
            <a:r>
              <a:rPr lang="en-US" sz="1800" b="1">
                <a:solidFill>
                  <a:srgbClr val="AECBFA"/>
                </a:solidFill>
                <a:latin typeface="Calibri"/>
                <a:ea typeface="Calibri"/>
                <a:cs typeface="Calibri"/>
              </a:rPr>
              <a:t>→</a:t>
            </a:r>
            <a:endParaRPr lang="en-US" sz="1800"/>
          </a:p>
        </p:txBody>
      </p:sp>
      <p:sp>
        <p:nvSpPr>
          <p:cNvPr id="833556322" name="Text 24"/>
          <p:cNvSpPr txBox="1"/>
          <p:nvPr/>
        </p:nvSpPr>
        <p:spPr bwMode="auto">
          <a:xfrm>
            <a:off x="7616952" y="4809744"/>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Se conserva progreso por competencia y se programa repaso; los retos de concurso son práctica complementaria.</a:t>
            </a:r>
            <a:endParaRPr lang="en-US" sz="1300"/>
          </a:p>
        </p:txBody>
      </p:sp>
      <p:sp>
        <p:nvSpPr>
          <p:cNvPr id="1655239765" name="Text 25"/>
          <p:cNvSpPr txBox="1"/>
          <p:nvPr/>
        </p:nvSpPr>
        <p:spPr bwMode="auto">
          <a:xfrm>
            <a:off x="2880360" y="5980176"/>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Docente confirma asistencia de la sección</a:t>
            </a:r>
            <a:endParaRPr lang="en-US" sz="1300"/>
          </a:p>
        </p:txBody>
      </p:sp>
      <p:sp>
        <p:nvSpPr>
          <p:cNvPr id="937661530" name="Text 26"/>
          <p:cNvSpPr txBox="1"/>
          <p:nvPr/>
        </p:nvSpPr>
        <p:spPr bwMode="auto">
          <a:xfrm>
            <a:off x="2953512" y="6711696"/>
            <a:ext cx="3968496" cy="228600"/>
          </a:xfrm>
          <a:prstGeom prst="rect">
            <a:avLst/>
          </a:prstGeom>
          <a:noFill/>
          <a:ln/>
        </p:spPr>
        <p:txBody>
          <a:bodyPr wrap="square" lIns="0" tIns="0" rIns="0" bIns="0" rtlCol="0" anchor="ctr"/>
          <a:lstStyle/>
          <a:p>
            <a:pPr marL="0" indent="0" algn="r">
              <a:buNone/>
              <a:defRPr/>
            </a:pPr>
            <a:endParaRPr lang="en-US" sz="950"/>
          </a:p>
        </p:txBody>
      </p:sp>
      <p:sp>
        <p:nvSpPr>
          <p:cNvPr id="279924674" name="Text 27"/>
          <p:cNvSpPr txBox="1"/>
          <p:nvPr/>
        </p:nvSpPr>
        <p:spPr bwMode="auto">
          <a:xfrm>
            <a:off x="6995160" y="5980176"/>
            <a:ext cx="621792" cy="1024128"/>
          </a:xfrm>
          <a:prstGeom prst="rect">
            <a:avLst/>
          </a:prstGeom>
          <a:noFill/>
          <a:ln/>
        </p:spPr>
        <p:txBody>
          <a:bodyPr wrap="square" lIns="0" tIns="0" rIns="0" bIns="0" rtlCol="0" anchor="ctr"/>
          <a:lstStyle/>
          <a:p>
            <a:pPr marL="0" indent="0" algn="ctr">
              <a:buNone/>
              <a:defRPr/>
            </a:pPr>
            <a:r>
              <a:rPr lang="en-US" sz="1800" b="1">
                <a:solidFill>
                  <a:srgbClr val="AECBFA"/>
                </a:solidFill>
                <a:latin typeface="Calibri"/>
                <a:ea typeface="Calibri"/>
                <a:cs typeface="Calibri"/>
              </a:rPr>
              <a:t>→</a:t>
            </a:r>
            <a:endParaRPr lang="en-US" sz="1800"/>
          </a:p>
        </p:txBody>
      </p:sp>
      <p:sp>
        <p:nvSpPr>
          <p:cNvPr id="544895149" name="Text 28"/>
          <p:cNvSpPr txBox="1"/>
          <p:nvPr/>
        </p:nvSpPr>
        <p:spPr bwMode="auto">
          <a:xfrm>
            <a:off x="7616952" y="5980176"/>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Se actualiza la jornada; apoderado autorizado ve asistencia/llegada de su hijo, no datos de otros.</a:t>
            </a:r>
            <a:endParaRPr lang="en-US" sz="1300"/>
          </a:p>
        </p:txBody>
      </p:sp>
      <p:sp>
        <p:nvSpPr>
          <p:cNvPr id="626295491" name="Text 29"/>
          <p:cNvSpPr txBox="1"/>
          <p:nvPr/>
        </p:nvSpPr>
        <p:spPr bwMode="auto">
          <a:xfrm>
            <a:off x="2880360" y="7150607"/>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Apoderado manda motivo y foto/documento de tardanza o falta</a:t>
            </a:r>
            <a:endParaRPr lang="en-US" sz="1300"/>
          </a:p>
        </p:txBody>
      </p:sp>
      <p:sp>
        <p:nvSpPr>
          <p:cNvPr id="1148973508" name="Text 30"/>
          <p:cNvSpPr txBox="1"/>
          <p:nvPr/>
        </p:nvSpPr>
        <p:spPr bwMode="auto">
          <a:xfrm>
            <a:off x="6995160" y="7150607"/>
            <a:ext cx="621792" cy="1024128"/>
          </a:xfrm>
          <a:prstGeom prst="rect">
            <a:avLst/>
          </a:prstGeom>
          <a:noFill/>
          <a:ln/>
        </p:spPr>
        <p:txBody>
          <a:bodyPr wrap="square" lIns="0" tIns="0" rIns="0" bIns="0" rtlCol="0" anchor="ctr"/>
          <a:lstStyle/>
          <a:p>
            <a:pPr marL="0" indent="0" algn="ctr">
              <a:buNone/>
              <a:defRPr/>
            </a:pPr>
            <a:r>
              <a:rPr lang="en-US" sz="1800" b="1">
                <a:solidFill>
                  <a:srgbClr val="AECBFA"/>
                </a:solidFill>
                <a:latin typeface="Calibri"/>
                <a:ea typeface="Calibri"/>
                <a:cs typeface="Calibri"/>
              </a:rPr>
              <a:t>→</a:t>
            </a:r>
            <a:endParaRPr lang="en-US" sz="1800"/>
          </a:p>
        </p:txBody>
      </p:sp>
      <p:sp>
        <p:nvSpPr>
          <p:cNvPr id="982132033" name="Text 31"/>
          <p:cNvSpPr txBox="1"/>
          <p:nvPr/>
        </p:nvSpPr>
        <p:spPr bwMode="auto">
          <a:xfrm>
            <a:off x="7616952" y="7150607"/>
            <a:ext cx="4114800" cy="1024128"/>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Se crea una justificación pendiente, vinculada al estudiante; docente la revisa y responde asincrónicamente.</a:t>
            </a:r>
            <a:endParaRPr lang="en-US" sz="1300"/>
          </a:p>
        </p:txBody>
      </p:sp>
      <p:sp>
        <p:nvSpPr>
          <p:cNvPr id="1006228683" name="Text 32"/>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9</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613213555" name="Shape 0"/>
          <p:cNvSpPr/>
          <p:nvPr/>
        </p:nvSpPr>
        <p:spPr bwMode="auto">
          <a:xfrm>
            <a:off x="0" y="0"/>
            <a:ext cx="2514600" cy="9144000"/>
          </a:xfrm>
          <a:prstGeom prst="rect">
            <a:avLst/>
          </a:prstGeom>
          <a:solidFill>
            <a:srgbClr val="1967D2"/>
          </a:solidFill>
          <a:ln/>
        </p:spPr>
      </p:sp>
      <p:sp>
        <p:nvSpPr>
          <p:cNvPr id="907260683"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2</a:t>
            </a:r>
            <a:endParaRPr lang="en-US" sz="1100"/>
          </a:p>
        </p:txBody>
      </p:sp>
      <p:sp>
        <p:nvSpPr>
          <p:cNvPr id="588494032"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Planifica</a:t>
            </a:r>
            <a:endParaRPr lang="en-US" sz="2600"/>
          </a:p>
        </p:txBody>
      </p:sp>
      <p:sp>
        <p:nvSpPr>
          <p:cNvPr id="777326841"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BDDFA"/>
                </a:solidFill>
                <a:latin typeface="Calibri"/>
                <a:ea typeface="Calibri"/>
                <a:cs typeface="Calibri"/>
              </a:rPr>
              <a:t>Acciones del usuario</a:t>
            </a:r>
            <a:endParaRPr lang="en-US" sz="1300"/>
          </a:p>
          <a:p>
            <a:pPr marL="0" indent="0">
              <a:spcAft>
                <a:spcPts val="800"/>
              </a:spcAft>
              <a:buNone/>
              <a:defRPr/>
            </a:pPr>
            <a:r>
              <a:rPr lang="en-US" sz="1300">
                <a:solidFill>
                  <a:srgbClr val="CBDDFA"/>
                </a:solidFill>
                <a:latin typeface="Calibri"/>
                <a:ea typeface="Calibri"/>
                <a:cs typeface="Calibri"/>
              </a:rPr>
              <a:t>Entradas y estado</a:t>
            </a:r>
            <a:endParaRPr lang="en-US" sz="1300"/>
          </a:p>
          <a:p>
            <a:pPr marL="0" indent="0">
              <a:spcAft>
                <a:spcPts val="800"/>
              </a:spcAft>
              <a:buNone/>
              <a:defRPr/>
            </a:pPr>
            <a:r>
              <a:rPr lang="en-US" sz="1300" b="1">
                <a:solidFill>
                  <a:srgbClr val="FFFFFF"/>
                </a:solidFill>
                <a:latin typeface="Calibri"/>
                <a:ea typeface="Calibri"/>
                <a:cs typeface="Calibri"/>
              </a:rPr>
              <a:t>Funciones del equipo</a:t>
            </a:r>
            <a:endParaRPr lang="en-US" sz="1300"/>
          </a:p>
          <a:p>
            <a:pPr marL="0" indent="0">
              <a:spcAft>
                <a:spcPts val="800"/>
              </a:spcAft>
              <a:buNone/>
              <a:defRPr/>
            </a:pPr>
            <a:r>
              <a:rPr lang="en-US" sz="1300">
                <a:solidFill>
                  <a:srgbClr val="CBDDFA"/>
                </a:solidFill>
                <a:latin typeface="Calibri"/>
                <a:ea typeface="Calibri"/>
                <a:cs typeface="Calibri"/>
              </a:rPr>
              <a:t>Diseño inclusivo</a:t>
            </a:r>
            <a:endParaRPr lang="en-US" sz="1300"/>
          </a:p>
        </p:txBody>
      </p:sp>
      <p:sp>
        <p:nvSpPr>
          <p:cNvPr id="1016082614" name="Shape 4"/>
          <p:cNvSpPr/>
          <p:nvPr/>
        </p:nvSpPr>
        <p:spPr bwMode="auto">
          <a:xfrm>
            <a:off x="320040" y="7269480"/>
            <a:ext cx="1005840" cy="0"/>
          </a:xfrm>
          <a:prstGeom prst="line">
            <a:avLst/>
          </a:prstGeom>
          <a:noFill/>
          <a:ln w="19050">
            <a:solidFill>
              <a:srgbClr val="FFFFFF"/>
            </a:solidFill>
            <a:prstDash val="solid"/>
          </a:ln>
        </p:spPr>
      </p:sp>
      <p:sp>
        <p:nvSpPr>
          <p:cNvPr id="766695071"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IR MÁS ALLÁ</a:t>
            </a:r>
            <a:endParaRPr lang="en-US" sz="1000"/>
          </a:p>
        </p:txBody>
      </p:sp>
      <p:sp>
        <p:nvSpPr>
          <p:cNvPr id="579206645"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Revisa la documentación de Android en developer.android.com para ver qué necesita cada función y qué permiso pide.</a:t>
            </a:r>
            <a:endParaRPr lang="en-US" sz="1100"/>
          </a:p>
        </p:txBody>
      </p:sp>
      <p:sp>
        <p:nvSpPr>
          <p:cNvPr id="1130604158"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Funciones del dispositivo que usará mi app</a:t>
            </a:r>
            <a:endParaRPr lang="en-US" sz="2500"/>
          </a:p>
        </p:txBody>
      </p:sp>
      <p:sp>
        <p:nvSpPr>
          <p:cNvPr id="1090892002" name="Text 8"/>
          <p:cNvSpPr txBox="1"/>
          <p:nvPr/>
        </p:nvSpPr>
        <p:spPr bwMode="auto">
          <a:xfrm>
            <a:off x="2880360" y="1051560"/>
            <a:ext cx="8851392" cy="54864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Android te da acceso al hardware y a servicios del sistema. Marca las que tu app necesita de verdad —no las que estarían "bonitas"— y anota abajo los permisos que tendrás que pedir.</a:t>
            </a:r>
            <a:endParaRPr lang="en-US" sz="1400"/>
          </a:p>
        </p:txBody>
      </p:sp>
      <p:sp>
        <p:nvSpPr>
          <p:cNvPr id="2087791190" name="Shape 9"/>
          <p:cNvSpPr/>
          <p:nvPr/>
        </p:nvSpPr>
        <p:spPr bwMode="auto">
          <a:xfrm>
            <a:off x="2880360" y="1819656"/>
            <a:ext cx="155448" cy="155448"/>
          </a:xfrm>
          <a:prstGeom prst="rect">
            <a:avLst/>
          </a:prstGeom>
          <a:solidFill>
            <a:srgbClr val="FFFFFF"/>
          </a:solidFill>
          <a:ln w="15875">
            <a:solidFill>
              <a:srgbClr val="AECBFA"/>
            </a:solidFill>
            <a:prstDash val="solid"/>
          </a:ln>
        </p:spPr>
      </p:sp>
      <p:sp>
        <p:nvSpPr>
          <p:cNvPr id="1149945217" name="Text 10"/>
          <p:cNvSpPr txBox="1"/>
          <p:nvPr/>
        </p:nvSpPr>
        <p:spPr bwMode="auto">
          <a:xfrm>
            <a:off x="3136392" y="1783080"/>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Cámara (CameraX)</a:t>
            </a:r>
            <a:endParaRPr lang="en-US" sz="1200"/>
          </a:p>
          <a:p>
            <a:pPr marL="0" indent="0">
              <a:lnSpc>
                <a:spcPct val="105000"/>
              </a:lnSpc>
              <a:buNone/>
              <a:defRPr/>
            </a:pPr>
            <a:r>
              <a:rPr lang="en-US" sz="1100">
                <a:solidFill>
                  <a:srgbClr val="5F6368"/>
                </a:solidFill>
                <a:latin typeface="Calibri"/>
                <a:ea typeface="Calibri"/>
                <a:cs typeface="Calibri"/>
              </a:rPr>
              <a:t>Tomar fotos, grabar video, leer códigos QR</a:t>
            </a:r>
            <a:endParaRPr lang="en-US" sz="1200"/>
          </a:p>
        </p:txBody>
      </p:sp>
      <p:sp>
        <p:nvSpPr>
          <p:cNvPr id="1388998584" name="Shape 11"/>
          <p:cNvSpPr/>
          <p:nvPr/>
        </p:nvSpPr>
        <p:spPr bwMode="auto">
          <a:xfrm>
            <a:off x="7434072" y="1819656"/>
            <a:ext cx="155448" cy="155448"/>
          </a:xfrm>
          <a:prstGeom prst="rect">
            <a:avLst/>
          </a:prstGeom>
          <a:solidFill>
            <a:srgbClr val="FFFFFF"/>
          </a:solidFill>
          <a:ln w="15875">
            <a:solidFill>
              <a:srgbClr val="AECBFA"/>
            </a:solidFill>
            <a:prstDash val="solid"/>
          </a:ln>
        </p:spPr>
      </p:sp>
      <p:sp>
        <p:nvSpPr>
          <p:cNvPr id="1836658481" name="Text 12"/>
          <p:cNvSpPr txBox="1"/>
          <p:nvPr/>
        </p:nvSpPr>
        <p:spPr bwMode="auto">
          <a:xfrm>
            <a:off x="7690104" y="1783080"/>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Ubicación y mapas</a:t>
            </a:r>
            <a:endParaRPr lang="en-US" sz="1200"/>
          </a:p>
          <a:p>
            <a:pPr marL="0" indent="0">
              <a:lnSpc>
                <a:spcPct val="105000"/>
              </a:lnSpc>
              <a:buNone/>
              <a:defRPr/>
            </a:pPr>
            <a:r>
              <a:rPr lang="en-US" sz="1100">
                <a:solidFill>
                  <a:srgbClr val="5F6368"/>
                </a:solidFill>
                <a:latin typeface="Calibri"/>
                <a:ea typeface="Calibri"/>
                <a:cs typeface="Calibri"/>
              </a:rPr>
              <a:t>Mostrar lugares cercanos, rutas, geocercas</a:t>
            </a:r>
            <a:endParaRPr lang="en-US" sz="1200"/>
          </a:p>
        </p:txBody>
      </p:sp>
      <p:sp>
        <p:nvSpPr>
          <p:cNvPr id="2118514784" name="Shape 13"/>
          <p:cNvSpPr/>
          <p:nvPr/>
        </p:nvSpPr>
        <p:spPr bwMode="auto">
          <a:xfrm>
            <a:off x="2880360" y="2532888"/>
            <a:ext cx="155448" cy="155448"/>
          </a:xfrm>
          <a:prstGeom prst="rect">
            <a:avLst/>
          </a:prstGeom>
          <a:solidFill>
            <a:srgbClr val="FFFFFF"/>
          </a:solidFill>
          <a:ln w="15875">
            <a:solidFill>
              <a:srgbClr val="AECBFA"/>
            </a:solidFill>
            <a:prstDash val="solid"/>
          </a:ln>
        </p:spPr>
      </p:sp>
      <p:sp>
        <p:nvSpPr>
          <p:cNvPr id="730681686" name="Text 14"/>
          <p:cNvSpPr txBox="1"/>
          <p:nvPr/>
        </p:nvSpPr>
        <p:spPr bwMode="auto">
          <a:xfrm>
            <a:off x="3136392" y="2496312"/>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Sensores</a:t>
            </a:r>
            <a:endParaRPr lang="en-US" sz="1200"/>
          </a:p>
          <a:p>
            <a:pPr marL="0" indent="0">
              <a:lnSpc>
                <a:spcPct val="105000"/>
              </a:lnSpc>
              <a:buNone/>
              <a:defRPr/>
            </a:pPr>
            <a:r>
              <a:rPr lang="en-US" sz="1100">
                <a:solidFill>
                  <a:srgbClr val="5F6368"/>
                </a:solidFill>
                <a:latin typeface="Calibri"/>
                <a:ea typeface="Calibri"/>
                <a:cs typeface="Calibri"/>
              </a:rPr>
              <a:t>Acelerómetro, giroscopio, brújula, contador de pasos</a:t>
            </a:r>
            <a:endParaRPr lang="en-US" sz="1200"/>
          </a:p>
        </p:txBody>
      </p:sp>
      <p:sp>
        <p:nvSpPr>
          <p:cNvPr id="1036781349" name="Shape 15"/>
          <p:cNvSpPr/>
          <p:nvPr/>
        </p:nvSpPr>
        <p:spPr bwMode="auto">
          <a:xfrm>
            <a:off x="7434072" y="2532888"/>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290394192" name="Text 16"/>
          <p:cNvSpPr txBox="1"/>
          <p:nvPr/>
        </p:nvSpPr>
        <p:spPr bwMode="auto">
          <a:xfrm>
            <a:off x="7690104" y="2496312"/>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Notificaciones</a:t>
            </a:r>
            <a:endParaRPr lang="en-US" sz="1200"/>
          </a:p>
          <a:p>
            <a:pPr marL="0" indent="0">
              <a:lnSpc>
                <a:spcPct val="105000"/>
              </a:lnSpc>
              <a:buNone/>
              <a:defRPr/>
            </a:pPr>
            <a:r>
              <a:rPr lang="en-US" sz="1100">
                <a:solidFill>
                  <a:srgbClr val="5F6368"/>
                </a:solidFill>
                <a:latin typeface="Calibri"/>
                <a:ea typeface="Calibri"/>
                <a:cs typeface="Calibri"/>
              </a:rPr>
              <a:t>Avisar al usuario aunque la app esté cerrada</a:t>
            </a:r>
            <a:endParaRPr lang="en-US" sz="1200"/>
          </a:p>
        </p:txBody>
      </p:sp>
      <p:sp>
        <p:nvSpPr>
          <p:cNvPr id="749291478" name="Shape 17"/>
          <p:cNvSpPr/>
          <p:nvPr/>
        </p:nvSpPr>
        <p:spPr bwMode="auto">
          <a:xfrm>
            <a:off x="2880360" y="3246120"/>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481260402" name="Text 18"/>
          <p:cNvSpPr txBox="1"/>
          <p:nvPr/>
        </p:nvSpPr>
        <p:spPr bwMode="auto">
          <a:xfrm>
            <a:off x="3136392" y="3209544"/>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Base de datos local (Room)</a:t>
            </a:r>
            <a:endParaRPr lang="en-US" sz="1200"/>
          </a:p>
          <a:p>
            <a:pPr marL="0" indent="0">
              <a:lnSpc>
                <a:spcPct val="105000"/>
              </a:lnSpc>
              <a:buNone/>
              <a:defRPr/>
            </a:pPr>
            <a:r>
              <a:rPr lang="en-US" sz="1100">
                <a:solidFill>
                  <a:srgbClr val="5F6368"/>
                </a:solidFill>
                <a:latin typeface="Calibri"/>
                <a:ea typeface="Calibri"/>
                <a:cs typeface="Calibri"/>
              </a:rPr>
              <a:t>Guardar datos y funcionar sin internet</a:t>
            </a:r>
            <a:endParaRPr lang="en-US" sz="1200"/>
          </a:p>
        </p:txBody>
      </p:sp>
      <p:sp>
        <p:nvSpPr>
          <p:cNvPr id="382528798" name="Shape 19"/>
          <p:cNvSpPr/>
          <p:nvPr/>
        </p:nvSpPr>
        <p:spPr bwMode="auto">
          <a:xfrm>
            <a:off x="7434072" y="3246120"/>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002547741" name="Text 20"/>
          <p:cNvSpPr txBox="1"/>
          <p:nvPr/>
        </p:nvSpPr>
        <p:spPr bwMode="auto">
          <a:xfrm>
            <a:off x="7690104" y="3209544"/>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Consumo de API (Retrofit)</a:t>
            </a:r>
            <a:endParaRPr lang="en-US" sz="1200"/>
          </a:p>
          <a:p>
            <a:pPr marL="0" indent="0">
              <a:lnSpc>
                <a:spcPct val="105000"/>
              </a:lnSpc>
              <a:buNone/>
              <a:defRPr/>
            </a:pPr>
            <a:r>
              <a:rPr lang="en-US" sz="1100">
                <a:solidFill>
                  <a:srgbClr val="5F6368"/>
                </a:solidFill>
                <a:latin typeface="Calibri"/>
                <a:ea typeface="Calibri"/>
                <a:cs typeface="Calibri"/>
              </a:rPr>
              <a:t>Traer y enviar datos a un servicio web</a:t>
            </a:r>
            <a:endParaRPr lang="en-US" sz="1200"/>
          </a:p>
        </p:txBody>
      </p:sp>
      <p:sp>
        <p:nvSpPr>
          <p:cNvPr id="1582563687" name="Shape 21"/>
          <p:cNvSpPr/>
          <p:nvPr/>
        </p:nvSpPr>
        <p:spPr bwMode="auto">
          <a:xfrm>
            <a:off x="2880360" y="3959352"/>
            <a:ext cx="155448" cy="155448"/>
          </a:xfrm>
          <a:prstGeom prst="rect">
            <a:avLst/>
          </a:prstGeom>
          <a:solidFill>
            <a:srgbClr val="FFFFFF"/>
          </a:solidFill>
          <a:ln w="15875">
            <a:solidFill>
              <a:srgbClr val="AECBFA"/>
            </a:solidFill>
            <a:prstDash val="solid"/>
          </a:ln>
        </p:spPr>
      </p:sp>
      <p:sp>
        <p:nvSpPr>
          <p:cNvPr id="1613348303" name="Text 22"/>
          <p:cNvSpPr txBox="1"/>
          <p:nvPr/>
        </p:nvSpPr>
        <p:spPr bwMode="auto">
          <a:xfrm>
            <a:off x="3136392" y="3922776"/>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Biometría</a:t>
            </a:r>
            <a:endParaRPr lang="en-US" sz="1200"/>
          </a:p>
          <a:p>
            <a:pPr marL="0" indent="0">
              <a:lnSpc>
                <a:spcPct val="105000"/>
              </a:lnSpc>
              <a:buNone/>
              <a:defRPr/>
            </a:pPr>
            <a:r>
              <a:rPr lang="en-US" sz="1100">
                <a:solidFill>
                  <a:srgbClr val="5F6368"/>
                </a:solidFill>
                <a:latin typeface="Calibri"/>
                <a:ea typeface="Calibri"/>
                <a:cs typeface="Calibri"/>
              </a:rPr>
              <a:t>Ingresar con huella o rostro</a:t>
            </a:r>
            <a:endParaRPr lang="en-US" sz="1200"/>
          </a:p>
        </p:txBody>
      </p:sp>
      <p:sp>
        <p:nvSpPr>
          <p:cNvPr id="1875430083" name="Shape 23"/>
          <p:cNvSpPr/>
          <p:nvPr/>
        </p:nvSpPr>
        <p:spPr bwMode="auto">
          <a:xfrm>
            <a:off x="7434072" y="3959352"/>
            <a:ext cx="155448" cy="155448"/>
          </a:xfrm>
          <a:prstGeom prst="rect">
            <a:avLst/>
          </a:prstGeom>
          <a:solidFill>
            <a:srgbClr val="FFFFFF"/>
          </a:solidFill>
          <a:ln w="15875">
            <a:solidFill>
              <a:srgbClr val="AECBFA"/>
            </a:solidFill>
            <a:prstDash val="solid"/>
          </a:ln>
        </p:spPr>
      </p:sp>
      <p:sp>
        <p:nvSpPr>
          <p:cNvPr id="1312166933" name="Text 24"/>
          <p:cNvSpPr txBox="1"/>
          <p:nvPr/>
        </p:nvSpPr>
        <p:spPr bwMode="auto">
          <a:xfrm>
            <a:off x="7690104" y="3922776"/>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Bluetooth / BLE / NFC</a:t>
            </a:r>
            <a:endParaRPr lang="en-US" sz="1200"/>
          </a:p>
          <a:p>
            <a:pPr marL="0" indent="0">
              <a:lnSpc>
                <a:spcPct val="105000"/>
              </a:lnSpc>
              <a:buNone/>
              <a:defRPr/>
            </a:pPr>
            <a:r>
              <a:rPr lang="en-US" sz="1100">
                <a:solidFill>
                  <a:srgbClr val="5F6368"/>
                </a:solidFill>
                <a:latin typeface="Calibri"/>
                <a:ea typeface="Calibri"/>
                <a:cs typeface="Calibri"/>
              </a:rPr>
              <a:t>Conectar con otros equipos o leer tarjetas</a:t>
            </a:r>
            <a:endParaRPr lang="en-US" sz="1200"/>
          </a:p>
        </p:txBody>
      </p:sp>
      <p:sp>
        <p:nvSpPr>
          <p:cNvPr id="1384240117" name="Text 26"/>
          <p:cNvSpPr txBox="1"/>
          <p:nvPr/>
        </p:nvSpPr>
        <p:spPr bwMode="auto">
          <a:xfrm>
            <a:off x="3136392" y="4636008"/>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Micrófono y voz</a:t>
            </a:r>
            <a:endParaRPr lang="en-US" sz="1200"/>
          </a:p>
          <a:p>
            <a:pPr marL="0" indent="0">
              <a:lnSpc>
                <a:spcPct val="105000"/>
              </a:lnSpc>
              <a:buNone/>
              <a:defRPr/>
            </a:pPr>
            <a:r>
              <a:rPr lang="en-US" sz="1100">
                <a:solidFill>
                  <a:srgbClr val="5F6368"/>
                </a:solidFill>
                <a:latin typeface="Calibri"/>
                <a:ea typeface="Calibri"/>
                <a:cs typeface="Calibri"/>
              </a:rPr>
              <a:t>Grabar audio o dictar texto</a:t>
            </a:r>
            <a:endParaRPr lang="en-US" sz="1200"/>
          </a:p>
        </p:txBody>
      </p:sp>
      <p:sp>
        <p:nvSpPr>
          <p:cNvPr id="934148992" name="Shape 27"/>
          <p:cNvSpPr/>
          <p:nvPr/>
        </p:nvSpPr>
        <p:spPr bwMode="auto">
          <a:xfrm>
            <a:off x="7434072" y="4672584"/>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955597590" name="Text 28"/>
          <p:cNvSpPr txBox="1"/>
          <p:nvPr/>
        </p:nvSpPr>
        <p:spPr bwMode="auto">
          <a:xfrm>
            <a:off x="7690104" y="4636008"/>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ML Kit / Gemini</a:t>
            </a:r>
            <a:endParaRPr lang="en-US" sz="1200"/>
          </a:p>
          <a:p>
            <a:pPr marL="0" indent="0">
              <a:lnSpc>
                <a:spcPct val="105000"/>
              </a:lnSpc>
              <a:buNone/>
              <a:defRPr/>
            </a:pPr>
            <a:r>
              <a:rPr lang="en-US" sz="1100">
                <a:solidFill>
                  <a:srgbClr val="5F6368"/>
                </a:solidFill>
                <a:latin typeface="Calibri"/>
                <a:ea typeface="Calibri"/>
                <a:cs typeface="Calibri"/>
              </a:rPr>
              <a:t>Reconocer texto e imágenes, generar contenido</a:t>
            </a:r>
            <a:endParaRPr lang="en-US" sz="1200"/>
          </a:p>
        </p:txBody>
      </p:sp>
      <p:sp>
        <p:nvSpPr>
          <p:cNvPr id="1958844032" name="Shape 29"/>
          <p:cNvSpPr/>
          <p:nvPr/>
        </p:nvSpPr>
        <p:spPr bwMode="auto">
          <a:xfrm>
            <a:off x="2880360" y="5385816"/>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875742852" name="Text 30"/>
          <p:cNvSpPr txBox="1"/>
          <p:nvPr/>
        </p:nvSpPr>
        <p:spPr bwMode="auto">
          <a:xfrm>
            <a:off x="3136392" y="5349240"/>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WorkManager</a:t>
            </a:r>
            <a:endParaRPr lang="en-US" sz="1200"/>
          </a:p>
          <a:p>
            <a:pPr marL="0" indent="0">
              <a:lnSpc>
                <a:spcPct val="105000"/>
              </a:lnSpc>
              <a:buNone/>
              <a:defRPr/>
            </a:pPr>
            <a:r>
              <a:rPr lang="en-US" sz="1100">
                <a:solidFill>
                  <a:srgbClr val="5F6368"/>
                </a:solidFill>
                <a:latin typeface="Calibri"/>
                <a:ea typeface="Calibri"/>
                <a:cs typeface="Calibri"/>
              </a:rPr>
              <a:t>Tareas en segundo plano y sincronización</a:t>
            </a:r>
            <a:endParaRPr lang="en-US" sz="1200"/>
          </a:p>
        </p:txBody>
      </p:sp>
      <p:sp>
        <p:nvSpPr>
          <p:cNvPr id="1694038440" name="Shape 31"/>
          <p:cNvSpPr/>
          <p:nvPr/>
        </p:nvSpPr>
        <p:spPr bwMode="auto">
          <a:xfrm>
            <a:off x="7434072" y="5385816"/>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795847436" name="Text 32"/>
          <p:cNvSpPr txBox="1"/>
          <p:nvPr/>
        </p:nvSpPr>
        <p:spPr bwMode="auto">
          <a:xfrm>
            <a:off x="7690104" y="5349240"/>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Intents y compartir</a:t>
            </a:r>
            <a:endParaRPr lang="en-US" sz="1200"/>
          </a:p>
          <a:p>
            <a:pPr marL="0" indent="0">
              <a:lnSpc>
                <a:spcPct val="105000"/>
              </a:lnSpc>
              <a:buNone/>
              <a:defRPr/>
            </a:pPr>
            <a:r>
              <a:rPr lang="en-US" sz="1100">
                <a:solidFill>
                  <a:srgbClr val="5F6368"/>
                </a:solidFill>
                <a:latin typeface="Calibri"/>
                <a:ea typeface="Calibri"/>
                <a:cs typeface="Calibri"/>
              </a:rPr>
              <a:t>Enviar datos a otras apps, abrir enlaces</a:t>
            </a:r>
            <a:endParaRPr lang="en-US" sz="1200"/>
          </a:p>
        </p:txBody>
      </p:sp>
      <p:sp>
        <p:nvSpPr>
          <p:cNvPr id="773235419" name="Shape 33"/>
          <p:cNvSpPr/>
          <p:nvPr/>
        </p:nvSpPr>
        <p:spPr bwMode="auto">
          <a:xfrm>
            <a:off x="2880360" y="6099048"/>
            <a:ext cx="155448" cy="155448"/>
          </a:xfrm>
          <a:prstGeom prst="rect">
            <a:avLst/>
          </a:prstGeom>
          <a:solidFill>
            <a:srgbClr val="FFFFFF"/>
          </a:solidFill>
          <a:ln w="15875">
            <a:solidFill>
              <a:srgbClr val="AECBFA"/>
            </a:solidFill>
            <a:prstDash val="solid"/>
          </a:ln>
        </p:spPr>
      </p:sp>
      <p:sp>
        <p:nvSpPr>
          <p:cNvPr id="267687114" name="Text 34"/>
          <p:cNvSpPr txBox="1"/>
          <p:nvPr/>
        </p:nvSpPr>
        <p:spPr bwMode="auto">
          <a:xfrm>
            <a:off x="3136392" y="6062471"/>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Widgets y accesos directos</a:t>
            </a:r>
            <a:endParaRPr lang="en-US" sz="1200"/>
          </a:p>
          <a:p>
            <a:pPr marL="0" indent="0">
              <a:lnSpc>
                <a:spcPct val="105000"/>
              </a:lnSpc>
              <a:buNone/>
              <a:defRPr/>
            </a:pPr>
            <a:r>
              <a:rPr lang="en-US" sz="1100">
                <a:solidFill>
                  <a:srgbClr val="5F6368"/>
                </a:solidFill>
                <a:latin typeface="Calibri"/>
                <a:ea typeface="Calibri"/>
                <a:cs typeface="Calibri"/>
              </a:rPr>
              <a:t>Mostrar información en la pantalla de inicio</a:t>
            </a:r>
            <a:endParaRPr lang="en-US" sz="1200"/>
          </a:p>
        </p:txBody>
      </p:sp>
      <p:sp>
        <p:nvSpPr>
          <p:cNvPr id="1131224957" name="Shape 35"/>
          <p:cNvSpPr/>
          <p:nvPr/>
        </p:nvSpPr>
        <p:spPr bwMode="auto">
          <a:xfrm>
            <a:off x="7434072" y="6099048"/>
            <a:ext cx="155448" cy="155448"/>
          </a:xfrm>
          <a:prstGeom prst="rect">
            <a:avLst/>
          </a:prstGeom>
          <a:solidFill>
            <a:srgbClr val="FFFFFF"/>
          </a:solidFill>
          <a:ln w="15875">
            <a:solidFill>
              <a:srgbClr val="AECBFA"/>
            </a:solidFill>
            <a:prstDash val="solid"/>
          </a:ln>
        </p:spPr>
      </p:sp>
      <p:sp>
        <p:nvSpPr>
          <p:cNvPr id="1008105773" name="Text 36"/>
          <p:cNvSpPr txBox="1"/>
          <p:nvPr/>
        </p:nvSpPr>
        <p:spPr bwMode="auto">
          <a:xfrm>
            <a:off x="7690104" y="6062471"/>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Otra:</a:t>
            </a:r>
            <a:endParaRPr lang="en-US" sz="1200"/>
          </a:p>
          <a:p>
            <a:pPr marL="0" indent="0">
              <a:lnSpc>
                <a:spcPct val="105000"/>
              </a:lnSpc>
              <a:buNone/>
              <a:defRPr/>
            </a:pPr>
            <a:r>
              <a:rPr lang="en-US" sz="1100">
                <a:solidFill>
                  <a:srgbClr val="5F6368"/>
                </a:solidFill>
                <a:latin typeface="Calibri"/>
                <a:ea typeface="Calibri"/>
                <a:cs typeface="Calibri"/>
              </a:rPr>
              <a:t>Márcala y anótala en el cuadro de abajo</a:t>
            </a:r>
            <a:endParaRPr lang="en-US" sz="1200"/>
          </a:p>
        </p:txBody>
      </p:sp>
      <p:sp>
        <p:nvSpPr>
          <p:cNvPr id="698814178" name="Text 37"/>
          <p:cNvSpPr txBox="1"/>
          <p:nvPr/>
        </p:nvSpPr>
        <p:spPr bwMode="auto">
          <a:xfrm>
            <a:off x="2880360" y="6903720"/>
            <a:ext cx="8851392" cy="237744"/>
          </a:xfrm>
          <a:prstGeom prst="rect">
            <a:avLst/>
          </a:prstGeom>
          <a:noFill/>
          <a:ln/>
        </p:spPr>
        <p:txBody>
          <a:bodyPr wrap="square" lIns="0" tIns="0" rIns="0" bIns="0" rtlCol="0" anchor="t"/>
          <a:lstStyle/>
          <a:p>
            <a:pPr marL="0" indent="0">
              <a:buNone/>
              <a:defRPr/>
            </a:pPr>
            <a:r>
              <a:rPr lang="en-US" sz="1200" b="1">
                <a:solidFill>
                  <a:srgbClr val="1967D2"/>
                </a:solidFill>
                <a:latin typeface="Arial"/>
                <a:ea typeface="Arial"/>
                <a:cs typeface="Arial"/>
              </a:rPr>
              <a:t>Permisos que pediré, cómo se los explicaré al usuario y otras funciones que necesito</a:t>
            </a:r>
            <a:endParaRPr lang="en-US" sz="1200"/>
          </a:p>
        </p:txBody>
      </p:sp>
      <p:sp>
        <p:nvSpPr>
          <p:cNvPr id="487027819" name="Text 38"/>
          <p:cNvSpPr txBox="1"/>
          <p:nvPr/>
        </p:nvSpPr>
        <p:spPr bwMode="auto">
          <a:xfrm>
            <a:off x="2880359" y="7178038"/>
            <a:ext cx="8851392" cy="132588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Son capacidades propuestas, no del MVP actual. API móvil/web para aprendizaje y asistencia; Room/WorkManager pueden conservar borradores de planificación o justificaciones y sincronizarlos. La asistencia oficial y las notas se confirman en servidor, con reintento si falla la red. Gemini puede sugerir refuerzos, revisados por el docente. Apoderados solo ven estudiantes vinculados; avisos de llegada requieren preferencias y POST_NOTIFICATIONS. Adjuntos usan el selector de Android. SIAGIE: vía oficial por confirmar; no guardar credenciales ni depender de extensiones no validadas.</a:t>
            </a:r>
            <a:endParaRPr sz="1000" b="0">
              <a:solidFill>
                <a:srgbClr val="303A42"/>
              </a:solidFill>
              <a:latin typeface="Calibri"/>
            </a:endParaRPr>
          </a:p>
          <a:p>
            <a:pPr marL="0" indent="0" algn="l">
              <a:buNone/>
              <a:defRPr/>
            </a:pPr>
            <a:r>
              <a:rPr lang="es-ES" sz="1000" b="0">
                <a:solidFill>
                  <a:srgbClr val="303A42"/>
                </a:solidFill>
                <a:latin typeface="Calibri"/>
              </a:rPr>
              <a:t>Integrar la ia para toma de desiciones para docentes, resumenes y deteccion de problemas.</a:t>
            </a:r>
            <a:endParaRPr lang="en-US" sz="1300"/>
          </a:p>
        </p:txBody>
      </p:sp>
      <p:sp>
        <p:nvSpPr>
          <p:cNvPr id="1362852282" name="Text 39"/>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10</a:t>
            </a:r>
            <a:endParaRPr lang="en-US" sz="1000"/>
          </a:p>
        </p:txBody>
      </p:sp>
      <p:sp>
        <p:nvSpPr>
          <p:cNvPr id="952117386" name="Shape 31"/>
          <p:cNvSpPr/>
          <p:nvPr/>
        </p:nvSpPr>
        <p:spPr bwMode="auto">
          <a:xfrm>
            <a:off x="2880360" y="4672584"/>
            <a:ext cx="155447" cy="155447"/>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276884116" name="Shape 31"/>
          <p:cNvSpPr/>
          <p:nvPr/>
        </p:nvSpPr>
        <p:spPr bwMode="auto">
          <a:xfrm>
            <a:off x="7431023" y="6099048"/>
            <a:ext cx="155447" cy="155447"/>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1792925898" name="Shape 0"/>
          <p:cNvSpPr/>
          <p:nvPr/>
        </p:nvSpPr>
        <p:spPr bwMode="auto">
          <a:xfrm>
            <a:off x="0" y="0"/>
            <a:ext cx="2514600" cy="9144000"/>
          </a:xfrm>
          <a:prstGeom prst="rect">
            <a:avLst/>
          </a:prstGeom>
          <a:solidFill>
            <a:srgbClr val="1967D2"/>
          </a:solidFill>
          <a:ln/>
        </p:spPr>
      </p:sp>
      <p:sp>
        <p:nvSpPr>
          <p:cNvPr id="803817282"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2</a:t>
            </a:r>
            <a:endParaRPr lang="en-US" sz="1100"/>
          </a:p>
        </p:txBody>
      </p:sp>
      <p:sp>
        <p:nvSpPr>
          <p:cNvPr id="1212045394"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Planifica</a:t>
            </a:r>
            <a:endParaRPr lang="en-US" sz="2600"/>
          </a:p>
        </p:txBody>
      </p:sp>
      <p:sp>
        <p:nvSpPr>
          <p:cNvPr id="182421296"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BDDFA"/>
                </a:solidFill>
                <a:latin typeface="Calibri"/>
                <a:ea typeface="Calibri"/>
                <a:cs typeface="Calibri"/>
              </a:rPr>
              <a:t>Acciones del usuario</a:t>
            </a:r>
            <a:endParaRPr lang="en-US" sz="1300"/>
          </a:p>
          <a:p>
            <a:pPr marL="0" indent="0">
              <a:spcAft>
                <a:spcPts val="800"/>
              </a:spcAft>
              <a:buNone/>
              <a:defRPr/>
            </a:pPr>
            <a:r>
              <a:rPr lang="en-US" sz="1300">
                <a:solidFill>
                  <a:srgbClr val="CBDDFA"/>
                </a:solidFill>
                <a:latin typeface="Calibri"/>
                <a:ea typeface="Calibri"/>
                <a:cs typeface="Calibri"/>
              </a:rPr>
              <a:t>Entradas y estado</a:t>
            </a:r>
            <a:endParaRPr lang="en-US" sz="1300"/>
          </a:p>
          <a:p>
            <a:pPr marL="0" indent="0">
              <a:spcAft>
                <a:spcPts val="800"/>
              </a:spcAft>
              <a:buNone/>
              <a:defRPr/>
            </a:pPr>
            <a:r>
              <a:rPr lang="en-US" sz="1300">
                <a:solidFill>
                  <a:srgbClr val="CBDDFA"/>
                </a:solidFill>
                <a:latin typeface="Calibri"/>
                <a:ea typeface="Calibri"/>
                <a:cs typeface="Calibri"/>
              </a:rPr>
              <a:t>Funciones del equipo</a:t>
            </a:r>
            <a:endParaRPr lang="en-US" sz="1300"/>
          </a:p>
          <a:p>
            <a:pPr marL="0" indent="0">
              <a:spcAft>
                <a:spcPts val="800"/>
              </a:spcAft>
              <a:buNone/>
              <a:defRPr/>
            </a:pPr>
            <a:r>
              <a:rPr lang="en-US" sz="1300" b="1">
                <a:solidFill>
                  <a:srgbClr val="FFFFFF"/>
                </a:solidFill>
                <a:latin typeface="Calibri"/>
                <a:ea typeface="Calibri"/>
                <a:cs typeface="Calibri"/>
              </a:rPr>
              <a:t>Diseño inclusivo</a:t>
            </a:r>
            <a:endParaRPr lang="en-US" sz="1300"/>
          </a:p>
        </p:txBody>
      </p:sp>
      <p:sp>
        <p:nvSpPr>
          <p:cNvPr id="1242421958" name="Shape 4"/>
          <p:cNvSpPr/>
          <p:nvPr/>
        </p:nvSpPr>
        <p:spPr bwMode="auto">
          <a:xfrm>
            <a:off x="320040" y="7269480"/>
            <a:ext cx="1005840" cy="0"/>
          </a:xfrm>
          <a:prstGeom prst="line">
            <a:avLst/>
          </a:prstGeom>
          <a:noFill/>
          <a:ln w="19050">
            <a:solidFill>
              <a:srgbClr val="FFFFFF"/>
            </a:solidFill>
            <a:prstDash val="solid"/>
          </a:ln>
        </p:spPr>
      </p:sp>
      <p:sp>
        <p:nvSpPr>
          <p:cNvPr id="49637472"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PRUÉBALO</a:t>
            </a:r>
            <a:endParaRPr lang="en-US" sz="1000"/>
          </a:p>
        </p:txBody>
      </p:sp>
      <p:sp>
        <p:nvSpPr>
          <p:cNvPr id="518266273"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Activa TalkBack en tu celular y navega tu app con los ojos cerrados. Ahí se ve todo lo que falta.</a:t>
            </a:r>
            <a:endParaRPr lang="en-US" sz="1100"/>
          </a:p>
        </p:txBody>
      </p:sp>
      <p:sp>
        <p:nvSpPr>
          <p:cNvPr id="1387067822"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Diseño inclusivo en mi app</a:t>
            </a:r>
            <a:endParaRPr lang="en-US" sz="2500"/>
          </a:p>
        </p:txBody>
      </p:sp>
      <p:sp>
        <p:nvSpPr>
          <p:cNvPr id="439844356" name="Text 8"/>
          <p:cNvSpPr txBox="1"/>
          <p:nvPr/>
        </p:nvSpPr>
        <p:spPr bwMode="auto">
          <a:xfrm>
            <a:off x="2880360" y="1051560"/>
            <a:ext cx="8851392" cy="54864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Una app inclusiva sirve a la mayor cantidad de personas posible: quien ve poco, quien no escucha, quien tiene una mano ocupada, quien está apurado o con mala señal. Marca lo que vas a cuidar en tu diseño.</a:t>
            </a:r>
            <a:endParaRPr lang="en-US" sz="1400"/>
          </a:p>
        </p:txBody>
      </p:sp>
      <p:sp>
        <p:nvSpPr>
          <p:cNvPr id="1365337154" name="Shape 9"/>
          <p:cNvSpPr/>
          <p:nvPr/>
        </p:nvSpPr>
        <p:spPr bwMode="auto">
          <a:xfrm>
            <a:off x="2880360" y="1773936"/>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975823934" name="Text 10"/>
          <p:cNvSpPr txBox="1"/>
          <p:nvPr/>
        </p:nvSpPr>
        <p:spPr bwMode="auto">
          <a:xfrm>
            <a:off x="3136392" y="1737360"/>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Lenguaje claro</a:t>
            </a:r>
            <a:endParaRPr lang="en-US" sz="1200"/>
          </a:p>
          <a:p>
            <a:pPr marL="0" indent="0">
              <a:lnSpc>
                <a:spcPct val="105000"/>
              </a:lnSpc>
              <a:buNone/>
              <a:defRPr/>
            </a:pPr>
            <a:r>
              <a:rPr lang="en-US" sz="1100">
                <a:solidFill>
                  <a:srgbClr val="5F6368"/>
                </a:solidFill>
                <a:latin typeface="Calibri"/>
                <a:ea typeface="Calibri"/>
                <a:cs typeface="Calibri"/>
              </a:rPr>
              <a:t>Textos cortos, sin tecnicismos; un objetivo por pantalla</a:t>
            </a:r>
            <a:endParaRPr lang="en-US" sz="1200"/>
          </a:p>
        </p:txBody>
      </p:sp>
      <p:sp>
        <p:nvSpPr>
          <p:cNvPr id="1830857683" name="Shape 11"/>
          <p:cNvSpPr/>
          <p:nvPr/>
        </p:nvSpPr>
        <p:spPr bwMode="auto">
          <a:xfrm>
            <a:off x="7434072" y="1773936"/>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735524408" name="Text 12"/>
          <p:cNvSpPr txBox="1"/>
          <p:nvPr/>
        </p:nvSpPr>
        <p:spPr bwMode="auto">
          <a:xfrm>
            <a:off x="7690104" y="1737360"/>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Descripciones para TalkBack</a:t>
            </a:r>
            <a:endParaRPr lang="en-US" sz="1200"/>
          </a:p>
          <a:p>
            <a:pPr marL="0" indent="0">
              <a:lnSpc>
                <a:spcPct val="105000"/>
              </a:lnSpc>
              <a:buNone/>
              <a:defRPr/>
            </a:pPr>
            <a:r>
              <a:rPr lang="en-US" sz="1100">
                <a:solidFill>
                  <a:srgbClr val="5F6368"/>
                </a:solidFill>
                <a:latin typeface="Calibri"/>
                <a:ea typeface="Calibri"/>
                <a:cs typeface="Calibri"/>
              </a:rPr>
              <a:t>contentDescription en cada ícono e imagen con significado</a:t>
            </a:r>
            <a:endParaRPr lang="en-US" sz="1200"/>
          </a:p>
        </p:txBody>
      </p:sp>
      <p:sp>
        <p:nvSpPr>
          <p:cNvPr id="1017422372" name="Shape 13"/>
          <p:cNvSpPr/>
          <p:nvPr/>
        </p:nvSpPr>
        <p:spPr bwMode="auto">
          <a:xfrm>
            <a:off x="2880360" y="2523744"/>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940350735" name="Text 14"/>
          <p:cNvSpPr txBox="1"/>
          <p:nvPr/>
        </p:nvSpPr>
        <p:spPr bwMode="auto">
          <a:xfrm>
            <a:off x="3136392" y="2487168"/>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Contraste suficiente</a:t>
            </a:r>
            <a:endParaRPr lang="en-US" sz="1200"/>
          </a:p>
          <a:p>
            <a:pPr marL="0" indent="0">
              <a:lnSpc>
                <a:spcPct val="105000"/>
              </a:lnSpc>
              <a:buNone/>
              <a:defRPr/>
            </a:pPr>
            <a:r>
              <a:rPr lang="en-US" sz="1100">
                <a:solidFill>
                  <a:srgbClr val="5F6368"/>
                </a:solidFill>
                <a:latin typeface="Calibri"/>
                <a:ea typeface="Calibri"/>
                <a:cs typeface="Calibri"/>
              </a:rPr>
              <a:t>Al menos 4.5:1 entre texto y fondo; probado en claro y oscuro</a:t>
            </a:r>
            <a:endParaRPr lang="en-US" sz="1200"/>
          </a:p>
        </p:txBody>
      </p:sp>
      <p:sp>
        <p:nvSpPr>
          <p:cNvPr id="123142540" name="Shape 15"/>
          <p:cNvSpPr/>
          <p:nvPr/>
        </p:nvSpPr>
        <p:spPr bwMode="auto">
          <a:xfrm>
            <a:off x="7434072" y="2523744"/>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287984942" name="Text 16"/>
          <p:cNvSpPr txBox="1"/>
          <p:nvPr/>
        </p:nvSpPr>
        <p:spPr bwMode="auto">
          <a:xfrm>
            <a:off x="7690104" y="2487168"/>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Texto escalable</a:t>
            </a:r>
            <a:endParaRPr lang="en-US" sz="1200"/>
          </a:p>
          <a:p>
            <a:pPr marL="0" indent="0">
              <a:lnSpc>
                <a:spcPct val="105000"/>
              </a:lnSpc>
              <a:buNone/>
              <a:defRPr/>
            </a:pPr>
            <a:r>
              <a:rPr lang="en-US" sz="1100">
                <a:solidFill>
                  <a:srgbClr val="5F6368"/>
                </a:solidFill>
                <a:latin typeface="Calibri"/>
                <a:ea typeface="Calibri"/>
                <a:cs typeface="Calibri"/>
              </a:rPr>
              <a:t>Usar sp y respetar el tamaño de fuente del sistema</a:t>
            </a:r>
            <a:endParaRPr lang="en-US" sz="1200"/>
          </a:p>
        </p:txBody>
      </p:sp>
      <p:sp>
        <p:nvSpPr>
          <p:cNvPr id="468438434" name="Shape 17"/>
          <p:cNvSpPr/>
          <p:nvPr/>
        </p:nvSpPr>
        <p:spPr bwMode="auto">
          <a:xfrm>
            <a:off x="2880360" y="3273552"/>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239525413" name="Text 18"/>
          <p:cNvSpPr txBox="1"/>
          <p:nvPr/>
        </p:nvSpPr>
        <p:spPr bwMode="auto">
          <a:xfrm>
            <a:off x="3136392" y="3236976"/>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Áreas táctiles cómodas</a:t>
            </a:r>
            <a:endParaRPr lang="en-US" sz="1200"/>
          </a:p>
          <a:p>
            <a:pPr marL="0" indent="0">
              <a:lnSpc>
                <a:spcPct val="105000"/>
              </a:lnSpc>
              <a:buNone/>
              <a:defRPr/>
            </a:pPr>
            <a:r>
              <a:rPr lang="en-US" sz="1100">
                <a:solidFill>
                  <a:srgbClr val="5F6368"/>
                </a:solidFill>
                <a:latin typeface="Calibri"/>
                <a:ea typeface="Calibri"/>
                <a:cs typeface="Calibri"/>
              </a:rPr>
              <a:t>Mínimo 48dp por botón, con espacio entre ellos</a:t>
            </a:r>
            <a:endParaRPr lang="en-US" sz="1200"/>
          </a:p>
        </p:txBody>
      </p:sp>
      <p:sp>
        <p:nvSpPr>
          <p:cNvPr id="333276875" name="Shape 19"/>
          <p:cNvSpPr/>
          <p:nvPr/>
        </p:nvSpPr>
        <p:spPr bwMode="auto">
          <a:xfrm>
            <a:off x="7434072" y="3273552"/>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683669666" name="Text 20"/>
          <p:cNvSpPr txBox="1"/>
          <p:nvPr/>
        </p:nvSpPr>
        <p:spPr bwMode="auto">
          <a:xfrm>
            <a:off x="7690104" y="3236976"/>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No depender solo del color</a:t>
            </a:r>
            <a:endParaRPr lang="en-US" sz="1200"/>
          </a:p>
          <a:p>
            <a:pPr marL="0" indent="0">
              <a:lnSpc>
                <a:spcPct val="105000"/>
              </a:lnSpc>
              <a:buNone/>
              <a:defRPr/>
            </a:pPr>
            <a:r>
              <a:rPr lang="en-US" sz="1100">
                <a:solidFill>
                  <a:srgbClr val="5F6368"/>
                </a:solidFill>
                <a:latin typeface="Calibri"/>
                <a:ea typeface="Calibri"/>
                <a:cs typeface="Calibri"/>
              </a:rPr>
              <a:t>Acompañar el color con ícono, texto o forma</a:t>
            </a:r>
            <a:endParaRPr lang="en-US" sz="1200"/>
          </a:p>
        </p:txBody>
      </p:sp>
      <p:sp>
        <p:nvSpPr>
          <p:cNvPr id="720487196" name="Shape 21"/>
          <p:cNvSpPr/>
          <p:nvPr/>
        </p:nvSpPr>
        <p:spPr bwMode="auto">
          <a:xfrm>
            <a:off x="2880360" y="4023360"/>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740155533" name="Text 22"/>
          <p:cNvSpPr txBox="1"/>
          <p:nvPr/>
        </p:nvSpPr>
        <p:spPr bwMode="auto">
          <a:xfrm>
            <a:off x="3136392" y="3986784"/>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Entrada alternativa</a:t>
            </a:r>
            <a:endParaRPr lang="en-US" sz="1200"/>
          </a:p>
          <a:p>
            <a:pPr marL="0" indent="0">
              <a:lnSpc>
                <a:spcPct val="105000"/>
              </a:lnSpc>
              <a:buNone/>
              <a:defRPr/>
            </a:pPr>
            <a:r>
              <a:rPr lang="en-US" sz="1100">
                <a:solidFill>
                  <a:srgbClr val="5F6368"/>
                </a:solidFill>
                <a:latin typeface="Calibri"/>
                <a:ea typeface="Calibri"/>
                <a:cs typeface="Calibri"/>
              </a:rPr>
              <a:t>Que todo se pueda hacer sin gestos complejos</a:t>
            </a:r>
            <a:endParaRPr lang="en-US" sz="1200"/>
          </a:p>
        </p:txBody>
      </p:sp>
      <p:sp>
        <p:nvSpPr>
          <p:cNvPr id="968830745" name="Shape 23"/>
          <p:cNvSpPr/>
          <p:nvPr/>
        </p:nvSpPr>
        <p:spPr bwMode="auto">
          <a:xfrm>
            <a:off x="7434072" y="4023360"/>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1303241109" name="Text 24"/>
          <p:cNvSpPr txBox="1"/>
          <p:nvPr/>
        </p:nvSpPr>
        <p:spPr bwMode="auto">
          <a:xfrm>
            <a:off x="7690104" y="3986784"/>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Estados de carga y error</a:t>
            </a:r>
            <a:endParaRPr lang="en-US" sz="1200"/>
          </a:p>
          <a:p>
            <a:pPr marL="0" indent="0">
              <a:lnSpc>
                <a:spcPct val="105000"/>
              </a:lnSpc>
              <a:buNone/>
              <a:defRPr/>
            </a:pPr>
            <a:r>
              <a:rPr lang="en-US" sz="1100">
                <a:solidFill>
                  <a:srgbClr val="5F6368"/>
                </a:solidFill>
                <a:latin typeface="Calibri"/>
                <a:ea typeface="Calibri"/>
                <a:cs typeface="Calibri"/>
              </a:rPr>
              <a:t>Decir qué pasó y qué puede hacer el usuario</a:t>
            </a:r>
            <a:endParaRPr lang="en-US" sz="1200"/>
          </a:p>
        </p:txBody>
      </p:sp>
      <p:sp>
        <p:nvSpPr>
          <p:cNvPr id="1506277808" name="Shape 25"/>
          <p:cNvSpPr/>
          <p:nvPr/>
        </p:nvSpPr>
        <p:spPr bwMode="auto">
          <a:xfrm>
            <a:off x="2880360" y="4773168"/>
            <a:ext cx="155448" cy="155448"/>
          </a:xfrm>
          <a:prstGeom prst="rect">
            <a:avLst/>
          </a:prstGeom>
          <a:solidFill>
            <a:srgbClr val="1E7D34"/>
          </a:solidFill>
          <a:ln w="15875">
            <a:solidFill>
              <a:srgbClr val="AECBFA"/>
            </a:solidFill>
            <a:prstDash val="solid"/>
          </a:ln>
        </p:spPr>
        <p:txBody>
          <a:bodyPr wrap="square" anchor="ctr"/>
          <a:p>
            <a:pPr algn="ctr">
              <a:defRPr/>
            </a:pPr>
            <a:r>
              <a:rPr sz="1000" b="1">
                <a:solidFill>
                  <a:srgbClr val="FFFFFF"/>
                </a:solidFill>
                <a:latin typeface="Calibri"/>
              </a:rPr>
              <a:t>✓</a:t>
            </a:r>
            <a:endParaRPr/>
          </a:p>
        </p:txBody>
      </p:sp>
      <p:sp>
        <p:nvSpPr>
          <p:cNvPr id="745049517" name="Text 26"/>
          <p:cNvSpPr txBox="1"/>
          <p:nvPr/>
        </p:nvSpPr>
        <p:spPr bwMode="auto">
          <a:xfrm>
            <a:off x="3136392" y="4736592"/>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Funciona con poca señal</a:t>
            </a:r>
            <a:endParaRPr lang="en-US" sz="1200"/>
          </a:p>
          <a:p>
            <a:pPr marL="0" indent="0">
              <a:lnSpc>
                <a:spcPct val="105000"/>
              </a:lnSpc>
              <a:buNone/>
              <a:defRPr/>
            </a:pPr>
            <a:r>
              <a:rPr lang="en-US" sz="1100">
                <a:solidFill>
                  <a:srgbClr val="5F6368"/>
                </a:solidFill>
                <a:latin typeface="Calibri"/>
                <a:ea typeface="Calibri"/>
                <a:cs typeface="Calibri"/>
              </a:rPr>
              <a:t>Guardar en local y sincronizar después</a:t>
            </a:r>
            <a:endParaRPr lang="en-US" sz="1200"/>
          </a:p>
        </p:txBody>
      </p:sp>
      <p:sp>
        <p:nvSpPr>
          <p:cNvPr id="1516126523" name="Shape 27"/>
          <p:cNvSpPr/>
          <p:nvPr/>
        </p:nvSpPr>
        <p:spPr bwMode="auto">
          <a:xfrm>
            <a:off x="7434072" y="4773168"/>
            <a:ext cx="155448" cy="155448"/>
          </a:xfrm>
          <a:prstGeom prst="rect">
            <a:avLst/>
          </a:prstGeom>
          <a:solidFill>
            <a:srgbClr val="FFFFFF"/>
          </a:solidFill>
          <a:ln w="15875">
            <a:solidFill>
              <a:srgbClr val="AECBFA"/>
            </a:solidFill>
            <a:prstDash val="solid"/>
          </a:ln>
        </p:spPr>
      </p:sp>
      <p:sp>
        <p:nvSpPr>
          <p:cNvPr id="2678226" name="Text 28"/>
          <p:cNvSpPr txBox="1"/>
          <p:nvPr/>
        </p:nvSpPr>
        <p:spPr bwMode="auto">
          <a:xfrm>
            <a:off x="7690104" y="4736592"/>
            <a:ext cx="4041648" cy="566928"/>
          </a:xfrm>
          <a:prstGeom prst="rect">
            <a:avLst/>
          </a:prstGeom>
          <a:noFill/>
          <a:ln/>
        </p:spPr>
        <p:txBody>
          <a:bodyPr wrap="square" lIns="0" tIns="0" rIns="0" bIns="0" rtlCol="0" anchor="t"/>
          <a:lstStyle/>
          <a:p>
            <a:pPr marL="0" indent="0">
              <a:lnSpc>
                <a:spcPct val="105000"/>
              </a:lnSpc>
              <a:buNone/>
              <a:defRPr/>
            </a:pPr>
            <a:r>
              <a:rPr lang="en-US" sz="1200" b="1">
                <a:solidFill>
                  <a:srgbClr val="202124"/>
                </a:solidFill>
                <a:latin typeface="Calibri"/>
                <a:ea typeface="Calibri"/>
                <a:cs typeface="Calibri"/>
              </a:rPr>
              <a:t>Otra:</a:t>
            </a:r>
            <a:endParaRPr lang="en-US" sz="1200"/>
          </a:p>
          <a:p>
            <a:pPr marL="0" indent="0">
              <a:lnSpc>
                <a:spcPct val="105000"/>
              </a:lnSpc>
              <a:buNone/>
              <a:defRPr/>
            </a:pPr>
            <a:r>
              <a:rPr lang="en-US" sz="1100">
                <a:solidFill>
                  <a:srgbClr val="5F6368"/>
                </a:solidFill>
                <a:latin typeface="Calibri"/>
                <a:ea typeface="Calibri"/>
                <a:cs typeface="Calibri"/>
              </a:rPr>
              <a:t>Márcala y explícala en el cuadro de abajo</a:t>
            </a:r>
            <a:endParaRPr lang="en-US" sz="1200"/>
          </a:p>
        </p:txBody>
      </p:sp>
      <p:sp>
        <p:nvSpPr>
          <p:cNvPr id="1905501231" name="Text 29"/>
          <p:cNvSpPr txBox="1"/>
          <p:nvPr/>
        </p:nvSpPr>
        <p:spPr bwMode="auto">
          <a:xfrm>
            <a:off x="2880360" y="5669280"/>
            <a:ext cx="8851392" cy="237744"/>
          </a:xfrm>
          <a:prstGeom prst="rect">
            <a:avLst/>
          </a:prstGeom>
          <a:noFill/>
          <a:ln/>
        </p:spPr>
        <p:txBody>
          <a:bodyPr wrap="square" lIns="0" tIns="0" rIns="0" bIns="0" rtlCol="0" anchor="t"/>
          <a:lstStyle/>
          <a:p>
            <a:pPr marL="0" indent="0">
              <a:buNone/>
              <a:defRPr/>
            </a:pPr>
            <a:r>
              <a:rPr lang="en-US" sz="1200" b="1">
                <a:solidFill>
                  <a:srgbClr val="1967D2"/>
                </a:solidFill>
                <a:latin typeface="Arial"/>
                <a:ea typeface="Arial"/>
                <a:cs typeface="Arial"/>
              </a:rPr>
              <a:t>¿Cómo hará mi app que más personas puedan usarla? Elige dos decisiones y explícalas.</a:t>
            </a:r>
            <a:endParaRPr lang="en-US" sz="1200"/>
          </a:p>
        </p:txBody>
      </p:sp>
      <p:sp>
        <p:nvSpPr>
          <p:cNvPr id="1532887493" name="Text 30"/>
          <p:cNvSpPr txBox="1"/>
          <p:nvPr/>
        </p:nvSpPr>
        <p:spPr bwMode="auto">
          <a:xfrm>
            <a:off x="2880360" y="5943600"/>
            <a:ext cx="8851392" cy="137160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100" b="0">
                <a:solidFill>
                  <a:srgbClr val="303A42"/>
                </a:solidFill>
                <a:latin typeface="Calibri"/>
              </a:rPr>
              <a:t>1) El progreso se muestra por competencia y con evidencias; la brecha sirve para ofrecer apoyo, no para etiquetar. El docente adapta la práctica y la familia ve solo la información de su hijo; evidencia puede ser oral, escrita, observación o producto.</a:t>
            </a:r>
            <a:endParaRPr lang="en-US" sz="1300"/>
          </a:p>
          <a:p>
            <a:pPr algn="l">
              <a:defRPr/>
            </a:pPr>
            <a:r>
              <a:rPr sz="1100" b="0">
                <a:solidFill>
                  <a:srgbClr val="303A42"/>
                </a:solidFill>
                <a:latin typeface="Calibri"/>
              </a:rPr>
              <a:t>2) La comunicación familiar es asincrónica y de bajo consumo; la justificación puede incluir evidencia y muestra si fue recibida/revisada. Se conserva borrador offline y se indica la sincronización.</a:t>
            </a:r>
            <a:endParaRPr/>
          </a:p>
        </p:txBody>
      </p:sp>
      <p:sp>
        <p:nvSpPr>
          <p:cNvPr id="1175000189" name="Text 31"/>
          <p:cNvSpPr txBox="1"/>
          <p:nvPr/>
        </p:nvSpPr>
        <p:spPr bwMode="auto">
          <a:xfrm>
            <a:off x="2880360" y="7543800"/>
            <a:ext cx="8851392" cy="237744"/>
          </a:xfrm>
          <a:prstGeom prst="rect">
            <a:avLst/>
          </a:prstGeom>
          <a:noFill/>
          <a:ln/>
        </p:spPr>
        <p:txBody>
          <a:bodyPr wrap="square" lIns="0" tIns="0" rIns="0" bIns="0" rtlCol="0" anchor="t"/>
          <a:lstStyle/>
          <a:p>
            <a:pPr marL="0" indent="0">
              <a:buNone/>
              <a:defRPr/>
            </a:pPr>
            <a:r>
              <a:rPr lang="en-US" sz="1200" b="1">
                <a:solidFill>
                  <a:srgbClr val="1967D2"/>
                </a:solidFill>
                <a:latin typeface="Arial"/>
                <a:ea typeface="Arial"/>
                <a:cs typeface="Arial"/>
              </a:rPr>
              <a:t>¿A quién voy a pedirle que la pruebe para comprobarlo?</a:t>
            </a:r>
            <a:endParaRPr lang="en-US" sz="1200"/>
          </a:p>
        </p:txBody>
      </p:sp>
      <p:sp>
        <p:nvSpPr>
          <p:cNvPr id="181157544" name="Text 32"/>
          <p:cNvSpPr txBox="1"/>
          <p:nvPr/>
        </p:nvSpPr>
        <p:spPr bwMode="auto">
          <a:xfrm>
            <a:off x="2880360" y="7818120"/>
            <a:ext cx="8851392" cy="685800"/>
          </a:xfrm>
          <a:prstGeom prst="rect">
            <a:avLst/>
          </a:prstGeom>
          <a:solidFill>
            <a:srgbClr val="EAF1FD"/>
          </a:solidFill>
          <a:ln w="12700">
            <a:solidFill>
              <a:srgbClr val="AECBFA"/>
            </a:solidFill>
          </a:ln>
        </p:spPr>
        <p:txBody>
          <a:bodyPr wrap="square" lIns="114300" tIns="114300" rIns="114300" bIns="114300" rtlCol="0" anchor="t"/>
          <a:lstStyle/>
          <a:p>
            <a:pPr marL="0" indent="0" algn="l">
              <a:buNone/>
              <a:defRPr/>
            </a:pPr>
            <a:r>
              <a:rPr sz="1000" b="0">
                <a:solidFill>
                  <a:srgbClr val="303A42"/>
                </a:solidFill>
                <a:latin typeface="Calibri"/>
              </a:rPr>
              <a:t>Probar con docentes de distinta familiaridad digital y apoderados con horarios variados. Tarea docente: detectar una brecha, asignar refuerzo/repaso, revisar avance y pasar lista rápido. Tarea familiar: confirmar llegada/progreso y enviar justificación de tardanza con evidencia; repetir una tarea con señal débil. Observar si entienden estados, privacidad y siguiente paso.</a:t>
            </a:r>
            <a:endParaRPr lang="en-US" sz="1300"/>
          </a:p>
        </p:txBody>
      </p:sp>
      <p:sp>
        <p:nvSpPr>
          <p:cNvPr id="891120665" name="Text 33"/>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11</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sp>
        <p:nvSpPr>
          <p:cNvPr id="1171264154" name="Shape 0"/>
          <p:cNvSpPr/>
          <p:nvPr/>
        </p:nvSpPr>
        <p:spPr bwMode="auto">
          <a:xfrm>
            <a:off x="0" y="0"/>
            <a:ext cx="2514600" cy="9144000"/>
          </a:xfrm>
          <a:prstGeom prst="rect">
            <a:avLst/>
          </a:prstGeom>
          <a:solidFill>
            <a:srgbClr val="00838F"/>
          </a:solidFill>
          <a:ln/>
        </p:spPr>
      </p:sp>
      <p:sp>
        <p:nvSpPr>
          <p:cNvPr id="868186725"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3</a:t>
            </a:r>
            <a:endParaRPr lang="en-US" sz="1100"/>
          </a:p>
        </p:txBody>
      </p:sp>
      <p:sp>
        <p:nvSpPr>
          <p:cNvPr id="2005986965"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Prototipa</a:t>
            </a:r>
            <a:endParaRPr lang="en-US" sz="2600"/>
          </a:p>
        </p:txBody>
      </p:sp>
      <p:sp>
        <p:nvSpPr>
          <p:cNvPr id="1450849531"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4E9ED"/>
                </a:solidFill>
                <a:latin typeface="Calibri"/>
                <a:ea typeface="Calibri"/>
                <a:cs typeface="Calibri"/>
              </a:rPr>
              <a:t>Pantallas</a:t>
            </a:r>
            <a:endParaRPr lang="en-US" sz="1300"/>
          </a:p>
          <a:p>
            <a:pPr marL="0" indent="0">
              <a:spcAft>
                <a:spcPts val="800"/>
              </a:spcAft>
              <a:buNone/>
              <a:defRPr/>
            </a:pPr>
            <a:r>
              <a:rPr lang="en-US" sz="1300">
                <a:solidFill>
                  <a:srgbClr val="C4E9ED"/>
                </a:solidFill>
                <a:latin typeface="Calibri"/>
                <a:ea typeface="Calibri"/>
                <a:cs typeface="Calibri"/>
              </a:rPr>
              <a:t>Flujo de la app</a:t>
            </a:r>
            <a:endParaRPr lang="en-US" sz="1300"/>
          </a:p>
          <a:p>
            <a:pPr marL="0" indent="0">
              <a:spcAft>
                <a:spcPts val="800"/>
              </a:spcAft>
              <a:buNone/>
              <a:defRPr/>
            </a:pPr>
            <a:r>
              <a:rPr lang="en-US" sz="1300">
                <a:solidFill>
                  <a:srgbClr val="C4E9ED"/>
                </a:solidFill>
                <a:latin typeface="Calibri"/>
                <a:ea typeface="Calibri"/>
                <a:cs typeface="Calibri"/>
              </a:rPr>
              <a:t>Respuesta de la app</a:t>
            </a:r>
            <a:endParaRPr lang="en-US" sz="1300"/>
          </a:p>
          <a:p>
            <a:pPr marL="0" indent="0">
              <a:spcAft>
                <a:spcPts val="800"/>
              </a:spcAft>
              <a:buNone/>
              <a:defRPr/>
            </a:pPr>
            <a:r>
              <a:rPr lang="en-US" sz="1300">
                <a:solidFill>
                  <a:srgbClr val="C4E9ED"/>
                </a:solidFill>
                <a:latin typeface="Calibri"/>
                <a:ea typeface="Calibri"/>
                <a:cs typeface="Calibri"/>
              </a:rPr>
              <a:t>Estilo Material 3</a:t>
            </a:r>
            <a:endParaRPr lang="en-US" sz="1300"/>
          </a:p>
          <a:p>
            <a:pPr marL="0" indent="0">
              <a:spcAft>
                <a:spcPts val="800"/>
              </a:spcAft>
              <a:buNone/>
              <a:defRPr/>
            </a:pPr>
            <a:r>
              <a:rPr lang="en-US" sz="1300">
                <a:solidFill>
                  <a:srgbClr val="C4E9ED"/>
                </a:solidFill>
                <a:latin typeface="Calibri"/>
                <a:ea typeface="Calibri"/>
                <a:cs typeface="Calibri"/>
              </a:rPr>
              <a:t>Ícono y nombre</a:t>
            </a:r>
            <a:endParaRPr lang="en-US" sz="1300"/>
          </a:p>
        </p:txBody>
      </p:sp>
      <p:sp>
        <p:nvSpPr>
          <p:cNvPr id="1037181577" name="Shape 4"/>
          <p:cNvSpPr/>
          <p:nvPr/>
        </p:nvSpPr>
        <p:spPr bwMode="auto">
          <a:xfrm>
            <a:off x="7223760" y="2377440"/>
            <a:ext cx="4480560" cy="4389120"/>
          </a:xfrm>
          <a:prstGeom prst="roundRect">
            <a:avLst>
              <a:gd name="adj" fmla="val 1667"/>
            </a:avLst>
          </a:prstGeom>
          <a:solidFill>
            <a:srgbClr val="E4F5F7"/>
          </a:solidFill>
          <a:ln/>
        </p:spPr>
      </p:sp>
      <p:sp>
        <p:nvSpPr>
          <p:cNvPr id="1874327177" name="Text 5"/>
          <p:cNvSpPr txBox="1"/>
          <p:nvPr/>
        </p:nvSpPr>
        <p:spPr bwMode="auto">
          <a:xfrm>
            <a:off x="7223760" y="2560320"/>
            <a:ext cx="4480560" cy="4023360"/>
          </a:xfrm>
          <a:prstGeom prst="rect">
            <a:avLst/>
          </a:prstGeom>
          <a:noFill/>
          <a:ln/>
        </p:spPr>
        <p:txBody>
          <a:bodyPr wrap="square" lIns="0" tIns="0" rIns="0" bIns="0" rtlCol="0" anchor="ctr"/>
          <a:lstStyle/>
          <a:p>
            <a:pPr marL="0" indent="0" algn="ctr">
              <a:buNone/>
              <a:defRPr/>
            </a:pPr>
            <a:r>
              <a:rPr lang="en-US" sz="20000" b="1">
                <a:solidFill>
                  <a:srgbClr val="A7DDE3"/>
                </a:solidFill>
                <a:latin typeface="Arial"/>
                <a:ea typeface="Arial"/>
                <a:cs typeface="Arial"/>
              </a:rPr>
              <a:t>3</a:t>
            </a:r>
            <a:endParaRPr lang="en-US" sz="20000"/>
          </a:p>
        </p:txBody>
      </p:sp>
      <p:sp>
        <p:nvSpPr>
          <p:cNvPr id="2013537608" name="Text 6"/>
          <p:cNvSpPr txBox="1"/>
          <p:nvPr/>
        </p:nvSpPr>
        <p:spPr bwMode="auto">
          <a:xfrm>
            <a:off x="2880360" y="237744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Fase 3 · Prototipa</a:t>
            </a:r>
            <a:endParaRPr lang="en-US" sz="2500"/>
          </a:p>
        </p:txBody>
      </p:sp>
      <p:sp>
        <p:nvSpPr>
          <p:cNvPr id="1407158757" name="Text 7"/>
          <p:cNvSpPr txBox="1"/>
          <p:nvPr/>
        </p:nvSpPr>
        <p:spPr bwMode="auto">
          <a:xfrm>
            <a:off x="2880360" y="3063240"/>
            <a:ext cx="4023360" cy="1828800"/>
          </a:xfrm>
          <a:prstGeom prst="rect">
            <a:avLst/>
          </a:prstGeom>
          <a:noFill/>
          <a:ln/>
        </p:spPr>
        <p:txBody>
          <a:bodyPr wrap="square" lIns="0" tIns="0" rIns="0" bIns="0" rtlCol="0" anchor="t"/>
          <a:lstStyle/>
          <a:p>
            <a:pPr marL="0" indent="0">
              <a:lnSpc>
                <a:spcPct val="114999"/>
              </a:lnSpc>
              <a:buNone/>
              <a:defRPr/>
            </a:pPr>
            <a:r>
              <a:rPr lang="en-US" sz="1500">
                <a:solidFill>
                  <a:srgbClr val="5F6368"/>
                </a:solidFill>
                <a:latin typeface="Calibri"/>
                <a:ea typeface="Calibri"/>
                <a:cs typeface="Calibri"/>
              </a:rPr>
              <a:t>Un prototipo te deja probar la idea antes de escribir código. Vas a dibujar tus pantallas, conectarlas en un flujo, definir tu estilo con Material 3 y armar algo navegable en Figma o directamente con Compose.</a:t>
            </a:r>
            <a:endParaRPr lang="en-US" sz="1500"/>
          </a:p>
        </p:txBody>
      </p:sp>
      <p:sp>
        <p:nvSpPr>
          <p:cNvPr id="1991043288" name="Text 8"/>
          <p:cNvSpPr txBox="1"/>
          <p:nvPr/>
        </p:nvSpPr>
        <p:spPr bwMode="auto">
          <a:xfrm>
            <a:off x="2880360" y="5120640"/>
            <a:ext cx="4023360" cy="228600"/>
          </a:xfrm>
          <a:prstGeom prst="rect">
            <a:avLst/>
          </a:prstGeom>
          <a:noFill/>
          <a:ln/>
        </p:spPr>
        <p:txBody>
          <a:bodyPr wrap="square" lIns="0" tIns="0" rIns="0" bIns="0" rtlCol="0" anchor="ctr"/>
          <a:lstStyle/>
          <a:p>
            <a:pPr marL="0" indent="0">
              <a:buNone/>
              <a:defRPr/>
            </a:pPr>
            <a:r>
              <a:rPr lang="en-US" sz="1000" b="1" spc="150">
                <a:solidFill>
                  <a:srgbClr val="00838F"/>
                </a:solidFill>
                <a:latin typeface="Arial"/>
                <a:ea typeface="Arial"/>
                <a:cs typeface="Arial"/>
              </a:rPr>
              <a:t>AL TERMINAR TENDRÁS</a:t>
            </a:r>
            <a:endParaRPr lang="en-US" sz="1000"/>
          </a:p>
        </p:txBody>
      </p:sp>
      <p:sp>
        <p:nvSpPr>
          <p:cNvPr id="433105760" name="Text 9"/>
          <p:cNvSpPr txBox="1"/>
          <p:nvPr/>
        </p:nvSpPr>
        <p:spPr bwMode="auto">
          <a:xfrm>
            <a:off x="2880360" y="5440680"/>
            <a:ext cx="4023360" cy="1645920"/>
          </a:xfrm>
          <a:prstGeom prst="rect">
            <a:avLst/>
          </a:prstGeom>
          <a:noFill/>
          <a:ln/>
        </p:spPr>
        <p:txBody>
          <a:bodyPr wrap="square" lIns="0" tIns="0" rIns="0" bIns="0" rtlCol="0" anchor="t"/>
          <a:lstStyle/>
          <a:p>
            <a:pPr marL="342900" indent="-342900">
              <a:spcAft>
                <a:spcPts val="800"/>
              </a:spcAft>
              <a:buSzPct val="100000"/>
              <a:buChar char="•"/>
              <a:defRPr/>
            </a:pPr>
            <a:r>
              <a:rPr lang="en-US" sz="1350">
                <a:solidFill>
                  <a:srgbClr val="202124"/>
                </a:solidFill>
                <a:latin typeface="Calibri"/>
                <a:ea typeface="Calibri"/>
                <a:cs typeface="Calibri"/>
              </a:rPr>
              <a:t>Bocetos de tus pantallas clave</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El flujo de navegación completo</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Tu paleta, tipografía e ícono</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Un prototipo que otra persona pueda usar</a:t>
            </a:r>
            <a:endParaRPr lang="en-US" sz="1350"/>
          </a:p>
        </p:txBody>
      </p:sp>
      <p:sp>
        <p:nvSpPr>
          <p:cNvPr id="1405175713" name="Text 10"/>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12</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rgbClr val="FFFFFF"/>
        </a:solidFill>
      </p:bgPr>
    </p:bg>
    <p:spTree>
      <p:nvGrpSpPr>
        <p:cNvPr id="1" name=""/>
        <p:cNvGrpSpPr/>
        <p:nvPr/>
      </p:nvGrpSpPr>
      <p:grpSpPr bwMode="auto">
        <a:xfrm>
          <a:off x="0" y="0"/>
          <a:ext cx="0" cy="0"/>
          <a:chOff x="0" y="0"/>
          <a:chExt cx="0" cy="0"/>
        </a:xfrm>
      </p:grpSpPr>
      <p:sp>
        <p:nvSpPr>
          <p:cNvPr id="1581376973" name="Shape 0"/>
          <p:cNvSpPr/>
          <p:nvPr/>
        </p:nvSpPr>
        <p:spPr bwMode="auto">
          <a:xfrm>
            <a:off x="0" y="0"/>
            <a:ext cx="2514600" cy="9144000"/>
          </a:xfrm>
          <a:prstGeom prst="rect">
            <a:avLst/>
          </a:prstGeom>
          <a:solidFill>
            <a:srgbClr val="00838F"/>
          </a:solidFill>
          <a:ln/>
        </p:spPr>
      </p:sp>
      <p:sp>
        <p:nvSpPr>
          <p:cNvPr id="768325949"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3</a:t>
            </a:r>
            <a:endParaRPr lang="en-US" sz="1100"/>
          </a:p>
        </p:txBody>
      </p:sp>
      <p:sp>
        <p:nvSpPr>
          <p:cNvPr id="1579163461"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Prototipa</a:t>
            </a:r>
            <a:endParaRPr lang="en-US" sz="2600"/>
          </a:p>
        </p:txBody>
      </p:sp>
      <p:sp>
        <p:nvSpPr>
          <p:cNvPr id="1236141840"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b="1">
                <a:solidFill>
                  <a:srgbClr val="FFFFFF"/>
                </a:solidFill>
                <a:latin typeface="Calibri"/>
                <a:ea typeface="Calibri"/>
                <a:cs typeface="Calibri"/>
              </a:rPr>
              <a:t>Pantallas</a:t>
            </a:r>
            <a:endParaRPr lang="en-US" sz="1300"/>
          </a:p>
          <a:p>
            <a:pPr marL="0" indent="0">
              <a:spcAft>
                <a:spcPts val="800"/>
              </a:spcAft>
              <a:buNone/>
              <a:defRPr/>
            </a:pPr>
            <a:r>
              <a:rPr lang="en-US" sz="1300">
                <a:solidFill>
                  <a:srgbClr val="C4E9ED"/>
                </a:solidFill>
                <a:latin typeface="Calibri"/>
                <a:ea typeface="Calibri"/>
                <a:cs typeface="Calibri"/>
              </a:rPr>
              <a:t>Flujo de la app</a:t>
            </a:r>
            <a:endParaRPr lang="en-US" sz="1300"/>
          </a:p>
          <a:p>
            <a:pPr marL="0" indent="0">
              <a:spcAft>
                <a:spcPts val="800"/>
              </a:spcAft>
              <a:buNone/>
              <a:defRPr/>
            </a:pPr>
            <a:r>
              <a:rPr lang="en-US" sz="1300">
                <a:solidFill>
                  <a:srgbClr val="C4E9ED"/>
                </a:solidFill>
                <a:latin typeface="Calibri"/>
                <a:ea typeface="Calibri"/>
                <a:cs typeface="Calibri"/>
              </a:rPr>
              <a:t>Respuesta de la app</a:t>
            </a:r>
            <a:endParaRPr lang="en-US" sz="1300"/>
          </a:p>
          <a:p>
            <a:pPr marL="0" indent="0">
              <a:spcAft>
                <a:spcPts val="800"/>
              </a:spcAft>
              <a:buNone/>
              <a:defRPr/>
            </a:pPr>
            <a:r>
              <a:rPr lang="en-US" sz="1300">
                <a:solidFill>
                  <a:srgbClr val="C4E9ED"/>
                </a:solidFill>
                <a:latin typeface="Calibri"/>
                <a:ea typeface="Calibri"/>
                <a:cs typeface="Calibri"/>
              </a:rPr>
              <a:t>Estilo Material 3</a:t>
            </a:r>
            <a:endParaRPr lang="en-US" sz="1300"/>
          </a:p>
          <a:p>
            <a:pPr marL="0" indent="0">
              <a:spcAft>
                <a:spcPts val="800"/>
              </a:spcAft>
              <a:buNone/>
              <a:defRPr/>
            </a:pPr>
            <a:r>
              <a:rPr lang="en-US" sz="1300">
                <a:solidFill>
                  <a:srgbClr val="C4E9ED"/>
                </a:solidFill>
                <a:latin typeface="Calibri"/>
                <a:ea typeface="Calibri"/>
                <a:cs typeface="Calibri"/>
              </a:rPr>
              <a:t>Ícono y nombre</a:t>
            </a:r>
            <a:endParaRPr lang="en-US" sz="1300"/>
          </a:p>
        </p:txBody>
      </p:sp>
      <p:sp>
        <p:nvSpPr>
          <p:cNvPr id="985068289" name="Shape 4"/>
          <p:cNvSpPr/>
          <p:nvPr/>
        </p:nvSpPr>
        <p:spPr bwMode="auto">
          <a:xfrm>
            <a:off x="320040" y="7269480"/>
            <a:ext cx="1005840" cy="0"/>
          </a:xfrm>
          <a:prstGeom prst="line">
            <a:avLst/>
          </a:prstGeom>
          <a:noFill/>
          <a:ln w="19050">
            <a:solidFill>
              <a:srgbClr val="FFFFFF"/>
            </a:solidFill>
            <a:prstDash val="solid"/>
          </a:ln>
        </p:spPr>
      </p:sp>
      <p:sp>
        <p:nvSpPr>
          <p:cNvPr id="1500834283"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TIP</a:t>
            </a:r>
            <a:endParaRPr lang="en-US" sz="1000"/>
          </a:p>
        </p:txBody>
      </p:sp>
      <p:sp>
        <p:nvSpPr>
          <p:cNvPr id="1453867007"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Dibuja rápido y feo. Tres bocetos de un minuto sirven más que uno perfecto de una hora.</a:t>
            </a:r>
            <a:endParaRPr lang="en-US" sz="1100"/>
          </a:p>
        </p:txBody>
      </p:sp>
      <p:sp>
        <p:nvSpPr>
          <p:cNvPr id="1465043750"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Las pantallas de mi app</a:t>
            </a:r>
            <a:endParaRPr lang="en-US" sz="2500"/>
          </a:p>
        </p:txBody>
      </p:sp>
      <p:sp>
        <p:nvSpPr>
          <p:cNvPr id="211414163" name="Text 8"/>
          <p:cNvSpPr txBox="1"/>
          <p:nvPr/>
        </p:nvSpPr>
        <p:spPr bwMode="auto">
          <a:xfrm>
            <a:off x="2880360" y="1051560"/>
            <a:ext cx="8851392" cy="5029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Elige la acción principal de la página 8 y descríbela con detalle: qué ve la persona al entrar, qué toca, qué pasa después.</a:t>
            </a:r>
            <a:endParaRPr lang="en-US" sz="1400"/>
          </a:p>
        </p:txBody>
      </p:sp>
      <p:sp>
        <p:nvSpPr>
          <p:cNvPr id="1841392118" name="Text 9"/>
          <p:cNvSpPr txBox="1"/>
          <p:nvPr/>
        </p:nvSpPr>
        <p:spPr bwMode="auto">
          <a:xfrm>
            <a:off x="2880360" y="1645920"/>
            <a:ext cx="8851392" cy="123444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34770033" name="Text 10"/>
          <p:cNvSpPr txBox="1"/>
          <p:nvPr/>
        </p:nvSpPr>
        <p:spPr bwMode="auto">
          <a:xfrm>
            <a:off x="2880360" y="3063240"/>
            <a:ext cx="8851392" cy="5029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Ahora dibuja tres versiones distintas de esa pantalla. Puedes hacerlo a mano, fotografiarlas y pegar la imagen dentro de cada marco. Al final marca tu favorita.</a:t>
            </a:r>
            <a:endParaRPr lang="en-US" sz="1400"/>
          </a:p>
        </p:txBody>
      </p:sp>
      <p:sp>
        <p:nvSpPr>
          <p:cNvPr id="1752339619" name="Shape 11"/>
          <p:cNvSpPr/>
          <p:nvPr/>
        </p:nvSpPr>
        <p:spPr bwMode="auto">
          <a:xfrm>
            <a:off x="2880360" y="3703320"/>
            <a:ext cx="2788920" cy="4160519"/>
          </a:xfrm>
          <a:prstGeom prst="roundRect">
            <a:avLst>
              <a:gd name="adj" fmla="val 1967"/>
            </a:avLst>
          </a:prstGeom>
          <a:solidFill>
            <a:srgbClr val="E4F5F7"/>
          </a:solidFill>
          <a:ln w="12700">
            <a:solidFill>
              <a:srgbClr val="A7DDE3"/>
            </a:solidFill>
            <a:prstDash val="solid"/>
          </a:ln>
        </p:spPr>
      </p:sp>
      <p:sp>
        <p:nvSpPr>
          <p:cNvPr id="1729973602" name="Text 12"/>
          <p:cNvSpPr txBox="1"/>
          <p:nvPr/>
        </p:nvSpPr>
        <p:spPr bwMode="auto">
          <a:xfrm>
            <a:off x="3017519" y="3840480"/>
            <a:ext cx="2514600" cy="27432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Boceto 1</a:t>
            </a:r>
            <a:endParaRPr lang="en-US" sz="1100"/>
          </a:p>
        </p:txBody>
      </p:sp>
      <p:sp>
        <p:nvSpPr>
          <p:cNvPr id="389596046" name="Shape 13"/>
          <p:cNvSpPr/>
          <p:nvPr/>
        </p:nvSpPr>
        <p:spPr bwMode="auto">
          <a:xfrm>
            <a:off x="3383280" y="4343400"/>
            <a:ext cx="1783080" cy="3108960"/>
          </a:xfrm>
          <a:prstGeom prst="roundRect">
            <a:avLst>
              <a:gd name="adj" fmla="val 4103"/>
            </a:avLst>
          </a:prstGeom>
          <a:solidFill>
            <a:srgbClr val="FFFFFF"/>
          </a:solidFill>
          <a:ln w="12700">
            <a:solidFill>
              <a:srgbClr val="A7DDE3"/>
            </a:solidFill>
            <a:prstDash val="solid"/>
          </a:ln>
        </p:spPr>
      </p:sp>
      <p:sp>
        <p:nvSpPr>
          <p:cNvPr id="793521605" name="Text 14"/>
          <p:cNvSpPr txBox="1"/>
          <p:nvPr/>
        </p:nvSpPr>
        <p:spPr bwMode="auto">
          <a:xfrm>
            <a:off x="3383280" y="5532120"/>
            <a:ext cx="1783080" cy="731520"/>
          </a:xfrm>
          <a:prstGeom prst="rect">
            <a:avLst/>
          </a:prstGeom>
          <a:noFill/>
          <a:ln/>
        </p:spPr>
        <p:txBody>
          <a:bodyPr wrap="square" lIns="0" tIns="0" rIns="0" bIns="0" rtlCol="0" anchor="ctr"/>
          <a:lstStyle/>
          <a:p>
            <a:pPr marL="0" indent="0" algn="ctr">
              <a:buNone/>
              <a:defRPr/>
            </a:pPr>
            <a:r>
              <a:rPr lang="en-US" sz="1050" i="1">
                <a:solidFill>
                  <a:srgbClr val="5F6368"/>
                </a:solidFill>
                <a:latin typeface="Calibri"/>
                <a:ea typeface="Calibri"/>
                <a:cs typeface="Calibri"/>
              </a:rPr>
              <a:t>pega o dibuja</a:t>
            </a:r>
            <a:endParaRPr lang="en-US" sz="1050"/>
          </a:p>
          <a:p>
            <a:pPr marL="0" indent="0" algn="ctr">
              <a:buNone/>
              <a:defRPr/>
            </a:pPr>
            <a:r>
              <a:rPr lang="en-US" sz="1050" i="1">
                <a:solidFill>
                  <a:srgbClr val="5F6368"/>
                </a:solidFill>
                <a:latin typeface="Calibri"/>
                <a:ea typeface="Calibri"/>
                <a:cs typeface="Calibri"/>
              </a:rPr>
              <a:t>aquí tu pantalla</a:t>
            </a:r>
            <a:endParaRPr lang="en-US" sz="1050"/>
          </a:p>
        </p:txBody>
      </p:sp>
      <p:sp>
        <p:nvSpPr>
          <p:cNvPr id="331014748" name="Shape 15"/>
          <p:cNvSpPr/>
          <p:nvPr/>
        </p:nvSpPr>
        <p:spPr bwMode="auto">
          <a:xfrm>
            <a:off x="5897880" y="3703320"/>
            <a:ext cx="2788920" cy="4160519"/>
          </a:xfrm>
          <a:prstGeom prst="roundRect">
            <a:avLst>
              <a:gd name="adj" fmla="val 1967"/>
            </a:avLst>
          </a:prstGeom>
          <a:solidFill>
            <a:srgbClr val="E4F5F7"/>
          </a:solidFill>
          <a:ln w="12700">
            <a:solidFill>
              <a:srgbClr val="A7DDE3"/>
            </a:solidFill>
            <a:prstDash val="solid"/>
          </a:ln>
        </p:spPr>
      </p:sp>
      <p:sp>
        <p:nvSpPr>
          <p:cNvPr id="1507782512" name="Text 16"/>
          <p:cNvSpPr txBox="1"/>
          <p:nvPr/>
        </p:nvSpPr>
        <p:spPr bwMode="auto">
          <a:xfrm>
            <a:off x="6035039" y="3840480"/>
            <a:ext cx="2514600" cy="27432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Boceto 2</a:t>
            </a:r>
            <a:endParaRPr lang="en-US" sz="1100"/>
          </a:p>
        </p:txBody>
      </p:sp>
      <p:sp>
        <p:nvSpPr>
          <p:cNvPr id="570939359" name="Shape 17"/>
          <p:cNvSpPr/>
          <p:nvPr/>
        </p:nvSpPr>
        <p:spPr bwMode="auto">
          <a:xfrm>
            <a:off x="6400800" y="4343400"/>
            <a:ext cx="1783080" cy="3108960"/>
          </a:xfrm>
          <a:prstGeom prst="roundRect">
            <a:avLst>
              <a:gd name="adj" fmla="val 4103"/>
            </a:avLst>
          </a:prstGeom>
          <a:solidFill>
            <a:srgbClr val="FFFFFF"/>
          </a:solidFill>
          <a:ln w="12700">
            <a:solidFill>
              <a:srgbClr val="A7DDE3"/>
            </a:solidFill>
            <a:prstDash val="solid"/>
          </a:ln>
        </p:spPr>
      </p:sp>
      <p:sp>
        <p:nvSpPr>
          <p:cNvPr id="297533472" name="Text 18"/>
          <p:cNvSpPr txBox="1"/>
          <p:nvPr/>
        </p:nvSpPr>
        <p:spPr bwMode="auto">
          <a:xfrm>
            <a:off x="6400800" y="5532120"/>
            <a:ext cx="1783080" cy="731520"/>
          </a:xfrm>
          <a:prstGeom prst="rect">
            <a:avLst/>
          </a:prstGeom>
          <a:noFill/>
          <a:ln/>
        </p:spPr>
        <p:txBody>
          <a:bodyPr wrap="square" lIns="0" tIns="0" rIns="0" bIns="0" rtlCol="0" anchor="ctr"/>
          <a:lstStyle/>
          <a:p>
            <a:pPr marL="0" indent="0" algn="ctr">
              <a:buNone/>
              <a:defRPr/>
            </a:pPr>
            <a:r>
              <a:rPr lang="en-US" sz="1050" i="1">
                <a:solidFill>
                  <a:srgbClr val="5F6368"/>
                </a:solidFill>
                <a:latin typeface="Calibri"/>
                <a:ea typeface="Calibri"/>
                <a:cs typeface="Calibri"/>
              </a:rPr>
              <a:t>pega o dibuja</a:t>
            </a:r>
            <a:endParaRPr lang="en-US" sz="1050"/>
          </a:p>
          <a:p>
            <a:pPr marL="0" indent="0" algn="ctr">
              <a:buNone/>
              <a:defRPr/>
            </a:pPr>
            <a:r>
              <a:rPr lang="en-US" sz="1050" i="1">
                <a:solidFill>
                  <a:srgbClr val="5F6368"/>
                </a:solidFill>
                <a:latin typeface="Calibri"/>
                <a:ea typeface="Calibri"/>
                <a:cs typeface="Calibri"/>
              </a:rPr>
              <a:t>aquí tu pantalla</a:t>
            </a:r>
            <a:endParaRPr lang="en-US" sz="1050"/>
          </a:p>
        </p:txBody>
      </p:sp>
      <p:sp>
        <p:nvSpPr>
          <p:cNvPr id="1001448308" name="Shape 19"/>
          <p:cNvSpPr/>
          <p:nvPr/>
        </p:nvSpPr>
        <p:spPr bwMode="auto">
          <a:xfrm>
            <a:off x="8915400" y="3703320"/>
            <a:ext cx="2788920" cy="4160519"/>
          </a:xfrm>
          <a:prstGeom prst="roundRect">
            <a:avLst>
              <a:gd name="adj" fmla="val 1967"/>
            </a:avLst>
          </a:prstGeom>
          <a:solidFill>
            <a:srgbClr val="E4F5F7"/>
          </a:solidFill>
          <a:ln w="12700">
            <a:solidFill>
              <a:srgbClr val="A7DDE3"/>
            </a:solidFill>
            <a:prstDash val="solid"/>
          </a:ln>
        </p:spPr>
      </p:sp>
      <p:sp>
        <p:nvSpPr>
          <p:cNvPr id="1242920125" name="Text 20"/>
          <p:cNvSpPr txBox="1"/>
          <p:nvPr/>
        </p:nvSpPr>
        <p:spPr bwMode="auto">
          <a:xfrm>
            <a:off x="9052560" y="3840480"/>
            <a:ext cx="2514600" cy="27432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Boceto 3</a:t>
            </a:r>
            <a:endParaRPr lang="en-US" sz="1100"/>
          </a:p>
        </p:txBody>
      </p:sp>
      <p:sp>
        <p:nvSpPr>
          <p:cNvPr id="1305982287" name="Shape 21"/>
          <p:cNvSpPr/>
          <p:nvPr/>
        </p:nvSpPr>
        <p:spPr bwMode="auto">
          <a:xfrm>
            <a:off x="9418320" y="4343400"/>
            <a:ext cx="1783080" cy="3108960"/>
          </a:xfrm>
          <a:prstGeom prst="roundRect">
            <a:avLst>
              <a:gd name="adj" fmla="val 4103"/>
            </a:avLst>
          </a:prstGeom>
          <a:solidFill>
            <a:srgbClr val="FFFFFF"/>
          </a:solidFill>
          <a:ln w="12700">
            <a:solidFill>
              <a:srgbClr val="A7DDE3"/>
            </a:solidFill>
            <a:prstDash val="solid"/>
          </a:ln>
        </p:spPr>
      </p:sp>
      <p:sp>
        <p:nvSpPr>
          <p:cNvPr id="1613790659" name="Text 22"/>
          <p:cNvSpPr txBox="1"/>
          <p:nvPr/>
        </p:nvSpPr>
        <p:spPr bwMode="auto">
          <a:xfrm>
            <a:off x="9418320" y="5532120"/>
            <a:ext cx="1783080" cy="731520"/>
          </a:xfrm>
          <a:prstGeom prst="rect">
            <a:avLst/>
          </a:prstGeom>
          <a:noFill/>
          <a:ln/>
        </p:spPr>
        <p:txBody>
          <a:bodyPr wrap="square" lIns="0" tIns="0" rIns="0" bIns="0" rtlCol="0" anchor="ctr"/>
          <a:lstStyle/>
          <a:p>
            <a:pPr marL="0" indent="0" algn="ctr">
              <a:buNone/>
              <a:defRPr/>
            </a:pPr>
            <a:r>
              <a:rPr lang="en-US" sz="1050" i="1">
                <a:solidFill>
                  <a:srgbClr val="5F6368"/>
                </a:solidFill>
                <a:latin typeface="Calibri"/>
                <a:ea typeface="Calibri"/>
                <a:cs typeface="Calibri"/>
              </a:rPr>
              <a:t>pega o dibuja</a:t>
            </a:r>
            <a:endParaRPr lang="en-US" sz="1050"/>
          </a:p>
          <a:p>
            <a:pPr marL="0" indent="0" algn="ctr">
              <a:buNone/>
              <a:defRPr/>
            </a:pPr>
            <a:r>
              <a:rPr lang="en-US" sz="1050" i="1">
                <a:solidFill>
                  <a:srgbClr val="5F6368"/>
                </a:solidFill>
                <a:latin typeface="Calibri"/>
                <a:ea typeface="Calibri"/>
                <a:cs typeface="Calibri"/>
              </a:rPr>
              <a:t>aquí tu pantalla</a:t>
            </a:r>
            <a:endParaRPr lang="en-US" sz="1050"/>
          </a:p>
        </p:txBody>
      </p:sp>
      <p:sp>
        <p:nvSpPr>
          <p:cNvPr id="1960072693" name="Text 23"/>
          <p:cNvSpPr txBox="1"/>
          <p:nvPr/>
        </p:nvSpPr>
        <p:spPr bwMode="auto">
          <a:xfrm>
            <a:off x="2880360" y="8110728"/>
            <a:ext cx="2651760" cy="237744"/>
          </a:xfrm>
          <a:prstGeom prst="rect">
            <a:avLst/>
          </a:prstGeom>
          <a:noFill/>
          <a:ln/>
        </p:spPr>
        <p:txBody>
          <a:bodyPr wrap="square" lIns="0" tIns="0" rIns="0" bIns="0" rtlCol="0" anchor="t"/>
          <a:lstStyle/>
          <a:p>
            <a:pPr marL="0" indent="0">
              <a:buNone/>
              <a:defRPr/>
            </a:pPr>
            <a:r>
              <a:rPr lang="en-US" sz="1100" b="1">
                <a:solidFill>
                  <a:srgbClr val="00838F"/>
                </a:solidFill>
                <a:latin typeface="Arial"/>
                <a:ea typeface="Arial"/>
                <a:cs typeface="Arial"/>
              </a:rPr>
              <a:t>Mi favorita es la número ___ porque</a:t>
            </a:r>
            <a:endParaRPr lang="en-US" sz="1100"/>
          </a:p>
        </p:txBody>
      </p:sp>
      <p:sp>
        <p:nvSpPr>
          <p:cNvPr id="772931294" name="Text 24"/>
          <p:cNvSpPr txBox="1"/>
          <p:nvPr/>
        </p:nvSpPr>
        <p:spPr bwMode="auto">
          <a:xfrm>
            <a:off x="5623560" y="8028432"/>
            <a:ext cx="6108192" cy="4572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180752" name="Text 25"/>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13</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sp>
        <p:nvSpPr>
          <p:cNvPr id="11106743" name="Shape 0"/>
          <p:cNvSpPr/>
          <p:nvPr/>
        </p:nvSpPr>
        <p:spPr bwMode="auto">
          <a:xfrm>
            <a:off x="0" y="0"/>
            <a:ext cx="2514600" cy="9144000"/>
          </a:xfrm>
          <a:prstGeom prst="rect">
            <a:avLst/>
          </a:prstGeom>
          <a:solidFill>
            <a:srgbClr val="00838F"/>
          </a:solidFill>
          <a:ln/>
        </p:spPr>
      </p:sp>
      <p:sp>
        <p:nvSpPr>
          <p:cNvPr id="1805572985"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3</a:t>
            </a:r>
            <a:endParaRPr lang="en-US" sz="1100"/>
          </a:p>
        </p:txBody>
      </p:sp>
      <p:sp>
        <p:nvSpPr>
          <p:cNvPr id="1887406609"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Prototipa</a:t>
            </a:r>
            <a:endParaRPr lang="en-US" sz="2600"/>
          </a:p>
        </p:txBody>
      </p:sp>
      <p:sp>
        <p:nvSpPr>
          <p:cNvPr id="1889143942"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4E9ED"/>
                </a:solidFill>
                <a:latin typeface="Calibri"/>
                <a:ea typeface="Calibri"/>
                <a:cs typeface="Calibri"/>
              </a:rPr>
              <a:t>Pantallas</a:t>
            </a:r>
            <a:endParaRPr lang="en-US" sz="1300"/>
          </a:p>
          <a:p>
            <a:pPr marL="0" indent="0">
              <a:spcAft>
                <a:spcPts val="800"/>
              </a:spcAft>
              <a:buNone/>
              <a:defRPr/>
            </a:pPr>
            <a:r>
              <a:rPr lang="en-US" sz="1300" b="1">
                <a:solidFill>
                  <a:srgbClr val="FFFFFF"/>
                </a:solidFill>
                <a:latin typeface="Calibri"/>
                <a:ea typeface="Calibri"/>
                <a:cs typeface="Calibri"/>
              </a:rPr>
              <a:t>Flujo de la app</a:t>
            </a:r>
            <a:endParaRPr lang="en-US" sz="1300"/>
          </a:p>
          <a:p>
            <a:pPr marL="0" indent="0">
              <a:spcAft>
                <a:spcPts val="800"/>
              </a:spcAft>
              <a:buNone/>
              <a:defRPr/>
            </a:pPr>
            <a:r>
              <a:rPr lang="en-US" sz="1300">
                <a:solidFill>
                  <a:srgbClr val="C4E9ED"/>
                </a:solidFill>
                <a:latin typeface="Calibri"/>
                <a:ea typeface="Calibri"/>
                <a:cs typeface="Calibri"/>
              </a:rPr>
              <a:t>Respuesta de la app</a:t>
            </a:r>
            <a:endParaRPr lang="en-US" sz="1300"/>
          </a:p>
          <a:p>
            <a:pPr marL="0" indent="0">
              <a:spcAft>
                <a:spcPts val="800"/>
              </a:spcAft>
              <a:buNone/>
              <a:defRPr/>
            </a:pPr>
            <a:r>
              <a:rPr lang="en-US" sz="1300">
                <a:solidFill>
                  <a:srgbClr val="C4E9ED"/>
                </a:solidFill>
                <a:latin typeface="Calibri"/>
                <a:ea typeface="Calibri"/>
                <a:cs typeface="Calibri"/>
              </a:rPr>
              <a:t>Estilo Material 3</a:t>
            </a:r>
            <a:endParaRPr lang="en-US" sz="1300"/>
          </a:p>
          <a:p>
            <a:pPr marL="0" indent="0">
              <a:spcAft>
                <a:spcPts val="800"/>
              </a:spcAft>
              <a:buNone/>
              <a:defRPr/>
            </a:pPr>
            <a:r>
              <a:rPr lang="en-US" sz="1300">
                <a:solidFill>
                  <a:srgbClr val="C4E9ED"/>
                </a:solidFill>
                <a:latin typeface="Calibri"/>
                <a:ea typeface="Calibri"/>
                <a:cs typeface="Calibri"/>
              </a:rPr>
              <a:t>Ícono y nombre</a:t>
            </a:r>
            <a:endParaRPr lang="en-US" sz="1300"/>
          </a:p>
        </p:txBody>
      </p:sp>
      <p:sp>
        <p:nvSpPr>
          <p:cNvPr id="1568837258" name="Shape 4"/>
          <p:cNvSpPr/>
          <p:nvPr/>
        </p:nvSpPr>
        <p:spPr bwMode="auto">
          <a:xfrm>
            <a:off x="320040" y="7269480"/>
            <a:ext cx="1005840" cy="0"/>
          </a:xfrm>
          <a:prstGeom prst="line">
            <a:avLst/>
          </a:prstGeom>
          <a:noFill/>
          <a:ln w="19050">
            <a:solidFill>
              <a:srgbClr val="FFFFFF"/>
            </a:solidFill>
            <a:prstDash val="solid"/>
          </a:ln>
        </p:spPr>
      </p:sp>
      <p:sp>
        <p:nvSpPr>
          <p:cNvPr id="1474892816"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TIP</a:t>
            </a:r>
            <a:endParaRPr lang="en-US" sz="1000"/>
          </a:p>
        </p:txBody>
      </p:sp>
      <p:sp>
        <p:nvSpPr>
          <p:cNvPr id="1320024564"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Un flujo completo incluye el camino feliz y también el error: sin internet, sin permisos, sin resultados.</a:t>
            </a:r>
            <a:endParaRPr lang="en-US" sz="1100"/>
          </a:p>
        </p:txBody>
      </p:sp>
      <p:sp>
        <p:nvSpPr>
          <p:cNvPr id="1422740815"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El flujo de mi app</a:t>
            </a:r>
            <a:endParaRPr lang="en-US" sz="2500"/>
          </a:p>
        </p:txBody>
      </p:sp>
      <p:sp>
        <p:nvSpPr>
          <p:cNvPr id="244814784" name="Text 8"/>
          <p:cNvSpPr txBox="1"/>
          <p:nvPr/>
        </p:nvSpPr>
        <p:spPr bwMode="auto">
          <a:xfrm>
            <a:off x="2880360" y="1051560"/>
            <a:ext cx="8851392" cy="5029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Ordena tus pantallas como una historieta: qué ve la persona primero, qué toca y a dónde llega. Escribe sobre cada flecha la acción que provoca el cambio de pantalla.</a:t>
            </a:r>
            <a:endParaRPr lang="en-US" sz="1400"/>
          </a:p>
        </p:txBody>
      </p:sp>
      <p:sp>
        <p:nvSpPr>
          <p:cNvPr id="422934508" name="Shape 9"/>
          <p:cNvSpPr/>
          <p:nvPr/>
        </p:nvSpPr>
        <p:spPr bwMode="auto">
          <a:xfrm>
            <a:off x="2880360" y="1737360"/>
            <a:ext cx="1874520" cy="3200400"/>
          </a:xfrm>
          <a:prstGeom prst="roundRect">
            <a:avLst>
              <a:gd name="adj" fmla="val 3902"/>
            </a:avLst>
          </a:prstGeom>
          <a:solidFill>
            <a:srgbClr val="E4F5F7"/>
          </a:solidFill>
          <a:ln w="12700">
            <a:solidFill>
              <a:srgbClr val="A7DDE3"/>
            </a:solidFill>
            <a:prstDash val="solid"/>
          </a:ln>
        </p:spPr>
      </p:sp>
      <p:sp>
        <p:nvSpPr>
          <p:cNvPr id="509743816" name="Text 10"/>
          <p:cNvSpPr txBox="1"/>
          <p:nvPr/>
        </p:nvSpPr>
        <p:spPr bwMode="auto">
          <a:xfrm>
            <a:off x="2990088" y="1828800"/>
            <a:ext cx="274320" cy="22860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1</a:t>
            </a:r>
            <a:endParaRPr lang="en-US" sz="1100"/>
          </a:p>
        </p:txBody>
      </p:sp>
      <p:sp>
        <p:nvSpPr>
          <p:cNvPr id="373170223" name="Text 11"/>
          <p:cNvSpPr txBox="1"/>
          <p:nvPr/>
        </p:nvSpPr>
        <p:spPr bwMode="auto">
          <a:xfrm>
            <a:off x="3017519" y="2926080"/>
            <a:ext cx="1600200" cy="640080"/>
          </a:xfrm>
          <a:prstGeom prst="rect">
            <a:avLst/>
          </a:prstGeom>
          <a:noFill/>
          <a:ln/>
        </p:spPr>
        <p:txBody>
          <a:bodyPr wrap="square" lIns="0" tIns="0" rIns="0" bIns="0" rtlCol="0" anchor="ctr"/>
          <a:lstStyle/>
          <a:p>
            <a:pPr marL="0" indent="0" algn="ctr">
              <a:buNone/>
              <a:defRPr/>
            </a:pPr>
            <a:r>
              <a:rPr lang="en-US" sz="1000" i="1">
                <a:solidFill>
                  <a:srgbClr val="5F6368"/>
                </a:solidFill>
                <a:latin typeface="Calibri"/>
                <a:ea typeface="Calibri"/>
                <a:cs typeface="Calibri"/>
              </a:rPr>
              <a:t>pega o dibuja</a:t>
            </a:r>
            <a:endParaRPr lang="en-US" sz="1000"/>
          </a:p>
          <a:p>
            <a:pPr marL="0" indent="0" algn="ctr">
              <a:buNone/>
              <a:defRPr/>
            </a:pPr>
            <a:r>
              <a:rPr lang="en-US" sz="1000" i="1">
                <a:solidFill>
                  <a:srgbClr val="5F6368"/>
                </a:solidFill>
                <a:latin typeface="Calibri"/>
                <a:ea typeface="Calibri"/>
                <a:cs typeface="Calibri"/>
              </a:rPr>
              <a:t>aquí tu pantalla</a:t>
            </a:r>
            <a:endParaRPr lang="en-US" sz="1000"/>
          </a:p>
        </p:txBody>
      </p:sp>
      <p:sp>
        <p:nvSpPr>
          <p:cNvPr id="1614284252" name="Text 12"/>
          <p:cNvSpPr txBox="1"/>
          <p:nvPr/>
        </p:nvSpPr>
        <p:spPr bwMode="auto">
          <a:xfrm>
            <a:off x="4754880" y="1737360"/>
            <a:ext cx="411480" cy="3200400"/>
          </a:xfrm>
          <a:prstGeom prst="rect">
            <a:avLst/>
          </a:prstGeom>
          <a:noFill/>
          <a:ln/>
        </p:spPr>
        <p:txBody>
          <a:bodyPr wrap="square" lIns="0" tIns="0" rIns="0" bIns="0" rtlCol="0" anchor="ctr"/>
          <a:lstStyle/>
          <a:p>
            <a:pPr marL="0" indent="0" algn="ctr">
              <a:buNone/>
              <a:defRPr/>
            </a:pPr>
            <a:r>
              <a:rPr lang="en-US" sz="2000" b="1">
                <a:solidFill>
                  <a:srgbClr val="A7DDE3"/>
                </a:solidFill>
                <a:latin typeface="Calibri"/>
                <a:ea typeface="Calibri"/>
                <a:cs typeface="Calibri"/>
              </a:rPr>
              <a:t>→</a:t>
            </a:r>
            <a:endParaRPr lang="en-US" sz="2000"/>
          </a:p>
        </p:txBody>
      </p:sp>
      <p:sp>
        <p:nvSpPr>
          <p:cNvPr id="894768330" name="Text 13"/>
          <p:cNvSpPr txBox="1"/>
          <p:nvPr/>
        </p:nvSpPr>
        <p:spPr bwMode="auto">
          <a:xfrm>
            <a:off x="2880360" y="5029200"/>
            <a:ext cx="1874520" cy="777240"/>
          </a:xfrm>
          <a:prstGeom prst="rect">
            <a:avLst/>
          </a:prstGeom>
          <a:solidFill>
            <a:srgbClr val="F1F3F4"/>
          </a:solidFill>
          <a:ln w="12700">
            <a:solidFill>
              <a:srgbClr val="DADCE0"/>
            </a:solidFill>
          </a:ln>
        </p:spPr>
        <p:txBody>
          <a:bodyPr wrap="square" lIns="88900" tIns="88900" rIns="88900" bIns="88900" rtlCol="0" anchor="ctr"/>
          <a:lstStyle/>
          <a:p>
            <a:pPr marL="0" indent="0">
              <a:buNone/>
              <a:defRPr/>
            </a:pPr>
            <a:endParaRPr lang="en-US" sz="1100"/>
          </a:p>
        </p:txBody>
      </p:sp>
      <p:sp>
        <p:nvSpPr>
          <p:cNvPr id="1818164552" name="Shape 14"/>
          <p:cNvSpPr/>
          <p:nvPr/>
        </p:nvSpPr>
        <p:spPr bwMode="auto">
          <a:xfrm>
            <a:off x="5166360" y="1737360"/>
            <a:ext cx="1874520" cy="3200400"/>
          </a:xfrm>
          <a:prstGeom prst="roundRect">
            <a:avLst>
              <a:gd name="adj" fmla="val 3902"/>
            </a:avLst>
          </a:prstGeom>
          <a:solidFill>
            <a:srgbClr val="E4F5F7"/>
          </a:solidFill>
          <a:ln w="12700">
            <a:solidFill>
              <a:srgbClr val="A7DDE3"/>
            </a:solidFill>
            <a:prstDash val="solid"/>
          </a:ln>
        </p:spPr>
      </p:sp>
      <p:sp>
        <p:nvSpPr>
          <p:cNvPr id="167334141" name="Text 15"/>
          <p:cNvSpPr txBox="1"/>
          <p:nvPr/>
        </p:nvSpPr>
        <p:spPr bwMode="auto">
          <a:xfrm>
            <a:off x="5276088" y="1828800"/>
            <a:ext cx="274320" cy="22860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2</a:t>
            </a:r>
            <a:endParaRPr lang="en-US" sz="1100"/>
          </a:p>
        </p:txBody>
      </p:sp>
      <p:sp>
        <p:nvSpPr>
          <p:cNvPr id="5236282" name="Text 16"/>
          <p:cNvSpPr txBox="1"/>
          <p:nvPr/>
        </p:nvSpPr>
        <p:spPr bwMode="auto">
          <a:xfrm>
            <a:off x="5303520" y="2926080"/>
            <a:ext cx="1600200" cy="640080"/>
          </a:xfrm>
          <a:prstGeom prst="rect">
            <a:avLst/>
          </a:prstGeom>
          <a:noFill/>
          <a:ln/>
        </p:spPr>
        <p:txBody>
          <a:bodyPr wrap="square" lIns="0" tIns="0" rIns="0" bIns="0" rtlCol="0" anchor="ctr"/>
          <a:lstStyle/>
          <a:p>
            <a:pPr marL="0" indent="0" algn="ctr">
              <a:buNone/>
              <a:defRPr/>
            </a:pPr>
            <a:r>
              <a:rPr lang="en-US" sz="1000" i="1">
                <a:solidFill>
                  <a:srgbClr val="5F6368"/>
                </a:solidFill>
                <a:latin typeface="Calibri"/>
                <a:ea typeface="Calibri"/>
                <a:cs typeface="Calibri"/>
              </a:rPr>
              <a:t>pega o dibuja</a:t>
            </a:r>
            <a:endParaRPr lang="en-US" sz="1000"/>
          </a:p>
          <a:p>
            <a:pPr marL="0" indent="0" algn="ctr">
              <a:buNone/>
              <a:defRPr/>
            </a:pPr>
            <a:r>
              <a:rPr lang="en-US" sz="1000" i="1">
                <a:solidFill>
                  <a:srgbClr val="5F6368"/>
                </a:solidFill>
                <a:latin typeface="Calibri"/>
                <a:ea typeface="Calibri"/>
                <a:cs typeface="Calibri"/>
              </a:rPr>
              <a:t>aquí tu pantalla</a:t>
            </a:r>
            <a:endParaRPr lang="en-US" sz="1000"/>
          </a:p>
        </p:txBody>
      </p:sp>
      <p:sp>
        <p:nvSpPr>
          <p:cNvPr id="1197885866" name="Text 17"/>
          <p:cNvSpPr txBox="1"/>
          <p:nvPr/>
        </p:nvSpPr>
        <p:spPr bwMode="auto">
          <a:xfrm>
            <a:off x="7040880" y="1737360"/>
            <a:ext cx="411480" cy="3200400"/>
          </a:xfrm>
          <a:prstGeom prst="rect">
            <a:avLst/>
          </a:prstGeom>
          <a:noFill/>
          <a:ln/>
        </p:spPr>
        <p:txBody>
          <a:bodyPr wrap="square" lIns="0" tIns="0" rIns="0" bIns="0" rtlCol="0" anchor="ctr"/>
          <a:lstStyle/>
          <a:p>
            <a:pPr marL="0" indent="0" algn="ctr">
              <a:buNone/>
              <a:defRPr/>
            </a:pPr>
            <a:r>
              <a:rPr lang="en-US" sz="2000" b="1">
                <a:solidFill>
                  <a:srgbClr val="A7DDE3"/>
                </a:solidFill>
                <a:latin typeface="Calibri"/>
                <a:ea typeface="Calibri"/>
                <a:cs typeface="Calibri"/>
              </a:rPr>
              <a:t>→</a:t>
            </a:r>
            <a:endParaRPr lang="en-US" sz="2000"/>
          </a:p>
        </p:txBody>
      </p:sp>
      <p:sp>
        <p:nvSpPr>
          <p:cNvPr id="1287065523" name="Text 18"/>
          <p:cNvSpPr txBox="1"/>
          <p:nvPr/>
        </p:nvSpPr>
        <p:spPr bwMode="auto">
          <a:xfrm>
            <a:off x="5166360" y="5029200"/>
            <a:ext cx="1874520" cy="777240"/>
          </a:xfrm>
          <a:prstGeom prst="rect">
            <a:avLst/>
          </a:prstGeom>
          <a:solidFill>
            <a:srgbClr val="F1F3F4"/>
          </a:solidFill>
          <a:ln w="12700">
            <a:solidFill>
              <a:srgbClr val="DADCE0"/>
            </a:solidFill>
          </a:ln>
        </p:spPr>
        <p:txBody>
          <a:bodyPr wrap="square" lIns="88900" tIns="88900" rIns="88900" bIns="88900" rtlCol="0" anchor="ctr"/>
          <a:lstStyle/>
          <a:p>
            <a:pPr marL="0" indent="0">
              <a:buNone/>
              <a:defRPr/>
            </a:pPr>
            <a:endParaRPr lang="en-US" sz="1100"/>
          </a:p>
        </p:txBody>
      </p:sp>
      <p:sp>
        <p:nvSpPr>
          <p:cNvPr id="408788017" name="Shape 19"/>
          <p:cNvSpPr/>
          <p:nvPr/>
        </p:nvSpPr>
        <p:spPr bwMode="auto">
          <a:xfrm>
            <a:off x="7452360" y="1737360"/>
            <a:ext cx="1874520" cy="3200400"/>
          </a:xfrm>
          <a:prstGeom prst="roundRect">
            <a:avLst>
              <a:gd name="adj" fmla="val 3902"/>
            </a:avLst>
          </a:prstGeom>
          <a:solidFill>
            <a:srgbClr val="E4F5F7"/>
          </a:solidFill>
          <a:ln w="12700">
            <a:solidFill>
              <a:srgbClr val="A7DDE3"/>
            </a:solidFill>
            <a:prstDash val="solid"/>
          </a:ln>
        </p:spPr>
      </p:sp>
      <p:sp>
        <p:nvSpPr>
          <p:cNvPr id="1439358821" name="Text 20"/>
          <p:cNvSpPr txBox="1"/>
          <p:nvPr/>
        </p:nvSpPr>
        <p:spPr bwMode="auto">
          <a:xfrm>
            <a:off x="7562088" y="1828800"/>
            <a:ext cx="274320" cy="22860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3</a:t>
            </a:r>
            <a:endParaRPr lang="en-US" sz="1100"/>
          </a:p>
        </p:txBody>
      </p:sp>
      <p:sp>
        <p:nvSpPr>
          <p:cNvPr id="1626069165" name="Text 21"/>
          <p:cNvSpPr txBox="1"/>
          <p:nvPr/>
        </p:nvSpPr>
        <p:spPr bwMode="auto">
          <a:xfrm>
            <a:off x="7589520" y="2926080"/>
            <a:ext cx="1600200" cy="640080"/>
          </a:xfrm>
          <a:prstGeom prst="rect">
            <a:avLst/>
          </a:prstGeom>
          <a:noFill/>
          <a:ln/>
        </p:spPr>
        <p:txBody>
          <a:bodyPr wrap="square" lIns="0" tIns="0" rIns="0" bIns="0" rtlCol="0" anchor="ctr"/>
          <a:lstStyle/>
          <a:p>
            <a:pPr marL="0" indent="0" algn="ctr">
              <a:buNone/>
              <a:defRPr/>
            </a:pPr>
            <a:r>
              <a:rPr lang="en-US" sz="1000" i="1">
                <a:solidFill>
                  <a:srgbClr val="5F6368"/>
                </a:solidFill>
                <a:latin typeface="Calibri"/>
                <a:ea typeface="Calibri"/>
                <a:cs typeface="Calibri"/>
              </a:rPr>
              <a:t>pega o dibuja</a:t>
            </a:r>
            <a:endParaRPr lang="en-US" sz="1000"/>
          </a:p>
          <a:p>
            <a:pPr marL="0" indent="0" algn="ctr">
              <a:buNone/>
              <a:defRPr/>
            </a:pPr>
            <a:r>
              <a:rPr lang="en-US" sz="1000" i="1">
                <a:solidFill>
                  <a:srgbClr val="5F6368"/>
                </a:solidFill>
                <a:latin typeface="Calibri"/>
                <a:ea typeface="Calibri"/>
                <a:cs typeface="Calibri"/>
              </a:rPr>
              <a:t>aquí tu pantalla</a:t>
            </a:r>
            <a:endParaRPr lang="en-US" sz="1000"/>
          </a:p>
        </p:txBody>
      </p:sp>
      <p:sp>
        <p:nvSpPr>
          <p:cNvPr id="1415976524" name="Text 22"/>
          <p:cNvSpPr txBox="1"/>
          <p:nvPr/>
        </p:nvSpPr>
        <p:spPr bwMode="auto">
          <a:xfrm>
            <a:off x="9326880" y="1737360"/>
            <a:ext cx="411480" cy="3200400"/>
          </a:xfrm>
          <a:prstGeom prst="rect">
            <a:avLst/>
          </a:prstGeom>
          <a:noFill/>
          <a:ln/>
        </p:spPr>
        <p:txBody>
          <a:bodyPr wrap="square" lIns="0" tIns="0" rIns="0" bIns="0" rtlCol="0" anchor="ctr"/>
          <a:lstStyle/>
          <a:p>
            <a:pPr marL="0" indent="0" algn="ctr">
              <a:buNone/>
              <a:defRPr/>
            </a:pPr>
            <a:r>
              <a:rPr lang="en-US" sz="2000" b="1">
                <a:solidFill>
                  <a:srgbClr val="A7DDE3"/>
                </a:solidFill>
                <a:latin typeface="Calibri"/>
                <a:ea typeface="Calibri"/>
                <a:cs typeface="Calibri"/>
              </a:rPr>
              <a:t>→</a:t>
            </a:r>
            <a:endParaRPr lang="en-US" sz="2000"/>
          </a:p>
        </p:txBody>
      </p:sp>
      <p:sp>
        <p:nvSpPr>
          <p:cNvPr id="493738746" name="Text 23"/>
          <p:cNvSpPr txBox="1"/>
          <p:nvPr/>
        </p:nvSpPr>
        <p:spPr bwMode="auto">
          <a:xfrm>
            <a:off x="7452360" y="5029200"/>
            <a:ext cx="1874520" cy="777240"/>
          </a:xfrm>
          <a:prstGeom prst="rect">
            <a:avLst/>
          </a:prstGeom>
          <a:solidFill>
            <a:srgbClr val="F1F3F4"/>
          </a:solidFill>
          <a:ln w="12700">
            <a:solidFill>
              <a:srgbClr val="DADCE0"/>
            </a:solidFill>
          </a:ln>
        </p:spPr>
        <p:txBody>
          <a:bodyPr wrap="square" lIns="88900" tIns="88900" rIns="88900" bIns="88900" rtlCol="0" anchor="ctr"/>
          <a:lstStyle/>
          <a:p>
            <a:pPr marL="0" indent="0">
              <a:buNone/>
              <a:defRPr/>
            </a:pPr>
            <a:endParaRPr lang="en-US" sz="1100"/>
          </a:p>
        </p:txBody>
      </p:sp>
      <p:sp>
        <p:nvSpPr>
          <p:cNvPr id="936416498" name="Shape 24"/>
          <p:cNvSpPr/>
          <p:nvPr/>
        </p:nvSpPr>
        <p:spPr bwMode="auto">
          <a:xfrm>
            <a:off x="9738360" y="1737360"/>
            <a:ext cx="1874520" cy="3200400"/>
          </a:xfrm>
          <a:prstGeom prst="roundRect">
            <a:avLst>
              <a:gd name="adj" fmla="val 3902"/>
            </a:avLst>
          </a:prstGeom>
          <a:solidFill>
            <a:srgbClr val="E4F5F7"/>
          </a:solidFill>
          <a:ln w="12700">
            <a:solidFill>
              <a:srgbClr val="A7DDE3"/>
            </a:solidFill>
            <a:prstDash val="solid"/>
          </a:ln>
        </p:spPr>
      </p:sp>
      <p:sp>
        <p:nvSpPr>
          <p:cNvPr id="1480467556" name="Text 25"/>
          <p:cNvSpPr txBox="1"/>
          <p:nvPr/>
        </p:nvSpPr>
        <p:spPr bwMode="auto">
          <a:xfrm>
            <a:off x="9848088" y="1828800"/>
            <a:ext cx="274320" cy="228600"/>
          </a:xfrm>
          <a:prstGeom prst="rect">
            <a:avLst/>
          </a:prstGeom>
          <a:noFill/>
          <a:ln/>
        </p:spPr>
        <p:txBody>
          <a:bodyPr wrap="square" lIns="0" tIns="0" rIns="0" bIns="0" rtlCol="0" anchor="ctr"/>
          <a:lstStyle/>
          <a:p>
            <a:pPr marL="0" indent="0">
              <a:buNone/>
              <a:defRPr/>
            </a:pPr>
            <a:r>
              <a:rPr lang="en-US" sz="1100" b="1">
                <a:solidFill>
                  <a:srgbClr val="00838F"/>
                </a:solidFill>
                <a:latin typeface="Arial"/>
                <a:ea typeface="Arial"/>
                <a:cs typeface="Arial"/>
              </a:rPr>
              <a:t>4</a:t>
            </a:r>
            <a:endParaRPr lang="en-US" sz="1100"/>
          </a:p>
        </p:txBody>
      </p:sp>
      <p:sp>
        <p:nvSpPr>
          <p:cNvPr id="47180955" name="Text 26"/>
          <p:cNvSpPr txBox="1"/>
          <p:nvPr/>
        </p:nvSpPr>
        <p:spPr bwMode="auto">
          <a:xfrm>
            <a:off x="9875520" y="2926080"/>
            <a:ext cx="1600200" cy="640080"/>
          </a:xfrm>
          <a:prstGeom prst="rect">
            <a:avLst/>
          </a:prstGeom>
          <a:noFill/>
          <a:ln/>
        </p:spPr>
        <p:txBody>
          <a:bodyPr wrap="square" lIns="0" tIns="0" rIns="0" bIns="0" rtlCol="0" anchor="ctr"/>
          <a:lstStyle/>
          <a:p>
            <a:pPr marL="0" indent="0" algn="ctr">
              <a:buNone/>
              <a:defRPr/>
            </a:pPr>
            <a:r>
              <a:rPr lang="en-US" sz="1000" i="1">
                <a:solidFill>
                  <a:srgbClr val="5F6368"/>
                </a:solidFill>
                <a:latin typeface="Calibri"/>
                <a:ea typeface="Calibri"/>
                <a:cs typeface="Calibri"/>
              </a:rPr>
              <a:t>pega o dibuja</a:t>
            </a:r>
            <a:endParaRPr lang="en-US" sz="1000"/>
          </a:p>
          <a:p>
            <a:pPr marL="0" indent="0" algn="ctr">
              <a:buNone/>
              <a:defRPr/>
            </a:pPr>
            <a:r>
              <a:rPr lang="en-US" sz="1000" i="1">
                <a:solidFill>
                  <a:srgbClr val="5F6368"/>
                </a:solidFill>
                <a:latin typeface="Calibri"/>
                <a:ea typeface="Calibri"/>
                <a:cs typeface="Calibri"/>
              </a:rPr>
              <a:t>aquí tu pantalla</a:t>
            </a:r>
            <a:endParaRPr lang="en-US" sz="1000"/>
          </a:p>
        </p:txBody>
      </p:sp>
      <p:sp>
        <p:nvSpPr>
          <p:cNvPr id="1077342552" name="Text 27"/>
          <p:cNvSpPr txBox="1"/>
          <p:nvPr/>
        </p:nvSpPr>
        <p:spPr bwMode="auto">
          <a:xfrm>
            <a:off x="9738360" y="5029200"/>
            <a:ext cx="1874520" cy="777240"/>
          </a:xfrm>
          <a:prstGeom prst="rect">
            <a:avLst/>
          </a:prstGeom>
          <a:solidFill>
            <a:srgbClr val="F1F3F4"/>
          </a:solidFill>
          <a:ln w="12700">
            <a:solidFill>
              <a:srgbClr val="DADCE0"/>
            </a:solidFill>
          </a:ln>
        </p:spPr>
        <p:txBody>
          <a:bodyPr wrap="square" lIns="88900" tIns="88900" rIns="88900" bIns="88900" rtlCol="0" anchor="ctr"/>
          <a:lstStyle/>
          <a:p>
            <a:pPr marL="0" indent="0">
              <a:buNone/>
              <a:defRPr/>
            </a:pPr>
            <a:endParaRPr lang="en-US" sz="1100"/>
          </a:p>
        </p:txBody>
      </p:sp>
      <p:sp>
        <p:nvSpPr>
          <p:cNvPr id="1634340582" name="Text 28"/>
          <p:cNvSpPr txBox="1"/>
          <p:nvPr/>
        </p:nvSpPr>
        <p:spPr bwMode="auto">
          <a:xfrm>
            <a:off x="2880360" y="5897880"/>
            <a:ext cx="8851392" cy="274320"/>
          </a:xfrm>
          <a:prstGeom prst="rect">
            <a:avLst/>
          </a:prstGeom>
          <a:noFill/>
          <a:ln/>
        </p:spPr>
        <p:txBody>
          <a:bodyPr wrap="square" lIns="0" tIns="0" rIns="0" bIns="0" rtlCol="0" anchor="ctr"/>
          <a:lstStyle/>
          <a:p>
            <a:pPr marL="0" indent="0">
              <a:buNone/>
              <a:defRPr/>
            </a:pPr>
            <a:r>
              <a:rPr lang="en-US" sz="1100" i="1">
                <a:solidFill>
                  <a:srgbClr val="5F6368"/>
                </a:solidFill>
                <a:latin typeface="Calibri"/>
                <a:ea typeface="Calibri"/>
                <a:cs typeface="Calibri"/>
              </a:rPr>
              <a:t>¿Qué pantalla es y qué acción lleva a la siguiente?</a:t>
            </a:r>
            <a:endParaRPr lang="en-US" sz="1100"/>
          </a:p>
        </p:txBody>
      </p:sp>
      <p:sp>
        <p:nvSpPr>
          <p:cNvPr id="1622479842" name="Text 29"/>
          <p:cNvSpPr txBox="1"/>
          <p:nvPr/>
        </p:nvSpPr>
        <p:spPr bwMode="auto">
          <a:xfrm>
            <a:off x="2880360" y="6355080"/>
            <a:ext cx="8851392"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¿Qué pasa si el usuario se equivoca, cancela o no tiene internet?</a:t>
            </a:r>
            <a:endParaRPr lang="en-US" sz="1200"/>
          </a:p>
        </p:txBody>
      </p:sp>
      <p:sp>
        <p:nvSpPr>
          <p:cNvPr id="775811198" name="Text 30"/>
          <p:cNvSpPr txBox="1"/>
          <p:nvPr/>
        </p:nvSpPr>
        <p:spPr bwMode="auto">
          <a:xfrm>
            <a:off x="2880360" y="6629400"/>
            <a:ext cx="8851392" cy="96012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952996811" name="Text 31"/>
          <p:cNvSpPr txBox="1"/>
          <p:nvPr/>
        </p:nvSpPr>
        <p:spPr bwMode="auto">
          <a:xfrm>
            <a:off x="2880360" y="7772400"/>
            <a:ext cx="8851392"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¿Cuántos toques necesita la persona para lograr su objetivo? ¿Se puede en menos?</a:t>
            </a:r>
            <a:endParaRPr lang="en-US" sz="1200"/>
          </a:p>
        </p:txBody>
      </p:sp>
      <p:sp>
        <p:nvSpPr>
          <p:cNvPr id="2108280785" name="Text 32"/>
          <p:cNvSpPr txBox="1"/>
          <p:nvPr/>
        </p:nvSpPr>
        <p:spPr bwMode="auto">
          <a:xfrm>
            <a:off x="2880360" y="8046720"/>
            <a:ext cx="8851392" cy="4572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811624822" name="Text 33"/>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14</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sp>
        <p:nvSpPr>
          <p:cNvPr id="309206346" name="Shape 0"/>
          <p:cNvSpPr/>
          <p:nvPr/>
        </p:nvSpPr>
        <p:spPr bwMode="auto">
          <a:xfrm>
            <a:off x="0" y="0"/>
            <a:ext cx="2514600" cy="9144000"/>
          </a:xfrm>
          <a:prstGeom prst="rect">
            <a:avLst/>
          </a:prstGeom>
          <a:solidFill>
            <a:srgbClr val="37474F"/>
          </a:solidFill>
          <a:ln/>
        </p:spPr>
      </p:sp>
      <p:sp>
        <p:nvSpPr>
          <p:cNvPr id="1534767036"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EJEMPLO</a:t>
            </a:r>
            <a:endParaRPr lang="en-US" sz="1100"/>
          </a:p>
        </p:txBody>
      </p:sp>
      <p:sp>
        <p:nvSpPr>
          <p:cNvPr id="799459247"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400" b="1">
                <a:solidFill>
                  <a:srgbClr val="FFFFFF"/>
                </a:solidFill>
                <a:latin typeface="Arial"/>
                <a:ea typeface="Arial"/>
                <a:cs typeface="Arial"/>
              </a:rPr>
              <a:t>Bache Cero</a:t>
            </a:r>
            <a:endParaRPr lang="en-US" sz="2400"/>
          </a:p>
        </p:txBody>
      </p:sp>
      <p:sp>
        <p:nvSpPr>
          <p:cNvPr id="2053918256" name="Text 3"/>
          <p:cNvSpPr txBox="1"/>
          <p:nvPr/>
        </p:nvSpPr>
        <p:spPr bwMode="auto">
          <a:xfrm>
            <a:off x="320040" y="1417320"/>
            <a:ext cx="2011680" cy="1463040"/>
          </a:xfrm>
          <a:prstGeom prst="rect">
            <a:avLst/>
          </a:prstGeom>
          <a:noFill/>
          <a:ln/>
        </p:spPr>
        <p:txBody>
          <a:bodyPr wrap="square" lIns="0" tIns="0" rIns="0" bIns="0" rtlCol="0" anchor="t"/>
          <a:lstStyle/>
          <a:p>
            <a:pPr marL="0" indent="0">
              <a:lnSpc>
                <a:spcPct val="114999"/>
              </a:lnSpc>
              <a:buNone/>
              <a:defRPr/>
            </a:pPr>
            <a:r>
              <a:rPr lang="en-US" sz="1200">
                <a:solidFill>
                  <a:srgbClr val="CFD8DC"/>
                </a:solidFill>
                <a:latin typeface="Calibri"/>
                <a:ea typeface="Calibri"/>
                <a:cs typeface="Calibri"/>
              </a:rPr>
              <a:t>Así se ve el nivel de detalle que esperamos en cada página. No copies este ejemplo: úsalo para calibrar tu propio trabajo.</a:t>
            </a:r>
            <a:endParaRPr lang="en-US" sz="1200"/>
          </a:p>
        </p:txBody>
      </p:sp>
      <p:sp>
        <p:nvSpPr>
          <p:cNvPr id="103495491" name="Text 4"/>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Ejemplo completo: una página llena</a:t>
            </a:r>
            <a:endParaRPr lang="en-US" sz="2500"/>
          </a:p>
        </p:txBody>
      </p:sp>
      <p:sp>
        <p:nvSpPr>
          <p:cNvPr id="231742591" name="Text 5"/>
          <p:cNvSpPr txBox="1"/>
          <p:nvPr/>
        </p:nvSpPr>
        <p:spPr bwMode="auto">
          <a:xfrm>
            <a:off x="2880360" y="1005840"/>
            <a:ext cx="8851392" cy="4572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Una app para reportar baches y pistas en mal estado en Arequipa, con foto y ubicación, para que el municipio y los vecinos sepan dónde están.</a:t>
            </a:r>
            <a:endParaRPr lang="en-US" sz="1400"/>
          </a:p>
        </p:txBody>
      </p:sp>
      <p:sp>
        <p:nvSpPr>
          <p:cNvPr id="1600942767" name="Shape 6"/>
          <p:cNvSpPr/>
          <p:nvPr/>
        </p:nvSpPr>
        <p:spPr bwMode="auto">
          <a:xfrm>
            <a:off x="2880360" y="1600200"/>
            <a:ext cx="8851392" cy="868680"/>
          </a:xfrm>
          <a:prstGeom prst="rect">
            <a:avLst/>
          </a:prstGeom>
          <a:solidFill>
            <a:srgbClr val="E4F5F7"/>
          </a:solidFill>
          <a:ln/>
        </p:spPr>
      </p:sp>
      <p:sp>
        <p:nvSpPr>
          <p:cNvPr id="1587915173" name="Text 7"/>
          <p:cNvSpPr txBox="1"/>
          <p:nvPr/>
        </p:nvSpPr>
        <p:spPr bwMode="auto">
          <a:xfrm>
            <a:off x="3063240" y="1728216"/>
            <a:ext cx="192024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La idea</a:t>
            </a:r>
            <a:endParaRPr lang="en-US" sz="1200"/>
          </a:p>
        </p:txBody>
      </p:sp>
      <p:sp>
        <p:nvSpPr>
          <p:cNvPr id="646701528" name="Text 8"/>
          <p:cNvSpPr txBox="1"/>
          <p:nvPr/>
        </p:nvSpPr>
        <p:spPr bwMode="auto">
          <a:xfrm>
            <a:off x="5074920" y="1728216"/>
            <a:ext cx="6473952" cy="612648"/>
          </a:xfrm>
          <a:prstGeom prst="rect">
            <a:avLst/>
          </a:prstGeom>
          <a:noFill/>
          <a:ln/>
        </p:spPr>
        <p:txBody>
          <a:bodyPr wrap="square" lIns="0" tIns="0" rIns="0" bIns="0" rtlCol="0" anchor="t"/>
          <a:lstStyle/>
          <a:p>
            <a:pPr marL="0" indent="0">
              <a:lnSpc>
                <a:spcPct val="110000"/>
              </a:lnSpc>
              <a:buNone/>
              <a:defRPr/>
            </a:pPr>
            <a:r>
              <a:rPr lang="en-US" sz="1200">
                <a:solidFill>
                  <a:srgbClr val="202124"/>
                </a:solidFill>
                <a:latin typeface="Calibri"/>
                <a:ea typeface="Calibri"/>
                <a:cs typeface="Calibri"/>
              </a:rPr>
              <a:t>Mi app ayudará a los vecinos y ciclistas de Arequipa con los baches que causan accidentes, mediante reportes con foto y ubicación que cualquiera puede consultar en un mapa.</a:t>
            </a:r>
            <a:endParaRPr lang="en-US" sz="1200"/>
          </a:p>
        </p:txBody>
      </p:sp>
      <p:sp>
        <p:nvSpPr>
          <p:cNvPr id="985331276" name="Shape 9"/>
          <p:cNvSpPr/>
          <p:nvPr/>
        </p:nvSpPr>
        <p:spPr bwMode="auto">
          <a:xfrm>
            <a:off x="2880360" y="2670048"/>
            <a:ext cx="8851392" cy="868680"/>
          </a:xfrm>
          <a:prstGeom prst="rect">
            <a:avLst/>
          </a:prstGeom>
          <a:solidFill>
            <a:srgbClr val="E4F5F7"/>
          </a:solidFill>
          <a:ln/>
        </p:spPr>
      </p:sp>
      <p:sp>
        <p:nvSpPr>
          <p:cNvPr id="1447039019" name="Text 10"/>
          <p:cNvSpPr txBox="1"/>
          <p:nvPr/>
        </p:nvSpPr>
        <p:spPr bwMode="auto">
          <a:xfrm>
            <a:off x="3063240" y="2798064"/>
            <a:ext cx="192024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Acciones del usuario</a:t>
            </a:r>
            <a:endParaRPr lang="en-US" sz="1200"/>
          </a:p>
        </p:txBody>
      </p:sp>
      <p:sp>
        <p:nvSpPr>
          <p:cNvPr id="313001578" name="Text 11"/>
          <p:cNvSpPr txBox="1"/>
          <p:nvPr/>
        </p:nvSpPr>
        <p:spPr bwMode="auto">
          <a:xfrm>
            <a:off x="5074920" y="2798064"/>
            <a:ext cx="6473952" cy="612648"/>
          </a:xfrm>
          <a:prstGeom prst="rect">
            <a:avLst/>
          </a:prstGeom>
          <a:noFill/>
          <a:ln/>
        </p:spPr>
        <p:txBody>
          <a:bodyPr wrap="square" lIns="0" tIns="0" rIns="0" bIns="0" rtlCol="0" anchor="t"/>
          <a:lstStyle/>
          <a:p>
            <a:pPr marL="0" indent="0">
              <a:lnSpc>
                <a:spcPct val="110000"/>
              </a:lnSpc>
              <a:buNone/>
              <a:defRPr/>
            </a:pPr>
            <a:r>
              <a:rPr lang="en-US" sz="1200">
                <a:solidFill>
                  <a:srgbClr val="202124"/>
                </a:solidFill>
                <a:latin typeface="Calibri"/>
                <a:ea typeface="Calibri"/>
                <a:cs typeface="Calibri"/>
              </a:rPr>
              <a:t>Tomar foto del bache · Confirmar la ubicación · Elegir la gravedad · Enviar el reporte · Ver el mapa de reportes cercanos · Confirmar que un bache ya fue reparado</a:t>
            </a:r>
            <a:endParaRPr lang="en-US" sz="1200"/>
          </a:p>
        </p:txBody>
      </p:sp>
      <p:sp>
        <p:nvSpPr>
          <p:cNvPr id="427958633" name="Shape 12"/>
          <p:cNvSpPr/>
          <p:nvPr/>
        </p:nvSpPr>
        <p:spPr bwMode="auto">
          <a:xfrm>
            <a:off x="2880360" y="3739896"/>
            <a:ext cx="8851392" cy="1051560"/>
          </a:xfrm>
          <a:prstGeom prst="rect">
            <a:avLst/>
          </a:prstGeom>
          <a:solidFill>
            <a:srgbClr val="E4F5F7"/>
          </a:solidFill>
          <a:ln/>
        </p:spPr>
      </p:sp>
      <p:sp>
        <p:nvSpPr>
          <p:cNvPr id="809023569" name="Text 13"/>
          <p:cNvSpPr txBox="1"/>
          <p:nvPr/>
        </p:nvSpPr>
        <p:spPr bwMode="auto">
          <a:xfrm>
            <a:off x="3063240" y="3867911"/>
            <a:ext cx="192024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Entrada → estado</a:t>
            </a:r>
            <a:endParaRPr lang="en-US" sz="1200"/>
          </a:p>
        </p:txBody>
      </p:sp>
      <p:sp>
        <p:nvSpPr>
          <p:cNvPr id="1167552038" name="Text 14"/>
          <p:cNvSpPr txBox="1"/>
          <p:nvPr/>
        </p:nvSpPr>
        <p:spPr bwMode="auto">
          <a:xfrm>
            <a:off x="5074920" y="3867911"/>
            <a:ext cx="6473952" cy="795528"/>
          </a:xfrm>
          <a:prstGeom prst="rect">
            <a:avLst/>
          </a:prstGeom>
          <a:noFill/>
          <a:ln/>
        </p:spPr>
        <p:txBody>
          <a:bodyPr wrap="square" lIns="0" tIns="0" rIns="0" bIns="0" rtlCol="0" anchor="t"/>
          <a:lstStyle/>
          <a:p>
            <a:pPr marL="0" indent="0">
              <a:lnSpc>
                <a:spcPct val="110000"/>
              </a:lnSpc>
              <a:buNone/>
              <a:defRPr/>
            </a:pPr>
            <a:r>
              <a:rPr lang="en-US" sz="1200">
                <a:solidFill>
                  <a:srgbClr val="202124"/>
                </a:solidFill>
                <a:latin typeface="Calibri"/>
                <a:ea typeface="Calibri"/>
                <a:cs typeface="Calibri"/>
              </a:rPr>
              <a:t>Toca "reportar" → se abre la cámara y se guarda un borrador local · Envía el reporte → pasa de "pendiente" a "enviado" y aparece en el mapa · Abre la app sin internet → muestra los reportes guardados y encola el envío</a:t>
            </a:r>
            <a:endParaRPr lang="en-US" sz="1200"/>
          </a:p>
        </p:txBody>
      </p:sp>
      <p:sp>
        <p:nvSpPr>
          <p:cNvPr id="1598693313" name="Shape 15"/>
          <p:cNvSpPr/>
          <p:nvPr/>
        </p:nvSpPr>
        <p:spPr bwMode="auto">
          <a:xfrm>
            <a:off x="2880360" y="4992624"/>
            <a:ext cx="8851392" cy="868680"/>
          </a:xfrm>
          <a:prstGeom prst="rect">
            <a:avLst/>
          </a:prstGeom>
          <a:solidFill>
            <a:srgbClr val="E4F5F7"/>
          </a:solidFill>
          <a:ln/>
        </p:spPr>
      </p:sp>
      <p:sp>
        <p:nvSpPr>
          <p:cNvPr id="1122995178" name="Text 16"/>
          <p:cNvSpPr txBox="1"/>
          <p:nvPr/>
        </p:nvSpPr>
        <p:spPr bwMode="auto">
          <a:xfrm>
            <a:off x="3063240" y="5120640"/>
            <a:ext cx="192024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Funciones y permisos</a:t>
            </a:r>
            <a:endParaRPr lang="en-US" sz="1200"/>
          </a:p>
        </p:txBody>
      </p:sp>
      <p:sp>
        <p:nvSpPr>
          <p:cNvPr id="851275146" name="Text 17"/>
          <p:cNvSpPr txBox="1"/>
          <p:nvPr/>
        </p:nvSpPr>
        <p:spPr bwMode="auto">
          <a:xfrm>
            <a:off x="5074920" y="5120640"/>
            <a:ext cx="6473952" cy="612648"/>
          </a:xfrm>
          <a:prstGeom prst="rect">
            <a:avLst/>
          </a:prstGeom>
          <a:noFill/>
          <a:ln/>
        </p:spPr>
        <p:txBody>
          <a:bodyPr wrap="square" lIns="0" tIns="0" rIns="0" bIns="0" rtlCol="0" anchor="t"/>
          <a:lstStyle/>
          <a:p>
            <a:pPr marL="0" indent="0">
              <a:lnSpc>
                <a:spcPct val="110000"/>
              </a:lnSpc>
              <a:buNone/>
              <a:defRPr/>
            </a:pPr>
            <a:r>
              <a:rPr lang="en-US" sz="1200">
                <a:solidFill>
                  <a:srgbClr val="202124"/>
                </a:solidFill>
                <a:latin typeface="Calibri"/>
                <a:ea typeface="Calibri"/>
                <a:cs typeface="Calibri"/>
              </a:rPr>
              <a:t>CameraX, ubicación, Room, WorkManager y notificaciones. Permisos: cámara y ubicación aproximada, pedidos recién cuando el usuario toca "reportar" y explicados en una pantalla previa.</a:t>
            </a:r>
            <a:endParaRPr lang="en-US" sz="1200"/>
          </a:p>
        </p:txBody>
      </p:sp>
      <p:sp>
        <p:nvSpPr>
          <p:cNvPr id="615208975" name="Shape 18"/>
          <p:cNvSpPr/>
          <p:nvPr/>
        </p:nvSpPr>
        <p:spPr bwMode="auto">
          <a:xfrm>
            <a:off x="2880360" y="6062471"/>
            <a:ext cx="8851392" cy="868680"/>
          </a:xfrm>
          <a:prstGeom prst="rect">
            <a:avLst/>
          </a:prstGeom>
          <a:solidFill>
            <a:srgbClr val="E4F5F7"/>
          </a:solidFill>
          <a:ln/>
        </p:spPr>
      </p:sp>
      <p:sp>
        <p:nvSpPr>
          <p:cNvPr id="1495122614" name="Text 19"/>
          <p:cNvSpPr txBox="1"/>
          <p:nvPr/>
        </p:nvSpPr>
        <p:spPr bwMode="auto">
          <a:xfrm>
            <a:off x="3063240" y="6190488"/>
            <a:ext cx="192024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Accesibilidad</a:t>
            </a:r>
            <a:endParaRPr lang="en-US" sz="1200"/>
          </a:p>
        </p:txBody>
      </p:sp>
      <p:sp>
        <p:nvSpPr>
          <p:cNvPr id="183895821" name="Text 20"/>
          <p:cNvSpPr txBox="1"/>
          <p:nvPr/>
        </p:nvSpPr>
        <p:spPr bwMode="auto">
          <a:xfrm>
            <a:off x="5074920" y="6190488"/>
            <a:ext cx="6473952" cy="612648"/>
          </a:xfrm>
          <a:prstGeom prst="rect">
            <a:avLst/>
          </a:prstGeom>
          <a:noFill/>
          <a:ln/>
        </p:spPr>
        <p:txBody>
          <a:bodyPr wrap="square" lIns="0" tIns="0" rIns="0" bIns="0" rtlCol="0" anchor="t"/>
          <a:lstStyle/>
          <a:p>
            <a:pPr marL="0" indent="0">
              <a:lnSpc>
                <a:spcPct val="110000"/>
              </a:lnSpc>
              <a:buNone/>
              <a:defRPr/>
            </a:pPr>
            <a:r>
              <a:rPr lang="en-US" sz="1200">
                <a:solidFill>
                  <a:srgbClr val="202124"/>
                </a:solidFill>
                <a:latin typeface="Calibri"/>
                <a:ea typeface="Calibri"/>
                <a:cs typeface="Calibri"/>
              </a:rPr>
              <a:t>contentDescription en el botón de cámara y en cada marcador; la gravedad se distingue por ícono además del color; el reporte se puede enviar solo con la ubicación si el usuario no puede tomar la foto.</a:t>
            </a:r>
            <a:endParaRPr lang="en-US" sz="1200"/>
          </a:p>
        </p:txBody>
      </p:sp>
      <p:sp>
        <p:nvSpPr>
          <p:cNvPr id="1672958699" name="Shape 21"/>
          <p:cNvSpPr/>
          <p:nvPr/>
        </p:nvSpPr>
        <p:spPr bwMode="auto">
          <a:xfrm>
            <a:off x="2880360" y="7132320"/>
            <a:ext cx="8851392" cy="1051560"/>
          </a:xfrm>
          <a:prstGeom prst="rect">
            <a:avLst/>
          </a:prstGeom>
          <a:solidFill>
            <a:srgbClr val="E4F5F7"/>
          </a:solidFill>
          <a:ln/>
        </p:spPr>
      </p:sp>
      <p:sp>
        <p:nvSpPr>
          <p:cNvPr id="1379358913" name="Text 22"/>
          <p:cNvSpPr txBox="1"/>
          <p:nvPr/>
        </p:nvSpPr>
        <p:spPr bwMode="auto">
          <a:xfrm>
            <a:off x="3063240" y="7260336"/>
            <a:ext cx="192024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Prueba con usuarios</a:t>
            </a:r>
            <a:endParaRPr lang="en-US" sz="1200"/>
          </a:p>
        </p:txBody>
      </p:sp>
      <p:sp>
        <p:nvSpPr>
          <p:cNvPr id="714852659" name="Text 23"/>
          <p:cNvSpPr txBox="1"/>
          <p:nvPr/>
        </p:nvSpPr>
        <p:spPr bwMode="auto">
          <a:xfrm>
            <a:off x="5074920" y="7260336"/>
            <a:ext cx="6473952" cy="795528"/>
          </a:xfrm>
          <a:prstGeom prst="rect">
            <a:avLst/>
          </a:prstGeom>
          <a:noFill/>
          <a:ln/>
        </p:spPr>
        <p:txBody>
          <a:bodyPr wrap="square" lIns="0" tIns="0" rIns="0" bIns="0" rtlCol="0" anchor="t"/>
          <a:lstStyle/>
          <a:p>
            <a:pPr marL="0" indent="0">
              <a:lnSpc>
                <a:spcPct val="110000"/>
              </a:lnSpc>
              <a:buNone/>
              <a:defRPr/>
            </a:pPr>
            <a:r>
              <a:rPr lang="en-US" sz="1200">
                <a:solidFill>
                  <a:srgbClr val="202124"/>
                </a:solidFill>
                <a:latin typeface="Calibri"/>
                <a:ea typeface="Calibri"/>
                <a:cs typeface="Calibri"/>
              </a:rPr>
              <a:t>Tres personas: un ciclista, una vecina de 60 años y un compañero de clase. Tarea: "reporta el bache de la esquina". Resultado: dos no encontraron el botón de enviar; se movió a la parte inferior de la pantalla.</a:t>
            </a:r>
            <a:endParaRPr lang="en-US" sz="1200"/>
          </a:p>
        </p:txBody>
      </p:sp>
      <p:sp>
        <p:nvSpPr>
          <p:cNvPr id="539528289" name="Text 24"/>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15</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FFFFFF"/>
        </a:solidFill>
      </p:bgPr>
    </p:bg>
    <p:spTree>
      <p:nvGrpSpPr>
        <p:cNvPr id="1" name=""/>
        <p:cNvGrpSpPr/>
        <p:nvPr/>
      </p:nvGrpSpPr>
      <p:grpSpPr bwMode="auto">
        <a:xfrm>
          <a:off x="0" y="0"/>
          <a:ext cx="0" cy="0"/>
          <a:chOff x="0" y="0"/>
          <a:chExt cx="0" cy="0"/>
        </a:xfrm>
      </p:grpSpPr>
      <p:sp>
        <p:nvSpPr>
          <p:cNvPr id="387014766" name="Shape 0"/>
          <p:cNvSpPr/>
          <p:nvPr/>
        </p:nvSpPr>
        <p:spPr bwMode="auto">
          <a:xfrm>
            <a:off x="0" y="0"/>
            <a:ext cx="2514600" cy="9144000"/>
          </a:xfrm>
          <a:prstGeom prst="rect">
            <a:avLst/>
          </a:prstGeom>
          <a:solidFill>
            <a:srgbClr val="00838F"/>
          </a:solidFill>
          <a:ln/>
        </p:spPr>
      </p:sp>
      <p:sp>
        <p:nvSpPr>
          <p:cNvPr id="756636468"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3</a:t>
            </a:r>
            <a:endParaRPr lang="en-US" sz="1100"/>
          </a:p>
        </p:txBody>
      </p:sp>
      <p:sp>
        <p:nvSpPr>
          <p:cNvPr id="336623837"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Prototipa</a:t>
            </a:r>
            <a:endParaRPr lang="en-US" sz="2600"/>
          </a:p>
        </p:txBody>
      </p:sp>
      <p:sp>
        <p:nvSpPr>
          <p:cNvPr id="1127395049"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4E9ED"/>
                </a:solidFill>
                <a:latin typeface="Calibri"/>
                <a:ea typeface="Calibri"/>
                <a:cs typeface="Calibri"/>
              </a:rPr>
              <a:t>Pantallas</a:t>
            </a:r>
            <a:endParaRPr lang="en-US" sz="1300"/>
          </a:p>
          <a:p>
            <a:pPr marL="0" indent="0">
              <a:spcAft>
                <a:spcPts val="800"/>
              </a:spcAft>
              <a:buNone/>
              <a:defRPr/>
            </a:pPr>
            <a:r>
              <a:rPr lang="en-US" sz="1300">
                <a:solidFill>
                  <a:srgbClr val="C4E9ED"/>
                </a:solidFill>
                <a:latin typeface="Calibri"/>
                <a:ea typeface="Calibri"/>
                <a:cs typeface="Calibri"/>
              </a:rPr>
              <a:t>Flujo de la app</a:t>
            </a:r>
            <a:endParaRPr lang="en-US" sz="1300"/>
          </a:p>
          <a:p>
            <a:pPr marL="0" indent="0">
              <a:spcAft>
                <a:spcPts val="800"/>
              </a:spcAft>
              <a:buNone/>
              <a:defRPr/>
            </a:pPr>
            <a:r>
              <a:rPr lang="en-US" sz="1300" b="1">
                <a:solidFill>
                  <a:srgbClr val="FFFFFF"/>
                </a:solidFill>
                <a:latin typeface="Calibri"/>
                <a:ea typeface="Calibri"/>
                <a:cs typeface="Calibri"/>
              </a:rPr>
              <a:t>Respuesta de la app</a:t>
            </a:r>
            <a:endParaRPr lang="en-US" sz="1300"/>
          </a:p>
          <a:p>
            <a:pPr marL="0" indent="0">
              <a:spcAft>
                <a:spcPts val="800"/>
              </a:spcAft>
              <a:buNone/>
              <a:defRPr/>
            </a:pPr>
            <a:r>
              <a:rPr lang="en-US" sz="1300">
                <a:solidFill>
                  <a:srgbClr val="C4E9ED"/>
                </a:solidFill>
                <a:latin typeface="Calibri"/>
                <a:ea typeface="Calibri"/>
                <a:cs typeface="Calibri"/>
              </a:rPr>
              <a:t>Estilo Material 3</a:t>
            </a:r>
            <a:endParaRPr lang="en-US" sz="1300"/>
          </a:p>
          <a:p>
            <a:pPr marL="0" indent="0">
              <a:spcAft>
                <a:spcPts val="800"/>
              </a:spcAft>
              <a:buNone/>
              <a:defRPr/>
            </a:pPr>
            <a:r>
              <a:rPr lang="en-US" sz="1300">
                <a:solidFill>
                  <a:srgbClr val="C4E9ED"/>
                </a:solidFill>
                <a:latin typeface="Calibri"/>
                <a:ea typeface="Calibri"/>
                <a:cs typeface="Calibri"/>
              </a:rPr>
              <a:t>Ícono y nombre</a:t>
            </a:r>
            <a:endParaRPr lang="en-US" sz="1300"/>
          </a:p>
        </p:txBody>
      </p:sp>
      <p:sp>
        <p:nvSpPr>
          <p:cNvPr id="1705554338" name="Shape 4"/>
          <p:cNvSpPr/>
          <p:nvPr/>
        </p:nvSpPr>
        <p:spPr bwMode="auto">
          <a:xfrm>
            <a:off x="320040" y="7269480"/>
            <a:ext cx="1005840" cy="0"/>
          </a:xfrm>
          <a:prstGeom prst="line">
            <a:avLst/>
          </a:prstGeom>
          <a:noFill/>
          <a:ln w="19050">
            <a:solidFill>
              <a:srgbClr val="FFFFFF"/>
            </a:solidFill>
            <a:prstDash val="solid"/>
          </a:ln>
        </p:spPr>
      </p:sp>
      <p:sp>
        <p:nvSpPr>
          <p:cNvPr id="328612766"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RECUERDA</a:t>
            </a:r>
            <a:endParaRPr lang="en-US" sz="1000"/>
          </a:p>
        </p:txBody>
      </p:sp>
      <p:sp>
        <p:nvSpPr>
          <p:cNvPr id="1877149367"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Si algo tarda más de un segundo fuera de pantalla, en pantalla tiene que haber señal de que la app está trabajando.</a:t>
            </a:r>
            <a:endParaRPr lang="en-US" sz="1100"/>
          </a:p>
        </p:txBody>
      </p:sp>
      <p:sp>
        <p:nvSpPr>
          <p:cNvPr id="977636135"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Cómo responde mi app</a:t>
            </a:r>
            <a:endParaRPr lang="en-US" sz="2500"/>
          </a:p>
        </p:txBody>
      </p:sp>
      <p:sp>
        <p:nvSpPr>
          <p:cNvPr id="1539681757" name="Text 8"/>
          <p:cNvSpPr txBox="1"/>
          <p:nvPr/>
        </p:nvSpPr>
        <p:spPr bwMode="auto">
          <a:xfrm>
            <a:off x="2880360" y="1051560"/>
            <a:ext cx="8851392" cy="7315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Cada acción del usuario provoca dos cosas: lo que se ve en pantalla (navegar, mostrar un mensaje, animar, cambiar un ícono) y lo que ocurre por detrás y no se ve (guardar en la base de datos, llamar a una API, calcular, subir una foto). Sepáralas para tu acción principal y para tres acciones más.</a:t>
            </a:r>
            <a:endParaRPr lang="en-US" sz="1400"/>
          </a:p>
        </p:txBody>
      </p:sp>
      <p:sp>
        <p:nvSpPr>
          <p:cNvPr id="1580775062" name="Shape 9"/>
          <p:cNvSpPr/>
          <p:nvPr/>
        </p:nvSpPr>
        <p:spPr bwMode="auto">
          <a:xfrm>
            <a:off x="2880360" y="2011680"/>
            <a:ext cx="2377440" cy="365760"/>
          </a:xfrm>
          <a:prstGeom prst="rect">
            <a:avLst/>
          </a:prstGeom>
          <a:solidFill>
            <a:srgbClr val="00838F"/>
          </a:solidFill>
          <a:ln/>
        </p:spPr>
      </p:sp>
      <p:sp>
        <p:nvSpPr>
          <p:cNvPr id="2080840575" name="Text 10"/>
          <p:cNvSpPr txBox="1"/>
          <p:nvPr/>
        </p:nvSpPr>
        <p:spPr bwMode="auto">
          <a:xfrm>
            <a:off x="2990088" y="2011680"/>
            <a:ext cx="2157984"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Acción del usuario</a:t>
            </a:r>
            <a:endParaRPr lang="en-US" sz="1200"/>
          </a:p>
        </p:txBody>
      </p:sp>
      <p:sp>
        <p:nvSpPr>
          <p:cNvPr id="1764204892" name="Shape 11"/>
          <p:cNvSpPr/>
          <p:nvPr/>
        </p:nvSpPr>
        <p:spPr bwMode="auto">
          <a:xfrm>
            <a:off x="5394960" y="2011680"/>
            <a:ext cx="3108960" cy="365760"/>
          </a:xfrm>
          <a:prstGeom prst="rect">
            <a:avLst/>
          </a:prstGeom>
          <a:solidFill>
            <a:srgbClr val="00838F"/>
          </a:solidFill>
          <a:ln/>
        </p:spPr>
      </p:sp>
      <p:sp>
        <p:nvSpPr>
          <p:cNvPr id="814442866" name="Text 12"/>
          <p:cNvSpPr txBox="1"/>
          <p:nvPr/>
        </p:nvSpPr>
        <p:spPr bwMode="auto">
          <a:xfrm>
            <a:off x="5504687" y="2011680"/>
            <a:ext cx="2889504"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En pantalla</a:t>
            </a:r>
            <a:endParaRPr lang="en-US" sz="1200"/>
          </a:p>
        </p:txBody>
      </p:sp>
      <p:sp>
        <p:nvSpPr>
          <p:cNvPr id="63312799" name="Shape 13"/>
          <p:cNvSpPr/>
          <p:nvPr/>
        </p:nvSpPr>
        <p:spPr bwMode="auto">
          <a:xfrm>
            <a:off x="8641080" y="2011680"/>
            <a:ext cx="3090672" cy="365760"/>
          </a:xfrm>
          <a:prstGeom prst="rect">
            <a:avLst/>
          </a:prstGeom>
          <a:solidFill>
            <a:srgbClr val="00838F"/>
          </a:solidFill>
          <a:ln/>
        </p:spPr>
      </p:sp>
      <p:sp>
        <p:nvSpPr>
          <p:cNvPr id="1463364614" name="Text 14"/>
          <p:cNvSpPr txBox="1"/>
          <p:nvPr/>
        </p:nvSpPr>
        <p:spPr bwMode="auto">
          <a:xfrm>
            <a:off x="8750808" y="2011680"/>
            <a:ext cx="2871216" cy="365760"/>
          </a:xfrm>
          <a:prstGeom prst="rect">
            <a:avLst/>
          </a:prstGeom>
          <a:noFill/>
          <a:ln/>
        </p:spPr>
        <p:txBody>
          <a:bodyPr wrap="square" lIns="0" tIns="0" rIns="0" bIns="0" rtlCol="0" anchor="ctr"/>
          <a:lstStyle/>
          <a:p>
            <a:pPr marL="0" indent="0">
              <a:buNone/>
              <a:defRPr/>
            </a:pPr>
            <a:r>
              <a:rPr lang="en-US" sz="1200" b="1">
                <a:solidFill>
                  <a:srgbClr val="FFFFFF"/>
                </a:solidFill>
                <a:latin typeface="Arial"/>
                <a:ea typeface="Arial"/>
                <a:cs typeface="Arial"/>
              </a:rPr>
              <a:t>Fuera de pantalla</a:t>
            </a:r>
            <a:endParaRPr lang="en-US" sz="1200"/>
          </a:p>
        </p:txBody>
      </p:sp>
      <p:sp>
        <p:nvSpPr>
          <p:cNvPr id="1185665637" name="Text 15"/>
          <p:cNvSpPr txBox="1"/>
          <p:nvPr/>
        </p:nvSpPr>
        <p:spPr bwMode="auto">
          <a:xfrm>
            <a:off x="2880360" y="2514600"/>
            <a:ext cx="237744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995406984" name="Text 16"/>
          <p:cNvSpPr txBox="1"/>
          <p:nvPr/>
        </p:nvSpPr>
        <p:spPr bwMode="auto">
          <a:xfrm>
            <a:off x="5394960" y="2514600"/>
            <a:ext cx="310896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83083790" name="Text 17"/>
          <p:cNvSpPr txBox="1"/>
          <p:nvPr/>
        </p:nvSpPr>
        <p:spPr bwMode="auto">
          <a:xfrm>
            <a:off x="8641080" y="2514600"/>
            <a:ext cx="3090672"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96757143" name="Text 18"/>
          <p:cNvSpPr txBox="1"/>
          <p:nvPr/>
        </p:nvSpPr>
        <p:spPr bwMode="auto">
          <a:xfrm>
            <a:off x="2880360" y="3749040"/>
            <a:ext cx="237744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873969291" name="Text 19"/>
          <p:cNvSpPr txBox="1"/>
          <p:nvPr/>
        </p:nvSpPr>
        <p:spPr bwMode="auto">
          <a:xfrm>
            <a:off x="5394960" y="3749040"/>
            <a:ext cx="310896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756701688" name="Text 20"/>
          <p:cNvSpPr txBox="1"/>
          <p:nvPr/>
        </p:nvSpPr>
        <p:spPr bwMode="auto">
          <a:xfrm>
            <a:off x="8641080" y="3749040"/>
            <a:ext cx="3090672"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067990444" name="Text 21"/>
          <p:cNvSpPr txBox="1"/>
          <p:nvPr/>
        </p:nvSpPr>
        <p:spPr bwMode="auto">
          <a:xfrm>
            <a:off x="2880360" y="4983480"/>
            <a:ext cx="237744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85154283" name="Text 22"/>
          <p:cNvSpPr txBox="1"/>
          <p:nvPr/>
        </p:nvSpPr>
        <p:spPr bwMode="auto">
          <a:xfrm>
            <a:off x="5394960" y="4983480"/>
            <a:ext cx="310896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93705678" name="Text 23"/>
          <p:cNvSpPr txBox="1"/>
          <p:nvPr/>
        </p:nvSpPr>
        <p:spPr bwMode="auto">
          <a:xfrm>
            <a:off x="8641080" y="4983480"/>
            <a:ext cx="3090672"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95220981" name="Text 24"/>
          <p:cNvSpPr txBox="1"/>
          <p:nvPr/>
        </p:nvSpPr>
        <p:spPr bwMode="auto">
          <a:xfrm>
            <a:off x="2880360" y="6217920"/>
            <a:ext cx="237744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90946763" name="Text 25"/>
          <p:cNvSpPr txBox="1"/>
          <p:nvPr/>
        </p:nvSpPr>
        <p:spPr bwMode="auto">
          <a:xfrm>
            <a:off x="5394960" y="6217920"/>
            <a:ext cx="3108960"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618585261" name="Text 26"/>
          <p:cNvSpPr txBox="1"/>
          <p:nvPr/>
        </p:nvSpPr>
        <p:spPr bwMode="auto">
          <a:xfrm>
            <a:off x="8641080" y="6217920"/>
            <a:ext cx="3090672" cy="10972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835476856" name="Text 27"/>
          <p:cNvSpPr txBox="1"/>
          <p:nvPr/>
        </p:nvSpPr>
        <p:spPr bwMode="auto">
          <a:xfrm>
            <a:off x="2880360" y="7635240"/>
            <a:ext cx="8851392"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¿Qué mensaje verá el usuario si algo falla?</a:t>
            </a:r>
            <a:endParaRPr lang="en-US" sz="1200"/>
          </a:p>
        </p:txBody>
      </p:sp>
      <p:sp>
        <p:nvSpPr>
          <p:cNvPr id="1741378554" name="Text 28"/>
          <p:cNvSpPr txBox="1"/>
          <p:nvPr/>
        </p:nvSpPr>
        <p:spPr bwMode="auto">
          <a:xfrm>
            <a:off x="2880360" y="7909560"/>
            <a:ext cx="8851392" cy="59436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275696552" name="Text 29"/>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16</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7">
    <p:bg>
      <p:bgPr shadeToTitle="0">
        <a:solidFill>
          <a:srgbClr val="FFFFFF"/>
        </a:solidFill>
      </p:bgPr>
    </p:bg>
    <p:spTree>
      <p:nvGrpSpPr>
        <p:cNvPr id="1" name=""/>
        <p:cNvGrpSpPr/>
        <p:nvPr/>
      </p:nvGrpSpPr>
      <p:grpSpPr bwMode="auto">
        <a:xfrm>
          <a:off x="0" y="0"/>
          <a:ext cx="0" cy="0"/>
          <a:chOff x="0" y="0"/>
          <a:chExt cx="0" cy="0"/>
        </a:xfrm>
      </p:grpSpPr>
      <p:sp>
        <p:nvSpPr>
          <p:cNvPr id="1312817290" name="Shape 0"/>
          <p:cNvSpPr/>
          <p:nvPr/>
        </p:nvSpPr>
        <p:spPr bwMode="auto">
          <a:xfrm>
            <a:off x="0" y="0"/>
            <a:ext cx="2514600" cy="9144000"/>
          </a:xfrm>
          <a:prstGeom prst="rect">
            <a:avLst/>
          </a:prstGeom>
          <a:solidFill>
            <a:srgbClr val="00838F"/>
          </a:solidFill>
          <a:ln/>
        </p:spPr>
      </p:sp>
      <p:sp>
        <p:nvSpPr>
          <p:cNvPr id="1583645743"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3</a:t>
            </a:r>
            <a:endParaRPr lang="en-US" sz="1100"/>
          </a:p>
        </p:txBody>
      </p:sp>
      <p:sp>
        <p:nvSpPr>
          <p:cNvPr id="195877348"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Prototipa</a:t>
            </a:r>
            <a:endParaRPr lang="en-US" sz="2600"/>
          </a:p>
        </p:txBody>
      </p:sp>
      <p:sp>
        <p:nvSpPr>
          <p:cNvPr id="631842331"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4E9ED"/>
                </a:solidFill>
                <a:latin typeface="Calibri"/>
                <a:ea typeface="Calibri"/>
                <a:cs typeface="Calibri"/>
              </a:rPr>
              <a:t>Pantallas</a:t>
            </a:r>
            <a:endParaRPr lang="en-US" sz="1300"/>
          </a:p>
          <a:p>
            <a:pPr marL="0" indent="0">
              <a:spcAft>
                <a:spcPts val="800"/>
              </a:spcAft>
              <a:buNone/>
              <a:defRPr/>
            </a:pPr>
            <a:r>
              <a:rPr lang="en-US" sz="1300">
                <a:solidFill>
                  <a:srgbClr val="C4E9ED"/>
                </a:solidFill>
                <a:latin typeface="Calibri"/>
                <a:ea typeface="Calibri"/>
                <a:cs typeface="Calibri"/>
              </a:rPr>
              <a:t>Flujo de la app</a:t>
            </a:r>
            <a:endParaRPr lang="en-US" sz="1300"/>
          </a:p>
          <a:p>
            <a:pPr marL="0" indent="0">
              <a:spcAft>
                <a:spcPts val="800"/>
              </a:spcAft>
              <a:buNone/>
              <a:defRPr/>
            </a:pPr>
            <a:r>
              <a:rPr lang="en-US" sz="1300">
                <a:solidFill>
                  <a:srgbClr val="C4E9ED"/>
                </a:solidFill>
                <a:latin typeface="Calibri"/>
                <a:ea typeface="Calibri"/>
                <a:cs typeface="Calibri"/>
              </a:rPr>
              <a:t>Respuesta de la app</a:t>
            </a:r>
            <a:endParaRPr lang="en-US" sz="1300"/>
          </a:p>
          <a:p>
            <a:pPr marL="0" indent="0">
              <a:spcAft>
                <a:spcPts val="800"/>
              </a:spcAft>
              <a:buNone/>
              <a:defRPr/>
            </a:pPr>
            <a:r>
              <a:rPr lang="en-US" sz="1300" b="1">
                <a:solidFill>
                  <a:srgbClr val="FFFFFF"/>
                </a:solidFill>
                <a:latin typeface="Calibri"/>
                <a:ea typeface="Calibri"/>
                <a:cs typeface="Calibri"/>
              </a:rPr>
              <a:t>Estilo Material 3</a:t>
            </a:r>
            <a:endParaRPr lang="en-US" sz="1300"/>
          </a:p>
          <a:p>
            <a:pPr marL="0" indent="0">
              <a:spcAft>
                <a:spcPts val="800"/>
              </a:spcAft>
              <a:buNone/>
              <a:defRPr/>
            </a:pPr>
            <a:r>
              <a:rPr lang="en-US" sz="1300">
                <a:solidFill>
                  <a:srgbClr val="C4E9ED"/>
                </a:solidFill>
                <a:latin typeface="Calibri"/>
                <a:ea typeface="Calibri"/>
                <a:cs typeface="Calibri"/>
              </a:rPr>
              <a:t>Ícono y nombre</a:t>
            </a:r>
            <a:endParaRPr lang="en-US" sz="1300"/>
          </a:p>
        </p:txBody>
      </p:sp>
      <p:sp>
        <p:nvSpPr>
          <p:cNvPr id="1200412840" name="Shape 4"/>
          <p:cNvSpPr/>
          <p:nvPr/>
        </p:nvSpPr>
        <p:spPr bwMode="auto">
          <a:xfrm>
            <a:off x="320040" y="7269480"/>
            <a:ext cx="1005840" cy="0"/>
          </a:xfrm>
          <a:prstGeom prst="line">
            <a:avLst/>
          </a:prstGeom>
          <a:noFill/>
          <a:ln w="19050">
            <a:solidFill>
              <a:srgbClr val="FFFFFF"/>
            </a:solidFill>
            <a:prstDash val="solid"/>
          </a:ln>
        </p:spPr>
      </p:sp>
      <p:sp>
        <p:nvSpPr>
          <p:cNvPr id="1919568335"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HERRAMIENTA</a:t>
            </a:r>
            <a:endParaRPr lang="en-US" sz="1000"/>
          </a:p>
        </p:txBody>
      </p:sp>
      <p:sp>
        <p:nvSpPr>
          <p:cNvPr id="608885163"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En m3.material.io/theme-builder eliges un color semilla y obtienes toda la paleta clara y oscura lista para Compose.</a:t>
            </a:r>
            <a:endParaRPr lang="en-US" sz="1100"/>
          </a:p>
        </p:txBody>
      </p:sp>
      <p:sp>
        <p:nvSpPr>
          <p:cNvPr id="917072611"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El estilo de mi app con Material 3</a:t>
            </a:r>
            <a:endParaRPr lang="en-US" sz="2500"/>
          </a:p>
        </p:txBody>
      </p:sp>
      <p:sp>
        <p:nvSpPr>
          <p:cNvPr id="13154798" name="Text 8"/>
          <p:cNvSpPr txBox="1"/>
          <p:nvPr/>
        </p:nvSpPr>
        <p:spPr bwMode="auto">
          <a:xfrm>
            <a:off x="2880360" y="1051560"/>
            <a:ext cx="8851392" cy="5029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Tu estilo debe tener personalidad y, al mismo tiempo, sentirse como una app de Android. Define tus decisiones visuales aquí antes de programar.</a:t>
            </a:r>
            <a:endParaRPr lang="en-US" sz="1400"/>
          </a:p>
        </p:txBody>
      </p:sp>
      <p:sp>
        <p:nvSpPr>
          <p:cNvPr id="1081731098" name="Text 9"/>
          <p:cNvSpPr txBox="1"/>
          <p:nvPr/>
        </p:nvSpPr>
        <p:spPr bwMode="auto">
          <a:xfrm>
            <a:off x="2880360" y="1691640"/>
            <a:ext cx="8851392"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Mi paleta: escribe el código hex de cada color</a:t>
            </a:r>
            <a:endParaRPr lang="en-US" sz="1200"/>
          </a:p>
        </p:txBody>
      </p:sp>
      <p:sp>
        <p:nvSpPr>
          <p:cNvPr id="1145602647" name="Shape 10"/>
          <p:cNvSpPr/>
          <p:nvPr/>
        </p:nvSpPr>
        <p:spPr bwMode="auto">
          <a:xfrm>
            <a:off x="2880360" y="2011680"/>
            <a:ext cx="1554480" cy="914400"/>
          </a:xfrm>
          <a:prstGeom prst="roundRect">
            <a:avLst>
              <a:gd name="adj" fmla="val 10000"/>
            </a:avLst>
          </a:prstGeom>
          <a:solidFill>
            <a:srgbClr val="FFFFFF"/>
          </a:solidFill>
          <a:ln w="12700">
            <a:solidFill>
              <a:srgbClr val="A7DDE3"/>
            </a:solidFill>
            <a:prstDash val="solid"/>
          </a:ln>
        </p:spPr>
      </p:sp>
      <p:sp>
        <p:nvSpPr>
          <p:cNvPr id="1247703079" name="Text 11"/>
          <p:cNvSpPr txBox="1"/>
          <p:nvPr/>
        </p:nvSpPr>
        <p:spPr bwMode="auto">
          <a:xfrm>
            <a:off x="2880360" y="2103120"/>
            <a:ext cx="1554480" cy="228600"/>
          </a:xfrm>
          <a:prstGeom prst="rect">
            <a:avLst/>
          </a:prstGeom>
          <a:noFill/>
          <a:ln/>
        </p:spPr>
        <p:txBody>
          <a:bodyPr wrap="square" lIns="0" tIns="0" rIns="0" bIns="0" rtlCol="0" anchor="ctr"/>
          <a:lstStyle/>
          <a:p>
            <a:pPr marL="0" indent="0" algn="ctr">
              <a:buNone/>
              <a:defRPr/>
            </a:pPr>
            <a:r>
              <a:rPr lang="en-US" sz="1000">
                <a:solidFill>
                  <a:srgbClr val="5F6368"/>
                </a:solidFill>
                <a:latin typeface="Calibri"/>
                <a:ea typeface="Calibri"/>
                <a:cs typeface="Calibri"/>
              </a:rPr>
              <a:t>Color semilla</a:t>
            </a:r>
            <a:endParaRPr lang="en-US" sz="1000"/>
          </a:p>
        </p:txBody>
      </p:sp>
      <p:sp>
        <p:nvSpPr>
          <p:cNvPr id="659234968" name="Text 12"/>
          <p:cNvSpPr txBox="1"/>
          <p:nvPr/>
        </p:nvSpPr>
        <p:spPr bwMode="auto">
          <a:xfrm>
            <a:off x="3063240" y="2423160"/>
            <a:ext cx="1188720" cy="365760"/>
          </a:xfrm>
          <a:prstGeom prst="rect">
            <a:avLst/>
          </a:prstGeom>
          <a:solidFill>
            <a:srgbClr val="E4F5F7"/>
          </a:solidFill>
          <a:ln w="12700">
            <a:solidFill>
              <a:srgbClr val="A7DDE3"/>
            </a:solidFill>
          </a:ln>
        </p:spPr>
        <p:txBody>
          <a:bodyPr wrap="square" lIns="50800" tIns="50800" rIns="50800" bIns="50800" rtlCol="0" anchor="ctr"/>
          <a:lstStyle/>
          <a:p>
            <a:pPr marL="0" indent="0" algn="ctr">
              <a:buNone/>
              <a:defRPr/>
            </a:pPr>
            <a:endParaRPr lang="en-US" sz="1200"/>
          </a:p>
        </p:txBody>
      </p:sp>
      <p:sp>
        <p:nvSpPr>
          <p:cNvPr id="1848227833" name="Shape 13"/>
          <p:cNvSpPr/>
          <p:nvPr/>
        </p:nvSpPr>
        <p:spPr bwMode="auto">
          <a:xfrm>
            <a:off x="4690872" y="2011680"/>
            <a:ext cx="1554480" cy="914400"/>
          </a:xfrm>
          <a:prstGeom prst="roundRect">
            <a:avLst>
              <a:gd name="adj" fmla="val 10000"/>
            </a:avLst>
          </a:prstGeom>
          <a:solidFill>
            <a:srgbClr val="FFFFFF"/>
          </a:solidFill>
          <a:ln w="12700">
            <a:solidFill>
              <a:srgbClr val="A7DDE3"/>
            </a:solidFill>
            <a:prstDash val="solid"/>
          </a:ln>
        </p:spPr>
      </p:sp>
      <p:sp>
        <p:nvSpPr>
          <p:cNvPr id="1783867869" name="Text 14"/>
          <p:cNvSpPr txBox="1"/>
          <p:nvPr/>
        </p:nvSpPr>
        <p:spPr bwMode="auto">
          <a:xfrm>
            <a:off x="4690872" y="2103120"/>
            <a:ext cx="1554480" cy="228600"/>
          </a:xfrm>
          <a:prstGeom prst="rect">
            <a:avLst/>
          </a:prstGeom>
          <a:noFill/>
          <a:ln/>
        </p:spPr>
        <p:txBody>
          <a:bodyPr wrap="square" lIns="0" tIns="0" rIns="0" bIns="0" rtlCol="0" anchor="ctr"/>
          <a:lstStyle/>
          <a:p>
            <a:pPr marL="0" indent="0" algn="ctr">
              <a:buNone/>
              <a:defRPr/>
            </a:pPr>
            <a:r>
              <a:rPr lang="en-US" sz="1000">
                <a:solidFill>
                  <a:srgbClr val="5F6368"/>
                </a:solidFill>
                <a:latin typeface="Calibri"/>
                <a:ea typeface="Calibri"/>
                <a:cs typeface="Calibri"/>
              </a:rPr>
              <a:t>Primario</a:t>
            </a:r>
            <a:endParaRPr lang="en-US" sz="1000"/>
          </a:p>
        </p:txBody>
      </p:sp>
      <p:sp>
        <p:nvSpPr>
          <p:cNvPr id="217272822" name="Text 15"/>
          <p:cNvSpPr txBox="1"/>
          <p:nvPr/>
        </p:nvSpPr>
        <p:spPr bwMode="auto">
          <a:xfrm>
            <a:off x="4873752" y="2423160"/>
            <a:ext cx="1188720" cy="365760"/>
          </a:xfrm>
          <a:prstGeom prst="rect">
            <a:avLst/>
          </a:prstGeom>
          <a:solidFill>
            <a:srgbClr val="E4F5F7"/>
          </a:solidFill>
          <a:ln w="12700">
            <a:solidFill>
              <a:srgbClr val="A7DDE3"/>
            </a:solidFill>
          </a:ln>
        </p:spPr>
        <p:txBody>
          <a:bodyPr wrap="square" lIns="50800" tIns="50800" rIns="50800" bIns="50800" rtlCol="0" anchor="ctr"/>
          <a:lstStyle/>
          <a:p>
            <a:pPr marL="0" indent="0" algn="ctr">
              <a:buNone/>
              <a:defRPr/>
            </a:pPr>
            <a:endParaRPr lang="en-US" sz="1200"/>
          </a:p>
        </p:txBody>
      </p:sp>
      <p:sp>
        <p:nvSpPr>
          <p:cNvPr id="134177211" name="Shape 16"/>
          <p:cNvSpPr/>
          <p:nvPr/>
        </p:nvSpPr>
        <p:spPr bwMode="auto">
          <a:xfrm>
            <a:off x="6501384" y="2011680"/>
            <a:ext cx="1554480" cy="914400"/>
          </a:xfrm>
          <a:prstGeom prst="roundRect">
            <a:avLst>
              <a:gd name="adj" fmla="val 10000"/>
            </a:avLst>
          </a:prstGeom>
          <a:solidFill>
            <a:srgbClr val="FFFFFF"/>
          </a:solidFill>
          <a:ln w="12700">
            <a:solidFill>
              <a:srgbClr val="A7DDE3"/>
            </a:solidFill>
            <a:prstDash val="solid"/>
          </a:ln>
        </p:spPr>
      </p:sp>
      <p:sp>
        <p:nvSpPr>
          <p:cNvPr id="1092028440" name="Text 17"/>
          <p:cNvSpPr txBox="1"/>
          <p:nvPr/>
        </p:nvSpPr>
        <p:spPr bwMode="auto">
          <a:xfrm>
            <a:off x="6501384" y="2103120"/>
            <a:ext cx="1554480" cy="228600"/>
          </a:xfrm>
          <a:prstGeom prst="rect">
            <a:avLst/>
          </a:prstGeom>
          <a:noFill/>
          <a:ln/>
        </p:spPr>
        <p:txBody>
          <a:bodyPr wrap="square" lIns="0" tIns="0" rIns="0" bIns="0" rtlCol="0" anchor="ctr"/>
          <a:lstStyle/>
          <a:p>
            <a:pPr marL="0" indent="0" algn="ctr">
              <a:buNone/>
              <a:defRPr/>
            </a:pPr>
            <a:r>
              <a:rPr lang="en-US" sz="1000">
                <a:solidFill>
                  <a:srgbClr val="5F6368"/>
                </a:solidFill>
                <a:latin typeface="Calibri"/>
                <a:ea typeface="Calibri"/>
                <a:cs typeface="Calibri"/>
              </a:rPr>
              <a:t>Secundario</a:t>
            </a:r>
            <a:endParaRPr lang="en-US" sz="1000"/>
          </a:p>
        </p:txBody>
      </p:sp>
      <p:sp>
        <p:nvSpPr>
          <p:cNvPr id="2034809400" name="Text 18"/>
          <p:cNvSpPr txBox="1"/>
          <p:nvPr/>
        </p:nvSpPr>
        <p:spPr bwMode="auto">
          <a:xfrm>
            <a:off x="6684264" y="2423160"/>
            <a:ext cx="1188720" cy="365760"/>
          </a:xfrm>
          <a:prstGeom prst="rect">
            <a:avLst/>
          </a:prstGeom>
          <a:solidFill>
            <a:srgbClr val="E4F5F7"/>
          </a:solidFill>
          <a:ln w="12700">
            <a:solidFill>
              <a:srgbClr val="A7DDE3"/>
            </a:solidFill>
          </a:ln>
        </p:spPr>
        <p:txBody>
          <a:bodyPr wrap="square" lIns="50800" tIns="50800" rIns="50800" bIns="50800" rtlCol="0" anchor="ctr"/>
          <a:lstStyle/>
          <a:p>
            <a:pPr marL="0" indent="0" algn="ctr">
              <a:buNone/>
              <a:defRPr/>
            </a:pPr>
            <a:endParaRPr lang="en-US" sz="1200"/>
          </a:p>
        </p:txBody>
      </p:sp>
      <p:sp>
        <p:nvSpPr>
          <p:cNvPr id="1943577072" name="Shape 19"/>
          <p:cNvSpPr/>
          <p:nvPr/>
        </p:nvSpPr>
        <p:spPr bwMode="auto">
          <a:xfrm>
            <a:off x="8311896" y="2011680"/>
            <a:ext cx="1554480" cy="914400"/>
          </a:xfrm>
          <a:prstGeom prst="roundRect">
            <a:avLst>
              <a:gd name="adj" fmla="val 10000"/>
            </a:avLst>
          </a:prstGeom>
          <a:solidFill>
            <a:srgbClr val="FFFFFF"/>
          </a:solidFill>
          <a:ln w="12700">
            <a:solidFill>
              <a:srgbClr val="A7DDE3"/>
            </a:solidFill>
            <a:prstDash val="solid"/>
          </a:ln>
        </p:spPr>
      </p:sp>
      <p:sp>
        <p:nvSpPr>
          <p:cNvPr id="1961118028" name="Text 20"/>
          <p:cNvSpPr txBox="1"/>
          <p:nvPr/>
        </p:nvSpPr>
        <p:spPr bwMode="auto">
          <a:xfrm>
            <a:off x="8311896" y="2103120"/>
            <a:ext cx="1554480" cy="228600"/>
          </a:xfrm>
          <a:prstGeom prst="rect">
            <a:avLst/>
          </a:prstGeom>
          <a:noFill/>
          <a:ln/>
        </p:spPr>
        <p:txBody>
          <a:bodyPr wrap="square" lIns="0" tIns="0" rIns="0" bIns="0" rtlCol="0" anchor="ctr"/>
          <a:lstStyle/>
          <a:p>
            <a:pPr marL="0" indent="0" algn="ctr">
              <a:buNone/>
              <a:defRPr/>
            </a:pPr>
            <a:r>
              <a:rPr lang="en-US" sz="1000">
                <a:solidFill>
                  <a:srgbClr val="5F6368"/>
                </a:solidFill>
                <a:latin typeface="Calibri"/>
                <a:ea typeface="Calibri"/>
                <a:cs typeface="Calibri"/>
              </a:rPr>
              <a:t>Superficie</a:t>
            </a:r>
            <a:endParaRPr lang="en-US" sz="1000"/>
          </a:p>
        </p:txBody>
      </p:sp>
      <p:sp>
        <p:nvSpPr>
          <p:cNvPr id="326019062" name="Text 21"/>
          <p:cNvSpPr txBox="1"/>
          <p:nvPr/>
        </p:nvSpPr>
        <p:spPr bwMode="auto">
          <a:xfrm>
            <a:off x="8494776" y="2423160"/>
            <a:ext cx="1188720" cy="365760"/>
          </a:xfrm>
          <a:prstGeom prst="rect">
            <a:avLst/>
          </a:prstGeom>
          <a:solidFill>
            <a:srgbClr val="E4F5F7"/>
          </a:solidFill>
          <a:ln w="12700">
            <a:solidFill>
              <a:srgbClr val="A7DDE3"/>
            </a:solidFill>
          </a:ln>
        </p:spPr>
        <p:txBody>
          <a:bodyPr wrap="square" lIns="50800" tIns="50800" rIns="50800" bIns="50800" rtlCol="0" anchor="ctr"/>
          <a:lstStyle/>
          <a:p>
            <a:pPr marL="0" indent="0" algn="ctr">
              <a:buNone/>
              <a:defRPr/>
            </a:pPr>
            <a:endParaRPr lang="en-US" sz="1200"/>
          </a:p>
        </p:txBody>
      </p:sp>
      <p:sp>
        <p:nvSpPr>
          <p:cNvPr id="1866037919" name="Shape 22"/>
          <p:cNvSpPr/>
          <p:nvPr/>
        </p:nvSpPr>
        <p:spPr bwMode="auto">
          <a:xfrm>
            <a:off x="10122408" y="2011680"/>
            <a:ext cx="1554480" cy="914400"/>
          </a:xfrm>
          <a:prstGeom prst="roundRect">
            <a:avLst>
              <a:gd name="adj" fmla="val 10000"/>
            </a:avLst>
          </a:prstGeom>
          <a:solidFill>
            <a:srgbClr val="FFFFFF"/>
          </a:solidFill>
          <a:ln w="12700">
            <a:solidFill>
              <a:srgbClr val="A7DDE3"/>
            </a:solidFill>
            <a:prstDash val="solid"/>
          </a:ln>
        </p:spPr>
      </p:sp>
      <p:sp>
        <p:nvSpPr>
          <p:cNvPr id="1436063604" name="Text 23"/>
          <p:cNvSpPr txBox="1"/>
          <p:nvPr/>
        </p:nvSpPr>
        <p:spPr bwMode="auto">
          <a:xfrm>
            <a:off x="10122408" y="2103120"/>
            <a:ext cx="1554480" cy="228600"/>
          </a:xfrm>
          <a:prstGeom prst="rect">
            <a:avLst/>
          </a:prstGeom>
          <a:noFill/>
          <a:ln/>
        </p:spPr>
        <p:txBody>
          <a:bodyPr wrap="square" lIns="0" tIns="0" rIns="0" bIns="0" rtlCol="0" anchor="ctr"/>
          <a:lstStyle/>
          <a:p>
            <a:pPr marL="0" indent="0" algn="ctr">
              <a:buNone/>
              <a:defRPr/>
            </a:pPr>
            <a:r>
              <a:rPr lang="en-US" sz="1000">
                <a:solidFill>
                  <a:srgbClr val="5F6368"/>
                </a:solidFill>
                <a:latin typeface="Calibri"/>
                <a:ea typeface="Calibri"/>
                <a:cs typeface="Calibri"/>
              </a:rPr>
              <a:t>Error</a:t>
            </a:r>
            <a:endParaRPr lang="en-US" sz="1000"/>
          </a:p>
        </p:txBody>
      </p:sp>
      <p:sp>
        <p:nvSpPr>
          <p:cNvPr id="1610782707" name="Text 24"/>
          <p:cNvSpPr txBox="1"/>
          <p:nvPr/>
        </p:nvSpPr>
        <p:spPr bwMode="auto">
          <a:xfrm>
            <a:off x="10305288" y="2423160"/>
            <a:ext cx="1188720" cy="365760"/>
          </a:xfrm>
          <a:prstGeom prst="rect">
            <a:avLst/>
          </a:prstGeom>
          <a:solidFill>
            <a:srgbClr val="E4F5F7"/>
          </a:solidFill>
          <a:ln w="12700">
            <a:solidFill>
              <a:srgbClr val="A7DDE3"/>
            </a:solidFill>
          </a:ln>
        </p:spPr>
        <p:txBody>
          <a:bodyPr wrap="square" lIns="50800" tIns="50800" rIns="50800" bIns="50800" rtlCol="0" anchor="ctr"/>
          <a:lstStyle/>
          <a:p>
            <a:pPr marL="0" indent="0" algn="ctr">
              <a:buNone/>
              <a:defRPr/>
            </a:pPr>
            <a:endParaRPr lang="en-US" sz="1200"/>
          </a:p>
        </p:txBody>
      </p:sp>
      <p:sp>
        <p:nvSpPr>
          <p:cNvPr id="1283449883" name="Text 25"/>
          <p:cNvSpPr txBox="1"/>
          <p:nvPr/>
        </p:nvSpPr>
        <p:spPr bwMode="auto">
          <a:xfrm>
            <a:off x="2880360" y="3200400"/>
            <a:ext cx="210312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Tipografía</a:t>
            </a:r>
            <a:endParaRPr lang="en-US" sz="1200"/>
          </a:p>
        </p:txBody>
      </p:sp>
      <p:sp>
        <p:nvSpPr>
          <p:cNvPr id="1219143192" name="Text 26"/>
          <p:cNvSpPr txBox="1"/>
          <p:nvPr/>
        </p:nvSpPr>
        <p:spPr bwMode="auto">
          <a:xfrm>
            <a:off x="2880360" y="3456432"/>
            <a:ext cx="2103120" cy="68580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¿Qué fuente usarás para títulos y para cuerpo? ¿Por qué le queda a tu app?</a:t>
            </a:r>
            <a:endParaRPr lang="en-US" sz="1050"/>
          </a:p>
        </p:txBody>
      </p:sp>
      <p:sp>
        <p:nvSpPr>
          <p:cNvPr id="1001592739" name="Text 27"/>
          <p:cNvSpPr txBox="1"/>
          <p:nvPr/>
        </p:nvSpPr>
        <p:spPr bwMode="auto">
          <a:xfrm>
            <a:off x="5166360" y="3200400"/>
            <a:ext cx="6565392" cy="9144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358214953" name="Text 28"/>
          <p:cNvSpPr txBox="1"/>
          <p:nvPr/>
        </p:nvSpPr>
        <p:spPr bwMode="auto">
          <a:xfrm>
            <a:off x="2880360" y="4261104"/>
            <a:ext cx="210312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Forma e íconos</a:t>
            </a:r>
            <a:endParaRPr lang="en-US" sz="1200"/>
          </a:p>
        </p:txBody>
      </p:sp>
      <p:sp>
        <p:nvSpPr>
          <p:cNvPr id="157621755" name="Text 29"/>
          <p:cNvSpPr txBox="1"/>
          <p:nvPr/>
        </p:nvSpPr>
        <p:spPr bwMode="auto">
          <a:xfrm>
            <a:off x="2880360" y="4517136"/>
            <a:ext cx="2103120" cy="68580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¿Esquinas redondeadas o rectas? ¿Qué íconos de Material Symbols usarás?</a:t>
            </a:r>
            <a:endParaRPr lang="en-US" sz="1050"/>
          </a:p>
        </p:txBody>
      </p:sp>
      <p:sp>
        <p:nvSpPr>
          <p:cNvPr id="727236186" name="Text 30"/>
          <p:cNvSpPr txBox="1"/>
          <p:nvPr/>
        </p:nvSpPr>
        <p:spPr bwMode="auto">
          <a:xfrm>
            <a:off x="5166360" y="4261104"/>
            <a:ext cx="6565392" cy="9144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375576922" name="Text 31"/>
          <p:cNvSpPr txBox="1"/>
          <p:nvPr/>
        </p:nvSpPr>
        <p:spPr bwMode="auto">
          <a:xfrm>
            <a:off x="2880360" y="5321808"/>
            <a:ext cx="210312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Tema oscuro</a:t>
            </a:r>
            <a:endParaRPr lang="en-US" sz="1200"/>
          </a:p>
        </p:txBody>
      </p:sp>
      <p:sp>
        <p:nvSpPr>
          <p:cNvPr id="809330392" name="Text 32"/>
          <p:cNvSpPr txBox="1"/>
          <p:nvPr/>
        </p:nvSpPr>
        <p:spPr bwMode="auto">
          <a:xfrm>
            <a:off x="2880360" y="5577840"/>
            <a:ext cx="2103120" cy="68580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¿Cómo se ve tu app en modo oscuro? ¿Qué cambia además del fondo?</a:t>
            </a:r>
            <a:endParaRPr lang="en-US" sz="1050"/>
          </a:p>
        </p:txBody>
      </p:sp>
      <p:sp>
        <p:nvSpPr>
          <p:cNvPr id="451875087" name="Text 33"/>
          <p:cNvSpPr txBox="1"/>
          <p:nvPr/>
        </p:nvSpPr>
        <p:spPr bwMode="auto">
          <a:xfrm>
            <a:off x="5166360" y="5321808"/>
            <a:ext cx="6565392" cy="9144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711316447" name="Text 34"/>
          <p:cNvSpPr txBox="1"/>
          <p:nvPr/>
        </p:nvSpPr>
        <p:spPr bwMode="auto">
          <a:xfrm>
            <a:off x="2880360" y="6382512"/>
            <a:ext cx="210312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Sonido y movimiento</a:t>
            </a:r>
            <a:endParaRPr lang="en-US" sz="1200"/>
          </a:p>
        </p:txBody>
      </p:sp>
      <p:sp>
        <p:nvSpPr>
          <p:cNvPr id="762608950" name="Text 35"/>
          <p:cNvSpPr txBox="1"/>
          <p:nvPr/>
        </p:nvSpPr>
        <p:spPr bwMode="auto">
          <a:xfrm>
            <a:off x="2880360" y="6638544"/>
            <a:ext cx="2103120" cy="68580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¿Hay sonidos, vibración o animaciones? ¿Qué sensación quieres transmitir?</a:t>
            </a:r>
            <a:endParaRPr lang="en-US" sz="1050"/>
          </a:p>
        </p:txBody>
      </p:sp>
      <p:sp>
        <p:nvSpPr>
          <p:cNvPr id="1917443112" name="Text 36"/>
          <p:cNvSpPr txBox="1"/>
          <p:nvPr/>
        </p:nvSpPr>
        <p:spPr bwMode="auto">
          <a:xfrm>
            <a:off x="5166360" y="6382512"/>
            <a:ext cx="6565392" cy="9144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2066586016" name="Text 37"/>
          <p:cNvSpPr txBox="1"/>
          <p:nvPr/>
        </p:nvSpPr>
        <p:spPr bwMode="auto">
          <a:xfrm>
            <a:off x="2880360" y="7443216"/>
            <a:ext cx="2103120" cy="274320"/>
          </a:xfrm>
          <a:prstGeom prst="rect">
            <a:avLst/>
          </a:prstGeom>
          <a:noFill/>
          <a:ln/>
        </p:spPr>
        <p:txBody>
          <a:bodyPr wrap="square" lIns="0" tIns="0" rIns="0" bIns="0" rtlCol="0" anchor="ctr"/>
          <a:lstStyle/>
          <a:p>
            <a:pPr marL="0" indent="0">
              <a:buNone/>
              <a:defRPr/>
            </a:pPr>
            <a:r>
              <a:rPr lang="en-US" sz="1200" b="1">
                <a:solidFill>
                  <a:srgbClr val="00838F"/>
                </a:solidFill>
                <a:latin typeface="Arial"/>
                <a:ea typeface="Arial"/>
                <a:cs typeface="Arial"/>
              </a:rPr>
              <a:t>Imágenes e ilustración</a:t>
            </a:r>
            <a:endParaRPr lang="en-US" sz="1200"/>
          </a:p>
        </p:txBody>
      </p:sp>
      <p:sp>
        <p:nvSpPr>
          <p:cNvPr id="1509265527" name="Text 38"/>
          <p:cNvSpPr txBox="1"/>
          <p:nvPr/>
        </p:nvSpPr>
        <p:spPr bwMode="auto">
          <a:xfrm>
            <a:off x="2880360" y="7699248"/>
            <a:ext cx="2103120" cy="68580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¿Fotos, ilustraciones o solo color? ¿De dónde saldrán?</a:t>
            </a:r>
            <a:endParaRPr lang="en-US" sz="1050"/>
          </a:p>
        </p:txBody>
      </p:sp>
      <p:sp>
        <p:nvSpPr>
          <p:cNvPr id="1063186074" name="Text 39"/>
          <p:cNvSpPr txBox="1"/>
          <p:nvPr/>
        </p:nvSpPr>
        <p:spPr bwMode="auto">
          <a:xfrm>
            <a:off x="5166360" y="7443216"/>
            <a:ext cx="6565392" cy="91440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525478549" name="Text 40"/>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17</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8">
    <p:bg>
      <p:bgPr shadeToTitle="0">
        <a:solidFill>
          <a:srgbClr val="FFFFFF"/>
        </a:solidFill>
      </p:bgPr>
    </p:bg>
    <p:spTree>
      <p:nvGrpSpPr>
        <p:cNvPr id="1" name=""/>
        <p:cNvGrpSpPr/>
        <p:nvPr/>
      </p:nvGrpSpPr>
      <p:grpSpPr bwMode="auto">
        <a:xfrm>
          <a:off x="0" y="0"/>
          <a:ext cx="0" cy="0"/>
          <a:chOff x="0" y="0"/>
          <a:chExt cx="0" cy="0"/>
        </a:xfrm>
      </p:grpSpPr>
      <p:sp>
        <p:nvSpPr>
          <p:cNvPr id="759024393" name="Shape 0"/>
          <p:cNvSpPr/>
          <p:nvPr/>
        </p:nvSpPr>
        <p:spPr bwMode="auto">
          <a:xfrm>
            <a:off x="0" y="0"/>
            <a:ext cx="2514600" cy="9144000"/>
          </a:xfrm>
          <a:prstGeom prst="rect">
            <a:avLst/>
          </a:prstGeom>
          <a:solidFill>
            <a:srgbClr val="00838F"/>
          </a:solidFill>
          <a:ln/>
        </p:spPr>
      </p:sp>
      <p:sp>
        <p:nvSpPr>
          <p:cNvPr id="1972462773"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3</a:t>
            </a:r>
            <a:endParaRPr lang="en-US" sz="1100"/>
          </a:p>
        </p:txBody>
      </p:sp>
      <p:sp>
        <p:nvSpPr>
          <p:cNvPr id="333962131"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Prototipa</a:t>
            </a:r>
            <a:endParaRPr lang="en-US" sz="2600"/>
          </a:p>
        </p:txBody>
      </p:sp>
      <p:sp>
        <p:nvSpPr>
          <p:cNvPr id="1347601673"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C4E9ED"/>
                </a:solidFill>
                <a:latin typeface="Calibri"/>
                <a:ea typeface="Calibri"/>
                <a:cs typeface="Calibri"/>
              </a:rPr>
              <a:t>Pantallas</a:t>
            </a:r>
            <a:endParaRPr lang="en-US" sz="1300"/>
          </a:p>
          <a:p>
            <a:pPr marL="0" indent="0">
              <a:spcAft>
                <a:spcPts val="800"/>
              </a:spcAft>
              <a:buNone/>
              <a:defRPr/>
            </a:pPr>
            <a:r>
              <a:rPr lang="en-US" sz="1300">
                <a:solidFill>
                  <a:srgbClr val="C4E9ED"/>
                </a:solidFill>
                <a:latin typeface="Calibri"/>
                <a:ea typeface="Calibri"/>
                <a:cs typeface="Calibri"/>
              </a:rPr>
              <a:t>Flujo de la app</a:t>
            </a:r>
            <a:endParaRPr lang="en-US" sz="1300"/>
          </a:p>
          <a:p>
            <a:pPr marL="0" indent="0">
              <a:spcAft>
                <a:spcPts val="800"/>
              </a:spcAft>
              <a:buNone/>
              <a:defRPr/>
            </a:pPr>
            <a:r>
              <a:rPr lang="en-US" sz="1300">
                <a:solidFill>
                  <a:srgbClr val="C4E9ED"/>
                </a:solidFill>
                <a:latin typeface="Calibri"/>
                <a:ea typeface="Calibri"/>
                <a:cs typeface="Calibri"/>
              </a:rPr>
              <a:t>Respuesta de la app</a:t>
            </a:r>
            <a:endParaRPr lang="en-US" sz="1300"/>
          </a:p>
          <a:p>
            <a:pPr marL="0" indent="0">
              <a:spcAft>
                <a:spcPts val="800"/>
              </a:spcAft>
              <a:buNone/>
              <a:defRPr/>
            </a:pPr>
            <a:r>
              <a:rPr lang="en-US" sz="1300">
                <a:solidFill>
                  <a:srgbClr val="C4E9ED"/>
                </a:solidFill>
                <a:latin typeface="Calibri"/>
                <a:ea typeface="Calibri"/>
                <a:cs typeface="Calibri"/>
              </a:rPr>
              <a:t>Estilo Material 3</a:t>
            </a:r>
            <a:endParaRPr lang="en-US" sz="1300"/>
          </a:p>
          <a:p>
            <a:pPr marL="0" indent="0">
              <a:spcAft>
                <a:spcPts val="800"/>
              </a:spcAft>
              <a:buNone/>
              <a:defRPr/>
            </a:pPr>
            <a:r>
              <a:rPr lang="en-US" sz="1300" b="1">
                <a:solidFill>
                  <a:srgbClr val="FFFFFF"/>
                </a:solidFill>
                <a:latin typeface="Calibri"/>
                <a:ea typeface="Calibri"/>
                <a:cs typeface="Calibri"/>
              </a:rPr>
              <a:t>Ícono y nombre</a:t>
            </a:r>
            <a:endParaRPr lang="en-US" sz="1300"/>
          </a:p>
        </p:txBody>
      </p:sp>
      <p:sp>
        <p:nvSpPr>
          <p:cNvPr id="1376661144" name="Shape 4"/>
          <p:cNvSpPr/>
          <p:nvPr/>
        </p:nvSpPr>
        <p:spPr bwMode="auto">
          <a:xfrm>
            <a:off x="320040" y="7269480"/>
            <a:ext cx="1005840" cy="0"/>
          </a:xfrm>
          <a:prstGeom prst="line">
            <a:avLst/>
          </a:prstGeom>
          <a:noFill/>
          <a:ln w="19050">
            <a:solidFill>
              <a:srgbClr val="FFFFFF"/>
            </a:solidFill>
            <a:prstDash val="solid"/>
          </a:ln>
        </p:spPr>
      </p:sp>
      <p:sp>
        <p:nvSpPr>
          <p:cNvPr id="1215603539"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PRUEBA RÁPIDA</a:t>
            </a:r>
            <a:endParaRPr lang="en-US" sz="1000"/>
          </a:p>
        </p:txBody>
      </p:sp>
      <p:sp>
        <p:nvSpPr>
          <p:cNvPr id="1034427034"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Mira tu ícono reducido al tamaño real, junto a otras apps en la pantalla de inicio. Si no se distingue, simplifícalo.</a:t>
            </a:r>
            <a:endParaRPr lang="en-US" sz="1100"/>
          </a:p>
        </p:txBody>
      </p:sp>
      <p:sp>
        <p:nvSpPr>
          <p:cNvPr id="1270065195"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El ícono y el nombre de mi app</a:t>
            </a:r>
            <a:endParaRPr lang="en-US" sz="2500"/>
          </a:p>
        </p:txBody>
      </p:sp>
      <p:sp>
        <p:nvSpPr>
          <p:cNvPr id="2078703073" name="Text 8"/>
          <p:cNvSpPr txBox="1"/>
          <p:nvPr/>
        </p:nvSpPr>
        <p:spPr bwMode="auto">
          <a:xfrm>
            <a:off x="2880360" y="1051560"/>
            <a:ext cx="8851392" cy="54864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El ícono y el nombre son lo primero que ve la gente. Dibuja cuatro ideas de ícono y quédate con una. Recuerda que se verá muy pequeño: pocas formas, mucho contraste, nada de texto.</a:t>
            </a:r>
            <a:endParaRPr lang="en-US" sz="1400"/>
          </a:p>
        </p:txBody>
      </p:sp>
      <p:sp>
        <p:nvSpPr>
          <p:cNvPr id="943662394" name="Shape 9"/>
          <p:cNvSpPr/>
          <p:nvPr/>
        </p:nvSpPr>
        <p:spPr bwMode="auto">
          <a:xfrm>
            <a:off x="2880360" y="1783080"/>
            <a:ext cx="2011680" cy="2011680"/>
          </a:xfrm>
          <a:prstGeom prst="roundRect">
            <a:avLst>
              <a:gd name="adj" fmla="val 10000"/>
            </a:avLst>
          </a:prstGeom>
          <a:solidFill>
            <a:srgbClr val="E4F5F7"/>
          </a:solidFill>
          <a:ln w="12700">
            <a:solidFill>
              <a:srgbClr val="A7DDE3"/>
            </a:solidFill>
            <a:prstDash val="solid"/>
          </a:ln>
        </p:spPr>
      </p:sp>
      <p:sp>
        <p:nvSpPr>
          <p:cNvPr id="1965235570" name="Text 10"/>
          <p:cNvSpPr txBox="1"/>
          <p:nvPr/>
        </p:nvSpPr>
        <p:spPr bwMode="auto">
          <a:xfrm>
            <a:off x="2880360" y="3840480"/>
            <a:ext cx="2011680" cy="256032"/>
          </a:xfrm>
          <a:prstGeom prst="rect">
            <a:avLst/>
          </a:prstGeom>
          <a:noFill/>
          <a:ln/>
        </p:spPr>
        <p:txBody>
          <a:bodyPr wrap="square" lIns="0" tIns="0" rIns="0" bIns="0" rtlCol="0" anchor="ctr"/>
          <a:lstStyle/>
          <a:p>
            <a:pPr marL="0" indent="0" algn="ctr">
              <a:buNone/>
              <a:defRPr/>
            </a:pPr>
            <a:r>
              <a:rPr lang="en-US" sz="1100">
                <a:solidFill>
                  <a:srgbClr val="5F6368"/>
                </a:solidFill>
                <a:latin typeface="Calibri"/>
                <a:ea typeface="Calibri"/>
                <a:cs typeface="Calibri"/>
              </a:rPr>
              <a:t>Idea 1</a:t>
            </a:r>
            <a:endParaRPr lang="en-US" sz="1100"/>
          </a:p>
        </p:txBody>
      </p:sp>
      <p:sp>
        <p:nvSpPr>
          <p:cNvPr id="1256280559" name="Shape 11"/>
          <p:cNvSpPr/>
          <p:nvPr/>
        </p:nvSpPr>
        <p:spPr bwMode="auto">
          <a:xfrm>
            <a:off x="5120640" y="1783080"/>
            <a:ext cx="2011680" cy="2011680"/>
          </a:xfrm>
          <a:prstGeom prst="roundRect">
            <a:avLst>
              <a:gd name="adj" fmla="val 10000"/>
            </a:avLst>
          </a:prstGeom>
          <a:solidFill>
            <a:srgbClr val="E4F5F7"/>
          </a:solidFill>
          <a:ln w="12700">
            <a:solidFill>
              <a:srgbClr val="A7DDE3"/>
            </a:solidFill>
            <a:prstDash val="solid"/>
          </a:ln>
        </p:spPr>
      </p:sp>
      <p:sp>
        <p:nvSpPr>
          <p:cNvPr id="978260565" name="Text 12"/>
          <p:cNvSpPr txBox="1"/>
          <p:nvPr/>
        </p:nvSpPr>
        <p:spPr bwMode="auto">
          <a:xfrm>
            <a:off x="5120640" y="3840480"/>
            <a:ext cx="2011680" cy="256032"/>
          </a:xfrm>
          <a:prstGeom prst="rect">
            <a:avLst/>
          </a:prstGeom>
          <a:noFill/>
          <a:ln/>
        </p:spPr>
        <p:txBody>
          <a:bodyPr wrap="square" lIns="0" tIns="0" rIns="0" bIns="0" rtlCol="0" anchor="ctr"/>
          <a:lstStyle/>
          <a:p>
            <a:pPr marL="0" indent="0" algn="ctr">
              <a:buNone/>
              <a:defRPr/>
            </a:pPr>
            <a:r>
              <a:rPr lang="en-US" sz="1100">
                <a:solidFill>
                  <a:srgbClr val="5F6368"/>
                </a:solidFill>
                <a:latin typeface="Calibri"/>
                <a:ea typeface="Calibri"/>
                <a:cs typeface="Calibri"/>
              </a:rPr>
              <a:t>Idea 2</a:t>
            </a:r>
            <a:endParaRPr lang="en-US" sz="1100"/>
          </a:p>
        </p:txBody>
      </p:sp>
      <p:sp>
        <p:nvSpPr>
          <p:cNvPr id="1662118681" name="Shape 13"/>
          <p:cNvSpPr/>
          <p:nvPr/>
        </p:nvSpPr>
        <p:spPr bwMode="auto">
          <a:xfrm>
            <a:off x="7360920" y="1783080"/>
            <a:ext cx="2011680" cy="2011680"/>
          </a:xfrm>
          <a:prstGeom prst="roundRect">
            <a:avLst>
              <a:gd name="adj" fmla="val 10000"/>
            </a:avLst>
          </a:prstGeom>
          <a:solidFill>
            <a:srgbClr val="E4F5F7"/>
          </a:solidFill>
          <a:ln w="12700">
            <a:solidFill>
              <a:srgbClr val="A7DDE3"/>
            </a:solidFill>
            <a:prstDash val="solid"/>
          </a:ln>
        </p:spPr>
      </p:sp>
      <p:sp>
        <p:nvSpPr>
          <p:cNvPr id="1055678813" name="Text 14"/>
          <p:cNvSpPr txBox="1"/>
          <p:nvPr/>
        </p:nvSpPr>
        <p:spPr bwMode="auto">
          <a:xfrm>
            <a:off x="7360920" y="3840480"/>
            <a:ext cx="2011680" cy="256032"/>
          </a:xfrm>
          <a:prstGeom prst="rect">
            <a:avLst/>
          </a:prstGeom>
          <a:noFill/>
          <a:ln/>
        </p:spPr>
        <p:txBody>
          <a:bodyPr wrap="square" lIns="0" tIns="0" rIns="0" bIns="0" rtlCol="0" anchor="ctr"/>
          <a:lstStyle/>
          <a:p>
            <a:pPr marL="0" indent="0" algn="ctr">
              <a:buNone/>
              <a:defRPr/>
            </a:pPr>
            <a:r>
              <a:rPr lang="en-US" sz="1100">
                <a:solidFill>
                  <a:srgbClr val="5F6368"/>
                </a:solidFill>
                <a:latin typeface="Calibri"/>
                <a:ea typeface="Calibri"/>
                <a:cs typeface="Calibri"/>
              </a:rPr>
              <a:t>Idea 3</a:t>
            </a:r>
            <a:endParaRPr lang="en-US" sz="1100"/>
          </a:p>
        </p:txBody>
      </p:sp>
      <p:sp>
        <p:nvSpPr>
          <p:cNvPr id="364726297" name="Shape 15"/>
          <p:cNvSpPr/>
          <p:nvPr/>
        </p:nvSpPr>
        <p:spPr bwMode="auto">
          <a:xfrm>
            <a:off x="9601200" y="1783080"/>
            <a:ext cx="2011680" cy="2011680"/>
          </a:xfrm>
          <a:prstGeom prst="roundRect">
            <a:avLst>
              <a:gd name="adj" fmla="val 10000"/>
            </a:avLst>
          </a:prstGeom>
          <a:solidFill>
            <a:srgbClr val="E4F5F7"/>
          </a:solidFill>
          <a:ln w="12700">
            <a:solidFill>
              <a:srgbClr val="A7DDE3"/>
            </a:solidFill>
            <a:prstDash val="solid"/>
          </a:ln>
        </p:spPr>
      </p:sp>
      <p:sp>
        <p:nvSpPr>
          <p:cNvPr id="2113017713" name="Text 16"/>
          <p:cNvSpPr txBox="1"/>
          <p:nvPr/>
        </p:nvSpPr>
        <p:spPr bwMode="auto">
          <a:xfrm>
            <a:off x="9601200" y="3840480"/>
            <a:ext cx="2011680" cy="256032"/>
          </a:xfrm>
          <a:prstGeom prst="rect">
            <a:avLst/>
          </a:prstGeom>
          <a:noFill/>
          <a:ln/>
        </p:spPr>
        <p:txBody>
          <a:bodyPr wrap="square" lIns="0" tIns="0" rIns="0" bIns="0" rtlCol="0" anchor="ctr"/>
          <a:lstStyle/>
          <a:p>
            <a:pPr marL="0" indent="0" algn="ctr">
              <a:buNone/>
              <a:defRPr/>
            </a:pPr>
            <a:r>
              <a:rPr lang="en-US" sz="1100">
                <a:solidFill>
                  <a:srgbClr val="5F6368"/>
                </a:solidFill>
                <a:latin typeface="Calibri"/>
                <a:ea typeface="Calibri"/>
                <a:cs typeface="Calibri"/>
              </a:rPr>
              <a:t>Idea 4</a:t>
            </a:r>
            <a:endParaRPr lang="en-US" sz="1100"/>
          </a:p>
        </p:txBody>
      </p:sp>
      <p:sp>
        <p:nvSpPr>
          <p:cNvPr id="310284767" name="Text 17"/>
          <p:cNvSpPr txBox="1"/>
          <p:nvPr/>
        </p:nvSpPr>
        <p:spPr bwMode="auto">
          <a:xfrm>
            <a:off x="2880360" y="4343400"/>
            <a:ext cx="8851392"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Nombres candidatos (mínimo cinco)</a:t>
            </a:r>
            <a:endParaRPr lang="en-US" sz="1200"/>
          </a:p>
        </p:txBody>
      </p:sp>
      <p:sp>
        <p:nvSpPr>
          <p:cNvPr id="1362650426" name="Text 18"/>
          <p:cNvSpPr txBox="1"/>
          <p:nvPr/>
        </p:nvSpPr>
        <p:spPr bwMode="auto">
          <a:xfrm>
            <a:off x="2880360" y="4617720"/>
            <a:ext cx="8851392" cy="100584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516081976" name="Text 19"/>
          <p:cNvSpPr txBox="1"/>
          <p:nvPr/>
        </p:nvSpPr>
        <p:spPr bwMode="auto">
          <a:xfrm>
            <a:off x="2880360" y="5852160"/>
            <a:ext cx="4206240"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Nombre elegido</a:t>
            </a:r>
            <a:endParaRPr lang="en-US" sz="1200"/>
          </a:p>
        </p:txBody>
      </p:sp>
      <p:sp>
        <p:nvSpPr>
          <p:cNvPr id="1463946618" name="Text 20"/>
          <p:cNvSpPr txBox="1"/>
          <p:nvPr/>
        </p:nvSpPr>
        <p:spPr bwMode="auto">
          <a:xfrm>
            <a:off x="2880360" y="6126480"/>
            <a:ext cx="4206240" cy="54864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243706016" name="Text 21"/>
          <p:cNvSpPr txBox="1"/>
          <p:nvPr/>
        </p:nvSpPr>
        <p:spPr bwMode="auto">
          <a:xfrm>
            <a:off x="7525512" y="5852160"/>
            <a:ext cx="4206240"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¿Está libre en Play Store?</a:t>
            </a:r>
            <a:endParaRPr lang="en-US" sz="1200"/>
          </a:p>
        </p:txBody>
      </p:sp>
      <p:sp>
        <p:nvSpPr>
          <p:cNvPr id="614701124" name="Text 22"/>
          <p:cNvSpPr txBox="1"/>
          <p:nvPr/>
        </p:nvSpPr>
        <p:spPr bwMode="auto">
          <a:xfrm>
            <a:off x="7525512" y="6126480"/>
            <a:ext cx="4206240" cy="54864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1706982426" name="Text 23"/>
          <p:cNvSpPr txBox="1"/>
          <p:nvPr/>
        </p:nvSpPr>
        <p:spPr bwMode="auto">
          <a:xfrm>
            <a:off x="2880360" y="6903720"/>
            <a:ext cx="8851392" cy="237744"/>
          </a:xfrm>
          <a:prstGeom prst="rect">
            <a:avLst/>
          </a:prstGeom>
          <a:noFill/>
          <a:ln/>
        </p:spPr>
        <p:txBody>
          <a:bodyPr wrap="square" lIns="0" tIns="0" rIns="0" bIns="0" rtlCol="0" anchor="t"/>
          <a:lstStyle/>
          <a:p>
            <a:pPr marL="0" indent="0">
              <a:buNone/>
              <a:defRPr/>
            </a:pPr>
            <a:r>
              <a:rPr lang="en-US" sz="1200" b="1">
                <a:solidFill>
                  <a:srgbClr val="00838F"/>
                </a:solidFill>
                <a:latin typeface="Arial"/>
                <a:ea typeface="Arial"/>
                <a:cs typeface="Arial"/>
              </a:rPr>
              <a:t>¿Por qué este nombre y este ícono? ¿Qué dicen de tu app antes de abrirla?</a:t>
            </a:r>
            <a:endParaRPr lang="en-US" sz="1200"/>
          </a:p>
        </p:txBody>
      </p:sp>
      <p:sp>
        <p:nvSpPr>
          <p:cNvPr id="1009786222" name="Text 24"/>
          <p:cNvSpPr txBox="1"/>
          <p:nvPr/>
        </p:nvSpPr>
        <p:spPr bwMode="auto">
          <a:xfrm>
            <a:off x="2880360" y="7178039"/>
            <a:ext cx="8851392" cy="132588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518639102" name="Text 25"/>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18</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9">
    <p:bg>
      <p:bgPr shadeToTitle="0">
        <a:solidFill>
          <a:srgbClr val="FFFFFF"/>
        </a:solidFill>
      </p:bgPr>
    </p:bg>
    <p:spTree>
      <p:nvGrpSpPr>
        <p:cNvPr id="1" name=""/>
        <p:cNvGrpSpPr/>
        <p:nvPr/>
      </p:nvGrpSpPr>
      <p:grpSpPr bwMode="auto">
        <a:xfrm>
          <a:off x="0" y="0"/>
          <a:ext cx="0" cy="0"/>
          <a:chOff x="0" y="0"/>
          <a:chExt cx="0" cy="0"/>
        </a:xfrm>
      </p:grpSpPr>
      <p:sp>
        <p:nvSpPr>
          <p:cNvPr id="572456868" name="Shape 0"/>
          <p:cNvSpPr/>
          <p:nvPr/>
        </p:nvSpPr>
        <p:spPr bwMode="auto">
          <a:xfrm>
            <a:off x="0" y="0"/>
            <a:ext cx="2514600" cy="9144000"/>
          </a:xfrm>
          <a:prstGeom prst="rect">
            <a:avLst/>
          </a:prstGeom>
          <a:solidFill>
            <a:srgbClr val="C5221F"/>
          </a:solidFill>
          <a:ln/>
        </p:spPr>
      </p:sp>
      <p:sp>
        <p:nvSpPr>
          <p:cNvPr id="775536153"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4</a:t>
            </a:r>
            <a:endParaRPr lang="en-US" sz="1100"/>
          </a:p>
        </p:txBody>
      </p:sp>
      <p:sp>
        <p:nvSpPr>
          <p:cNvPr id="1822327251"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Evalúa</a:t>
            </a:r>
            <a:endParaRPr lang="en-US" sz="2600"/>
          </a:p>
        </p:txBody>
      </p:sp>
      <p:sp>
        <p:nvSpPr>
          <p:cNvPr id="1292253359"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F7CFCD"/>
                </a:solidFill>
                <a:latin typeface="Calibri"/>
                <a:ea typeface="Calibri"/>
                <a:cs typeface="Calibri"/>
              </a:rPr>
              <a:t>Pitch</a:t>
            </a:r>
            <a:endParaRPr lang="en-US" sz="1300"/>
          </a:p>
          <a:p>
            <a:pPr marL="0" indent="0">
              <a:spcAft>
                <a:spcPts val="800"/>
              </a:spcAft>
              <a:buNone/>
              <a:defRPr/>
            </a:pPr>
            <a:r>
              <a:rPr lang="en-US" sz="1300">
                <a:solidFill>
                  <a:srgbClr val="F7CFCD"/>
                </a:solidFill>
                <a:latin typeface="Calibri"/>
                <a:ea typeface="Calibri"/>
                <a:cs typeface="Calibri"/>
              </a:rPr>
              <a:t>Prueba con usuarios</a:t>
            </a:r>
            <a:endParaRPr lang="en-US" sz="1300"/>
          </a:p>
          <a:p>
            <a:pPr marL="0" indent="0">
              <a:spcAft>
                <a:spcPts val="800"/>
              </a:spcAft>
              <a:buNone/>
              <a:defRPr/>
            </a:pPr>
            <a:r>
              <a:rPr lang="en-US" sz="1300">
                <a:solidFill>
                  <a:srgbClr val="F7CFCD"/>
                </a:solidFill>
                <a:latin typeface="Calibri"/>
                <a:ea typeface="Calibri"/>
                <a:cs typeface="Calibri"/>
              </a:rPr>
              <a:t>Observación</a:t>
            </a:r>
            <a:endParaRPr lang="en-US" sz="1300"/>
          </a:p>
          <a:p>
            <a:pPr marL="0" indent="0">
              <a:spcAft>
                <a:spcPts val="800"/>
              </a:spcAft>
              <a:buNone/>
              <a:defRPr/>
            </a:pPr>
            <a:r>
              <a:rPr lang="en-US" sz="1300">
                <a:solidFill>
                  <a:srgbClr val="F7CFCD"/>
                </a:solidFill>
                <a:latin typeface="Calibri"/>
                <a:ea typeface="Calibri"/>
                <a:cs typeface="Calibri"/>
              </a:rPr>
              <a:t>Iteración</a:t>
            </a:r>
            <a:endParaRPr lang="en-US" sz="1300"/>
          </a:p>
        </p:txBody>
      </p:sp>
      <p:sp>
        <p:nvSpPr>
          <p:cNvPr id="694291161" name="Shape 4"/>
          <p:cNvSpPr/>
          <p:nvPr/>
        </p:nvSpPr>
        <p:spPr bwMode="auto">
          <a:xfrm>
            <a:off x="7223760" y="2377440"/>
            <a:ext cx="4480560" cy="4389120"/>
          </a:xfrm>
          <a:prstGeom prst="roundRect">
            <a:avLst>
              <a:gd name="adj" fmla="val 1667"/>
            </a:avLst>
          </a:prstGeom>
          <a:solidFill>
            <a:srgbClr val="FCEAE9"/>
          </a:solidFill>
          <a:ln/>
        </p:spPr>
      </p:sp>
      <p:sp>
        <p:nvSpPr>
          <p:cNvPr id="2582497" name="Text 5"/>
          <p:cNvSpPr txBox="1"/>
          <p:nvPr/>
        </p:nvSpPr>
        <p:spPr bwMode="auto">
          <a:xfrm>
            <a:off x="7223760" y="2560320"/>
            <a:ext cx="4480560" cy="4023360"/>
          </a:xfrm>
          <a:prstGeom prst="rect">
            <a:avLst/>
          </a:prstGeom>
          <a:noFill/>
          <a:ln/>
        </p:spPr>
        <p:txBody>
          <a:bodyPr wrap="square" lIns="0" tIns="0" rIns="0" bIns="0" rtlCol="0" anchor="ctr"/>
          <a:lstStyle/>
          <a:p>
            <a:pPr marL="0" indent="0" algn="ctr">
              <a:buNone/>
              <a:defRPr/>
            </a:pPr>
            <a:r>
              <a:rPr lang="en-US" sz="20000" b="1">
                <a:solidFill>
                  <a:srgbClr val="F3B7B4"/>
                </a:solidFill>
                <a:latin typeface="Arial"/>
                <a:ea typeface="Arial"/>
                <a:cs typeface="Arial"/>
              </a:rPr>
              <a:t>4</a:t>
            </a:r>
            <a:endParaRPr lang="en-US" sz="20000"/>
          </a:p>
        </p:txBody>
      </p:sp>
      <p:sp>
        <p:nvSpPr>
          <p:cNvPr id="253072980" name="Text 6"/>
          <p:cNvSpPr txBox="1"/>
          <p:nvPr/>
        </p:nvSpPr>
        <p:spPr bwMode="auto">
          <a:xfrm>
            <a:off x="2880360" y="237744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Fase 4 · Evalúa</a:t>
            </a:r>
            <a:endParaRPr lang="en-US" sz="2500"/>
          </a:p>
        </p:txBody>
      </p:sp>
      <p:sp>
        <p:nvSpPr>
          <p:cNvPr id="1401009134" name="Text 7"/>
          <p:cNvSpPr txBox="1"/>
          <p:nvPr/>
        </p:nvSpPr>
        <p:spPr bwMode="auto">
          <a:xfrm>
            <a:off x="2880360" y="3063240"/>
            <a:ext cx="4023360" cy="1828800"/>
          </a:xfrm>
          <a:prstGeom prst="rect">
            <a:avLst/>
          </a:prstGeom>
          <a:noFill/>
          <a:ln/>
        </p:spPr>
        <p:txBody>
          <a:bodyPr wrap="square" lIns="0" tIns="0" rIns="0" bIns="0" rtlCol="0" anchor="t"/>
          <a:lstStyle/>
          <a:p>
            <a:pPr marL="0" indent="0">
              <a:lnSpc>
                <a:spcPct val="114999"/>
              </a:lnSpc>
              <a:buNone/>
              <a:defRPr/>
            </a:pPr>
            <a:r>
              <a:rPr lang="en-US" sz="1500">
                <a:solidFill>
                  <a:srgbClr val="5F6368"/>
                </a:solidFill>
                <a:latin typeface="Calibri"/>
                <a:ea typeface="Calibri"/>
                <a:cs typeface="Calibri"/>
              </a:rPr>
              <a:t>Ya tienes un prototipo. Ahora ponlo en manos de otras personas: preséntalo, míralas usarlo sin ayudarlas y anota todo. El feedback incómodo es el más útil.</a:t>
            </a:r>
            <a:endParaRPr lang="en-US" sz="1500"/>
          </a:p>
        </p:txBody>
      </p:sp>
      <p:sp>
        <p:nvSpPr>
          <p:cNvPr id="1407764639" name="Text 8"/>
          <p:cNvSpPr txBox="1"/>
          <p:nvPr/>
        </p:nvSpPr>
        <p:spPr bwMode="auto">
          <a:xfrm>
            <a:off x="2880360" y="5120640"/>
            <a:ext cx="4023360" cy="228600"/>
          </a:xfrm>
          <a:prstGeom prst="rect">
            <a:avLst/>
          </a:prstGeom>
          <a:noFill/>
          <a:ln/>
        </p:spPr>
        <p:txBody>
          <a:bodyPr wrap="square" lIns="0" tIns="0" rIns="0" bIns="0" rtlCol="0" anchor="ctr"/>
          <a:lstStyle/>
          <a:p>
            <a:pPr marL="0" indent="0">
              <a:buNone/>
              <a:defRPr/>
            </a:pPr>
            <a:r>
              <a:rPr lang="en-US" sz="1000" b="1" spc="150">
                <a:solidFill>
                  <a:srgbClr val="C5221F"/>
                </a:solidFill>
                <a:latin typeface="Arial"/>
                <a:ea typeface="Arial"/>
                <a:cs typeface="Arial"/>
              </a:rPr>
              <a:t>AL TERMINAR TENDRÁS</a:t>
            </a:r>
            <a:endParaRPr lang="en-US" sz="1000"/>
          </a:p>
        </p:txBody>
      </p:sp>
      <p:sp>
        <p:nvSpPr>
          <p:cNvPr id="1323668515" name="Text 9"/>
          <p:cNvSpPr txBox="1"/>
          <p:nvPr/>
        </p:nvSpPr>
        <p:spPr bwMode="auto">
          <a:xfrm>
            <a:off x="2880360" y="5440680"/>
            <a:ext cx="4023360" cy="1645920"/>
          </a:xfrm>
          <a:prstGeom prst="rect">
            <a:avLst/>
          </a:prstGeom>
          <a:noFill/>
          <a:ln/>
        </p:spPr>
        <p:txBody>
          <a:bodyPr wrap="square" lIns="0" tIns="0" rIns="0" bIns="0" rtlCol="0" anchor="t"/>
          <a:lstStyle/>
          <a:p>
            <a:pPr marL="342900" indent="-342900">
              <a:spcAft>
                <a:spcPts val="800"/>
              </a:spcAft>
              <a:buSzPct val="100000"/>
              <a:buChar char="•"/>
              <a:defRPr/>
            </a:pPr>
            <a:r>
              <a:rPr lang="en-US" sz="1350">
                <a:solidFill>
                  <a:srgbClr val="202124"/>
                </a:solidFill>
                <a:latin typeface="Calibri"/>
                <a:ea typeface="Calibri"/>
                <a:cs typeface="Calibri"/>
              </a:rPr>
              <a:t>Un pitch de tres minutos</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Un plan de prueba con usuarios</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Observaciones de personas reales</a:t>
            </a:r>
            <a:endParaRPr lang="en-US" sz="1350"/>
          </a:p>
          <a:p>
            <a:pPr marL="342900" indent="-342900">
              <a:spcAft>
                <a:spcPts val="800"/>
              </a:spcAft>
              <a:buSzPct val="100000"/>
              <a:buChar char="•"/>
              <a:defRPr/>
            </a:pPr>
            <a:r>
              <a:rPr lang="en-US" sz="1350">
                <a:solidFill>
                  <a:srgbClr val="202124"/>
                </a:solidFill>
                <a:latin typeface="Calibri"/>
                <a:ea typeface="Calibri"/>
                <a:cs typeface="Calibri"/>
              </a:rPr>
              <a:t>Los cambios para tu siguiente versión</a:t>
            </a:r>
            <a:endParaRPr lang="en-US" sz="1350"/>
          </a:p>
        </p:txBody>
      </p:sp>
      <p:sp>
        <p:nvSpPr>
          <p:cNvPr id="178494047" name="Text 10"/>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19</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0">
    <p:bg>
      <p:bgPr shadeToTitle="0">
        <a:solidFill>
          <a:srgbClr val="FFFFFF"/>
        </a:solidFill>
      </p:bgPr>
    </p:bg>
    <p:spTree>
      <p:nvGrpSpPr>
        <p:cNvPr id="1" name=""/>
        <p:cNvGrpSpPr/>
        <p:nvPr/>
      </p:nvGrpSpPr>
      <p:grpSpPr bwMode="auto">
        <a:xfrm>
          <a:off x="0" y="0"/>
          <a:ext cx="0" cy="0"/>
          <a:chOff x="0" y="0"/>
          <a:chExt cx="0" cy="0"/>
        </a:xfrm>
      </p:grpSpPr>
      <p:sp>
        <p:nvSpPr>
          <p:cNvPr id="772050887" name="Shape 0"/>
          <p:cNvSpPr/>
          <p:nvPr/>
        </p:nvSpPr>
        <p:spPr bwMode="auto">
          <a:xfrm>
            <a:off x="0" y="0"/>
            <a:ext cx="2514600" cy="9144000"/>
          </a:xfrm>
          <a:prstGeom prst="rect">
            <a:avLst/>
          </a:prstGeom>
          <a:solidFill>
            <a:srgbClr val="C5221F"/>
          </a:solidFill>
          <a:ln/>
        </p:spPr>
      </p:sp>
      <p:sp>
        <p:nvSpPr>
          <p:cNvPr id="1499073131"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4</a:t>
            </a:r>
            <a:endParaRPr lang="en-US" sz="1100"/>
          </a:p>
        </p:txBody>
      </p:sp>
      <p:sp>
        <p:nvSpPr>
          <p:cNvPr id="153524952"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Evalúa</a:t>
            </a:r>
            <a:endParaRPr lang="en-US" sz="2600"/>
          </a:p>
        </p:txBody>
      </p:sp>
      <p:sp>
        <p:nvSpPr>
          <p:cNvPr id="2143302701"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b="1">
                <a:solidFill>
                  <a:srgbClr val="FFFFFF"/>
                </a:solidFill>
                <a:latin typeface="Calibri"/>
                <a:ea typeface="Calibri"/>
                <a:cs typeface="Calibri"/>
              </a:rPr>
              <a:t>Pitch</a:t>
            </a:r>
            <a:endParaRPr lang="en-US" sz="1300"/>
          </a:p>
          <a:p>
            <a:pPr marL="0" indent="0">
              <a:spcAft>
                <a:spcPts val="800"/>
              </a:spcAft>
              <a:buNone/>
              <a:defRPr/>
            </a:pPr>
            <a:r>
              <a:rPr lang="en-US" sz="1300">
                <a:solidFill>
                  <a:srgbClr val="F7CFCD"/>
                </a:solidFill>
                <a:latin typeface="Calibri"/>
                <a:ea typeface="Calibri"/>
                <a:cs typeface="Calibri"/>
              </a:rPr>
              <a:t>Prueba con usuarios</a:t>
            </a:r>
            <a:endParaRPr lang="en-US" sz="1300"/>
          </a:p>
          <a:p>
            <a:pPr marL="0" indent="0">
              <a:spcAft>
                <a:spcPts val="800"/>
              </a:spcAft>
              <a:buNone/>
              <a:defRPr/>
            </a:pPr>
            <a:r>
              <a:rPr lang="en-US" sz="1300">
                <a:solidFill>
                  <a:srgbClr val="F7CFCD"/>
                </a:solidFill>
                <a:latin typeface="Calibri"/>
                <a:ea typeface="Calibri"/>
                <a:cs typeface="Calibri"/>
              </a:rPr>
              <a:t>Observación</a:t>
            </a:r>
            <a:endParaRPr lang="en-US" sz="1300"/>
          </a:p>
          <a:p>
            <a:pPr marL="0" indent="0">
              <a:spcAft>
                <a:spcPts val="800"/>
              </a:spcAft>
              <a:buNone/>
              <a:defRPr/>
            </a:pPr>
            <a:r>
              <a:rPr lang="en-US" sz="1300">
                <a:solidFill>
                  <a:srgbClr val="F7CFCD"/>
                </a:solidFill>
                <a:latin typeface="Calibri"/>
                <a:ea typeface="Calibri"/>
                <a:cs typeface="Calibri"/>
              </a:rPr>
              <a:t>Iteración</a:t>
            </a:r>
            <a:endParaRPr lang="en-US" sz="1300"/>
          </a:p>
        </p:txBody>
      </p:sp>
      <p:sp>
        <p:nvSpPr>
          <p:cNvPr id="1060477359" name="Shape 4"/>
          <p:cNvSpPr/>
          <p:nvPr/>
        </p:nvSpPr>
        <p:spPr bwMode="auto">
          <a:xfrm>
            <a:off x="320040" y="7269480"/>
            <a:ext cx="1005840" cy="0"/>
          </a:xfrm>
          <a:prstGeom prst="line">
            <a:avLst/>
          </a:prstGeom>
          <a:noFill/>
          <a:ln w="19050">
            <a:solidFill>
              <a:srgbClr val="FFFFFF"/>
            </a:solidFill>
            <a:prstDash val="solid"/>
          </a:ln>
        </p:spPr>
      </p:sp>
      <p:sp>
        <p:nvSpPr>
          <p:cNvPr id="1152958711"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TIP</a:t>
            </a:r>
            <a:endParaRPr lang="en-US" sz="1000"/>
          </a:p>
        </p:txBody>
      </p:sp>
      <p:sp>
        <p:nvSpPr>
          <p:cNvPr id="1265257992"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Empieza por el problema, no por la tecnología. Nadie se emociona con "usé Compose y Room".</a:t>
            </a:r>
            <a:endParaRPr lang="en-US" sz="1100"/>
          </a:p>
        </p:txBody>
      </p:sp>
      <p:sp>
        <p:nvSpPr>
          <p:cNvPr id="278252539"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El pitch de mi app</a:t>
            </a:r>
            <a:endParaRPr lang="en-US" sz="2500"/>
          </a:p>
        </p:txBody>
      </p:sp>
      <p:sp>
        <p:nvSpPr>
          <p:cNvPr id="1538618872" name="Text 8"/>
          <p:cNvSpPr txBox="1"/>
          <p:nvPr/>
        </p:nvSpPr>
        <p:spPr bwMode="auto">
          <a:xfrm>
            <a:off x="2880360" y="1051560"/>
            <a:ext cx="8851392" cy="5029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Un buen pitch dura tres minutos, se entiende sin ser programador y cuenta una historia que hace querer usar tu app. Prepara las cuatro partes.</a:t>
            </a:r>
            <a:endParaRPr lang="en-US" sz="1400"/>
          </a:p>
        </p:txBody>
      </p:sp>
      <p:sp>
        <p:nvSpPr>
          <p:cNvPr id="980549768" name="Text 9"/>
          <p:cNvSpPr txBox="1"/>
          <p:nvPr/>
        </p:nvSpPr>
        <p:spPr bwMode="auto">
          <a:xfrm>
            <a:off x="2880360" y="1691640"/>
            <a:ext cx="1371600" cy="292608"/>
          </a:xfrm>
          <a:prstGeom prst="rect">
            <a:avLst/>
          </a:prstGeom>
          <a:noFill/>
          <a:ln/>
        </p:spPr>
        <p:txBody>
          <a:bodyPr wrap="square" lIns="0" tIns="0" rIns="0" bIns="0" rtlCol="0" anchor="ctr"/>
          <a:lstStyle/>
          <a:p>
            <a:pPr marL="0" indent="0">
              <a:buNone/>
              <a:defRPr/>
            </a:pPr>
            <a:r>
              <a:rPr lang="en-US" sz="1500" b="1">
                <a:solidFill>
                  <a:srgbClr val="C5221F"/>
                </a:solidFill>
                <a:latin typeface="Arial"/>
                <a:ea typeface="Arial"/>
                <a:cs typeface="Arial"/>
              </a:rPr>
              <a:t>Por qué</a:t>
            </a:r>
            <a:endParaRPr lang="en-US" sz="1500"/>
          </a:p>
        </p:txBody>
      </p:sp>
      <p:sp>
        <p:nvSpPr>
          <p:cNvPr id="514068403" name="Text 10"/>
          <p:cNvSpPr txBox="1"/>
          <p:nvPr/>
        </p:nvSpPr>
        <p:spPr bwMode="auto">
          <a:xfrm>
            <a:off x="2880360" y="2002536"/>
            <a:ext cx="2011680" cy="64008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El problema que resuelves y por qué importa</a:t>
            </a:r>
            <a:endParaRPr lang="en-US" sz="1050"/>
          </a:p>
        </p:txBody>
      </p:sp>
      <p:sp>
        <p:nvSpPr>
          <p:cNvPr id="1478513059" name="Text 11"/>
          <p:cNvSpPr txBox="1"/>
          <p:nvPr/>
        </p:nvSpPr>
        <p:spPr bwMode="auto">
          <a:xfrm>
            <a:off x="5166360" y="1691640"/>
            <a:ext cx="6565392" cy="12344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713122492" name="Text 12"/>
          <p:cNvSpPr txBox="1"/>
          <p:nvPr/>
        </p:nvSpPr>
        <p:spPr bwMode="auto">
          <a:xfrm>
            <a:off x="2880360" y="3108960"/>
            <a:ext cx="1371600" cy="292608"/>
          </a:xfrm>
          <a:prstGeom prst="rect">
            <a:avLst/>
          </a:prstGeom>
          <a:noFill/>
          <a:ln/>
        </p:spPr>
        <p:txBody>
          <a:bodyPr wrap="square" lIns="0" tIns="0" rIns="0" bIns="0" rtlCol="0" anchor="ctr"/>
          <a:lstStyle/>
          <a:p>
            <a:pPr marL="0" indent="0">
              <a:buNone/>
              <a:defRPr/>
            </a:pPr>
            <a:r>
              <a:rPr lang="en-US" sz="1500" b="1">
                <a:solidFill>
                  <a:srgbClr val="C5221F"/>
                </a:solidFill>
                <a:latin typeface="Arial"/>
                <a:ea typeface="Arial"/>
                <a:cs typeface="Arial"/>
              </a:rPr>
              <a:t>Quién</a:t>
            </a:r>
            <a:endParaRPr lang="en-US" sz="1500"/>
          </a:p>
        </p:txBody>
      </p:sp>
      <p:sp>
        <p:nvSpPr>
          <p:cNvPr id="281410170" name="Text 13"/>
          <p:cNvSpPr txBox="1"/>
          <p:nvPr/>
        </p:nvSpPr>
        <p:spPr bwMode="auto">
          <a:xfrm>
            <a:off x="2880360" y="3419856"/>
            <a:ext cx="2011680" cy="64008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A quién le sirve tu app y en qué momento la usa</a:t>
            </a:r>
            <a:endParaRPr lang="en-US" sz="1050"/>
          </a:p>
        </p:txBody>
      </p:sp>
      <p:sp>
        <p:nvSpPr>
          <p:cNvPr id="229201176" name="Text 14"/>
          <p:cNvSpPr txBox="1"/>
          <p:nvPr/>
        </p:nvSpPr>
        <p:spPr bwMode="auto">
          <a:xfrm>
            <a:off x="5166360" y="3108960"/>
            <a:ext cx="6565392" cy="12344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73813030" name="Text 15"/>
          <p:cNvSpPr txBox="1"/>
          <p:nvPr/>
        </p:nvSpPr>
        <p:spPr bwMode="auto">
          <a:xfrm>
            <a:off x="2880360" y="4526280"/>
            <a:ext cx="1371600" cy="292608"/>
          </a:xfrm>
          <a:prstGeom prst="rect">
            <a:avLst/>
          </a:prstGeom>
          <a:noFill/>
          <a:ln/>
        </p:spPr>
        <p:txBody>
          <a:bodyPr wrap="square" lIns="0" tIns="0" rIns="0" bIns="0" rtlCol="0" anchor="ctr"/>
          <a:lstStyle/>
          <a:p>
            <a:pPr marL="0" indent="0">
              <a:buNone/>
              <a:defRPr/>
            </a:pPr>
            <a:r>
              <a:rPr lang="en-US" sz="1500" b="1">
                <a:solidFill>
                  <a:srgbClr val="C5221F"/>
                </a:solidFill>
                <a:latin typeface="Arial"/>
                <a:ea typeface="Arial"/>
                <a:cs typeface="Arial"/>
              </a:rPr>
              <a:t>Qué</a:t>
            </a:r>
            <a:endParaRPr lang="en-US" sz="1500"/>
          </a:p>
        </p:txBody>
      </p:sp>
      <p:sp>
        <p:nvSpPr>
          <p:cNvPr id="1695133247" name="Text 16"/>
          <p:cNvSpPr txBox="1"/>
          <p:nvPr/>
        </p:nvSpPr>
        <p:spPr bwMode="auto">
          <a:xfrm>
            <a:off x="2880360" y="4837176"/>
            <a:ext cx="2011680" cy="64008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Qué hace tu app, en dos o tres frases</a:t>
            </a:r>
            <a:endParaRPr lang="en-US" sz="1050"/>
          </a:p>
        </p:txBody>
      </p:sp>
      <p:sp>
        <p:nvSpPr>
          <p:cNvPr id="366931736" name="Text 17"/>
          <p:cNvSpPr txBox="1"/>
          <p:nvPr/>
        </p:nvSpPr>
        <p:spPr bwMode="auto">
          <a:xfrm>
            <a:off x="5166360" y="4526280"/>
            <a:ext cx="6565392" cy="12344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934119471" name="Text 18"/>
          <p:cNvSpPr txBox="1"/>
          <p:nvPr/>
        </p:nvSpPr>
        <p:spPr bwMode="auto">
          <a:xfrm>
            <a:off x="2880360" y="5943600"/>
            <a:ext cx="1371600" cy="292608"/>
          </a:xfrm>
          <a:prstGeom prst="rect">
            <a:avLst/>
          </a:prstGeom>
          <a:noFill/>
          <a:ln/>
        </p:spPr>
        <p:txBody>
          <a:bodyPr wrap="square" lIns="0" tIns="0" rIns="0" bIns="0" rtlCol="0" anchor="ctr"/>
          <a:lstStyle/>
          <a:p>
            <a:pPr marL="0" indent="0">
              <a:buNone/>
              <a:defRPr/>
            </a:pPr>
            <a:r>
              <a:rPr lang="en-US" sz="1500" b="1">
                <a:solidFill>
                  <a:srgbClr val="C5221F"/>
                </a:solidFill>
                <a:latin typeface="Arial"/>
                <a:ea typeface="Arial"/>
                <a:cs typeface="Arial"/>
              </a:rPr>
              <a:t>Cómo</a:t>
            </a:r>
            <a:endParaRPr lang="en-US" sz="1500"/>
          </a:p>
        </p:txBody>
      </p:sp>
      <p:sp>
        <p:nvSpPr>
          <p:cNvPr id="714028663" name="Text 19"/>
          <p:cNvSpPr txBox="1"/>
          <p:nvPr/>
        </p:nvSpPr>
        <p:spPr bwMode="auto">
          <a:xfrm>
            <a:off x="2880360" y="6254496"/>
            <a:ext cx="2011680" cy="640080"/>
          </a:xfrm>
          <a:prstGeom prst="rect">
            <a:avLst/>
          </a:prstGeom>
          <a:noFill/>
          <a:ln/>
        </p:spPr>
        <p:txBody>
          <a:bodyPr wrap="square" lIns="0" tIns="0" rIns="0" bIns="0" rtlCol="0" anchor="t"/>
          <a:lstStyle/>
          <a:p>
            <a:pPr marL="0" indent="0">
              <a:lnSpc>
                <a:spcPct val="105000"/>
              </a:lnSpc>
              <a:buNone/>
              <a:defRPr/>
            </a:pPr>
            <a:r>
              <a:rPr lang="en-US" sz="1050">
                <a:solidFill>
                  <a:srgbClr val="5F6368"/>
                </a:solidFill>
                <a:latin typeface="Calibri"/>
                <a:ea typeface="Calibri"/>
                <a:cs typeface="Calibri"/>
              </a:rPr>
              <a:t>La demo: qué vas a mostrar en vivo y en qué orden</a:t>
            </a:r>
            <a:endParaRPr lang="en-US" sz="1050"/>
          </a:p>
        </p:txBody>
      </p:sp>
      <p:sp>
        <p:nvSpPr>
          <p:cNvPr id="408244903" name="Text 20"/>
          <p:cNvSpPr txBox="1"/>
          <p:nvPr/>
        </p:nvSpPr>
        <p:spPr bwMode="auto">
          <a:xfrm>
            <a:off x="5166360" y="5943600"/>
            <a:ext cx="6565392" cy="12344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179660155" name="Text 21"/>
          <p:cNvSpPr txBox="1"/>
          <p:nvPr/>
        </p:nvSpPr>
        <p:spPr bwMode="auto">
          <a:xfrm>
            <a:off x="2880360" y="7360920"/>
            <a:ext cx="8851392" cy="237744"/>
          </a:xfrm>
          <a:prstGeom prst="rect">
            <a:avLst/>
          </a:prstGeom>
          <a:noFill/>
          <a:ln/>
        </p:spPr>
        <p:txBody>
          <a:bodyPr wrap="square" lIns="0" tIns="0" rIns="0" bIns="0" rtlCol="0" anchor="t"/>
          <a:lstStyle/>
          <a:p>
            <a:pPr marL="0" indent="0">
              <a:buNone/>
              <a:defRPr/>
            </a:pPr>
            <a:r>
              <a:rPr lang="en-US" sz="1200" b="1">
                <a:solidFill>
                  <a:srgbClr val="C5221F"/>
                </a:solidFill>
                <a:latin typeface="Arial"/>
                <a:ea typeface="Arial"/>
                <a:cs typeface="Arial"/>
              </a:rPr>
              <a:t>Feedback que recibí sobre mi idea</a:t>
            </a:r>
            <a:endParaRPr lang="en-US" sz="1200"/>
          </a:p>
        </p:txBody>
      </p:sp>
      <p:sp>
        <p:nvSpPr>
          <p:cNvPr id="241489249" name="Text 22"/>
          <p:cNvSpPr txBox="1"/>
          <p:nvPr/>
        </p:nvSpPr>
        <p:spPr bwMode="auto">
          <a:xfrm>
            <a:off x="2880360" y="7635240"/>
            <a:ext cx="8851392" cy="86868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520564813" name="Text 23"/>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20</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1">
    <p:bg>
      <p:bgPr shadeToTitle="0">
        <a:solidFill>
          <a:srgbClr val="FFFFFF"/>
        </a:solidFill>
      </p:bgPr>
    </p:bg>
    <p:spTree>
      <p:nvGrpSpPr>
        <p:cNvPr id="1" name=""/>
        <p:cNvGrpSpPr/>
        <p:nvPr/>
      </p:nvGrpSpPr>
      <p:grpSpPr bwMode="auto">
        <a:xfrm>
          <a:off x="0" y="0"/>
          <a:ext cx="0" cy="0"/>
          <a:chOff x="0" y="0"/>
          <a:chExt cx="0" cy="0"/>
        </a:xfrm>
      </p:grpSpPr>
      <p:sp>
        <p:nvSpPr>
          <p:cNvPr id="1037711496" name="Shape 0"/>
          <p:cNvSpPr/>
          <p:nvPr/>
        </p:nvSpPr>
        <p:spPr bwMode="auto">
          <a:xfrm>
            <a:off x="0" y="0"/>
            <a:ext cx="2514600" cy="9144000"/>
          </a:xfrm>
          <a:prstGeom prst="rect">
            <a:avLst/>
          </a:prstGeom>
          <a:solidFill>
            <a:srgbClr val="C5221F"/>
          </a:solidFill>
          <a:ln/>
        </p:spPr>
      </p:sp>
      <p:sp>
        <p:nvSpPr>
          <p:cNvPr id="1978238194"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4</a:t>
            </a:r>
            <a:endParaRPr lang="en-US" sz="1100"/>
          </a:p>
        </p:txBody>
      </p:sp>
      <p:sp>
        <p:nvSpPr>
          <p:cNvPr id="1778772118"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Evalúa</a:t>
            </a:r>
            <a:endParaRPr lang="en-US" sz="2600"/>
          </a:p>
        </p:txBody>
      </p:sp>
      <p:sp>
        <p:nvSpPr>
          <p:cNvPr id="1703667024"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F7CFCD"/>
                </a:solidFill>
                <a:latin typeface="Calibri"/>
                <a:ea typeface="Calibri"/>
                <a:cs typeface="Calibri"/>
              </a:rPr>
              <a:t>Pitch</a:t>
            </a:r>
            <a:endParaRPr lang="en-US" sz="1300"/>
          </a:p>
          <a:p>
            <a:pPr marL="0" indent="0">
              <a:spcAft>
                <a:spcPts val="800"/>
              </a:spcAft>
              <a:buNone/>
              <a:defRPr/>
            </a:pPr>
            <a:r>
              <a:rPr lang="en-US" sz="1300" b="1">
                <a:solidFill>
                  <a:srgbClr val="FFFFFF"/>
                </a:solidFill>
                <a:latin typeface="Calibri"/>
                <a:ea typeface="Calibri"/>
                <a:cs typeface="Calibri"/>
              </a:rPr>
              <a:t>Prueba con usuarios</a:t>
            </a:r>
            <a:endParaRPr lang="en-US" sz="1300"/>
          </a:p>
          <a:p>
            <a:pPr marL="0" indent="0">
              <a:spcAft>
                <a:spcPts val="800"/>
              </a:spcAft>
              <a:buNone/>
              <a:defRPr/>
            </a:pPr>
            <a:r>
              <a:rPr lang="en-US" sz="1300">
                <a:solidFill>
                  <a:srgbClr val="F7CFCD"/>
                </a:solidFill>
                <a:latin typeface="Calibri"/>
                <a:ea typeface="Calibri"/>
                <a:cs typeface="Calibri"/>
              </a:rPr>
              <a:t>Observación</a:t>
            </a:r>
            <a:endParaRPr lang="en-US" sz="1300"/>
          </a:p>
          <a:p>
            <a:pPr marL="0" indent="0">
              <a:spcAft>
                <a:spcPts val="800"/>
              </a:spcAft>
              <a:buNone/>
              <a:defRPr/>
            </a:pPr>
            <a:r>
              <a:rPr lang="en-US" sz="1300">
                <a:solidFill>
                  <a:srgbClr val="F7CFCD"/>
                </a:solidFill>
                <a:latin typeface="Calibri"/>
                <a:ea typeface="Calibri"/>
                <a:cs typeface="Calibri"/>
              </a:rPr>
              <a:t>Iteración</a:t>
            </a:r>
            <a:endParaRPr lang="en-US" sz="1300"/>
          </a:p>
        </p:txBody>
      </p:sp>
      <p:sp>
        <p:nvSpPr>
          <p:cNvPr id="216378274" name="Shape 4"/>
          <p:cNvSpPr/>
          <p:nvPr/>
        </p:nvSpPr>
        <p:spPr bwMode="auto">
          <a:xfrm>
            <a:off x="320040" y="7269480"/>
            <a:ext cx="1005840" cy="0"/>
          </a:xfrm>
          <a:prstGeom prst="line">
            <a:avLst/>
          </a:prstGeom>
          <a:noFill/>
          <a:ln w="19050">
            <a:solidFill>
              <a:srgbClr val="FFFFFF"/>
            </a:solidFill>
            <a:prstDash val="solid"/>
          </a:ln>
        </p:spPr>
      </p:sp>
      <p:sp>
        <p:nvSpPr>
          <p:cNvPr id="810064180"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REGLA DE ORO</a:t>
            </a:r>
            <a:endParaRPr lang="en-US" sz="1000"/>
          </a:p>
        </p:txBody>
      </p:sp>
      <p:sp>
        <p:nvSpPr>
          <p:cNvPr id="1868760268"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No ayudes ni expliques mientras la persona prueba. Si te pregunta algo, devuélvele la pregunta: "¿qué harías tú?".</a:t>
            </a:r>
            <a:endParaRPr lang="en-US" sz="1100"/>
          </a:p>
        </p:txBody>
      </p:sp>
      <p:sp>
        <p:nvSpPr>
          <p:cNvPr id="1382588076"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Prepara la prueba de tu prototipo</a:t>
            </a:r>
            <a:endParaRPr lang="en-US" sz="2500"/>
          </a:p>
        </p:txBody>
      </p:sp>
      <p:sp>
        <p:nvSpPr>
          <p:cNvPr id="1320282591" name="Text 8"/>
          <p:cNvSpPr txBox="1"/>
          <p:nvPr/>
        </p:nvSpPr>
        <p:spPr bwMode="auto">
          <a:xfrm>
            <a:off x="2880360" y="1051560"/>
            <a:ext cx="8851392" cy="50292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Probar no es mostrar. Le vas a dar una tarea a alguien y vas a callarte a mirar. Planifica la prueba antes de tener a la persona al frente.</a:t>
            </a:r>
            <a:endParaRPr lang="en-US" sz="1400"/>
          </a:p>
        </p:txBody>
      </p:sp>
      <p:sp>
        <p:nvSpPr>
          <p:cNvPr id="1613089294" name="Text 9"/>
          <p:cNvSpPr txBox="1"/>
          <p:nvPr/>
        </p:nvSpPr>
        <p:spPr bwMode="auto">
          <a:xfrm>
            <a:off x="2880360" y="1691640"/>
            <a:ext cx="8851392" cy="237744"/>
          </a:xfrm>
          <a:prstGeom prst="rect">
            <a:avLst/>
          </a:prstGeom>
          <a:noFill/>
          <a:ln/>
        </p:spPr>
        <p:txBody>
          <a:bodyPr wrap="square" lIns="0" tIns="0" rIns="0" bIns="0" rtlCol="0" anchor="t"/>
          <a:lstStyle/>
          <a:p>
            <a:pPr marL="0" indent="0">
              <a:buNone/>
              <a:defRPr/>
            </a:pPr>
            <a:r>
              <a:rPr lang="en-US" sz="1200" b="1">
                <a:solidFill>
                  <a:srgbClr val="C5221F"/>
                </a:solidFill>
                <a:latin typeface="Arial"/>
                <a:ea typeface="Arial"/>
                <a:cs typeface="Arial"/>
              </a:rPr>
              <a:t>La tarea que le pediré (concreta y sin decirle qué botón tocar)</a:t>
            </a:r>
            <a:endParaRPr lang="en-US" sz="1200"/>
          </a:p>
        </p:txBody>
      </p:sp>
      <p:sp>
        <p:nvSpPr>
          <p:cNvPr id="571566920" name="Text 10"/>
          <p:cNvSpPr txBox="1"/>
          <p:nvPr/>
        </p:nvSpPr>
        <p:spPr bwMode="auto">
          <a:xfrm>
            <a:off x="2880360" y="1965960"/>
            <a:ext cx="8851392" cy="105156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210042412" name="Text 11"/>
          <p:cNvSpPr txBox="1"/>
          <p:nvPr/>
        </p:nvSpPr>
        <p:spPr bwMode="auto">
          <a:xfrm>
            <a:off x="2953512" y="2724911"/>
            <a:ext cx="8705088" cy="228600"/>
          </a:xfrm>
          <a:prstGeom prst="rect">
            <a:avLst/>
          </a:prstGeom>
          <a:noFill/>
          <a:ln/>
        </p:spPr>
        <p:txBody>
          <a:bodyPr wrap="square" lIns="0" tIns="0" rIns="0" bIns="0" rtlCol="0" anchor="ctr"/>
          <a:lstStyle/>
          <a:p>
            <a:pPr marL="0" indent="0" algn="r">
              <a:buNone/>
              <a:defRPr/>
            </a:pPr>
            <a:r>
              <a:rPr lang="en-US" sz="950" i="1">
                <a:solidFill>
                  <a:srgbClr val="5F6368"/>
                </a:solidFill>
                <a:latin typeface="Calibri"/>
                <a:ea typeface="Calibri"/>
                <a:cs typeface="Calibri"/>
              </a:rPr>
              <a:t>ej. "reporta el bache de la esquina de tu casa"</a:t>
            </a:r>
            <a:endParaRPr lang="en-US" sz="950"/>
          </a:p>
        </p:txBody>
      </p:sp>
      <p:sp>
        <p:nvSpPr>
          <p:cNvPr id="130372554" name="Text 12"/>
          <p:cNvSpPr txBox="1"/>
          <p:nvPr/>
        </p:nvSpPr>
        <p:spPr bwMode="auto">
          <a:xfrm>
            <a:off x="2880360" y="3200400"/>
            <a:ext cx="8851392" cy="237744"/>
          </a:xfrm>
          <a:prstGeom prst="rect">
            <a:avLst/>
          </a:prstGeom>
          <a:noFill/>
          <a:ln/>
        </p:spPr>
        <p:txBody>
          <a:bodyPr wrap="square" lIns="0" tIns="0" rIns="0" bIns="0" rtlCol="0" anchor="t"/>
          <a:lstStyle/>
          <a:p>
            <a:pPr marL="0" indent="0">
              <a:buNone/>
              <a:defRPr/>
            </a:pPr>
            <a:r>
              <a:rPr lang="en-US" sz="1200" b="1">
                <a:solidFill>
                  <a:srgbClr val="C5221F"/>
                </a:solidFill>
                <a:latin typeface="Arial"/>
                <a:ea typeface="Arial"/>
                <a:cs typeface="Arial"/>
              </a:rPr>
              <a:t>Guion breve para presentar la prueba</a:t>
            </a:r>
            <a:endParaRPr lang="en-US" sz="1200"/>
          </a:p>
        </p:txBody>
      </p:sp>
      <p:sp>
        <p:nvSpPr>
          <p:cNvPr id="403036651" name="Text 13"/>
          <p:cNvSpPr txBox="1"/>
          <p:nvPr/>
        </p:nvSpPr>
        <p:spPr bwMode="auto">
          <a:xfrm>
            <a:off x="2880360" y="3474720"/>
            <a:ext cx="8851392" cy="141732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687988957" name="Text 14"/>
          <p:cNvSpPr txBox="1"/>
          <p:nvPr/>
        </p:nvSpPr>
        <p:spPr bwMode="auto">
          <a:xfrm>
            <a:off x="2880360" y="5074920"/>
            <a:ext cx="8851392" cy="237744"/>
          </a:xfrm>
          <a:prstGeom prst="rect">
            <a:avLst/>
          </a:prstGeom>
          <a:noFill/>
          <a:ln/>
        </p:spPr>
        <p:txBody>
          <a:bodyPr wrap="square" lIns="0" tIns="0" rIns="0" bIns="0" rtlCol="0" anchor="t"/>
          <a:lstStyle/>
          <a:p>
            <a:pPr marL="0" indent="0">
              <a:buNone/>
              <a:defRPr/>
            </a:pPr>
            <a:r>
              <a:rPr lang="en-US" sz="1200" b="1">
                <a:solidFill>
                  <a:srgbClr val="C5221F"/>
                </a:solidFill>
                <a:latin typeface="Arial"/>
                <a:ea typeface="Arial"/>
                <a:cs typeface="Arial"/>
              </a:rPr>
              <a:t>¿Qué quiero descubrir con esta prueba? Escribe dos preguntas.</a:t>
            </a:r>
            <a:endParaRPr lang="en-US" sz="1200"/>
          </a:p>
        </p:txBody>
      </p:sp>
      <p:sp>
        <p:nvSpPr>
          <p:cNvPr id="1105754393" name="Text 15"/>
          <p:cNvSpPr txBox="1"/>
          <p:nvPr/>
        </p:nvSpPr>
        <p:spPr bwMode="auto">
          <a:xfrm>
            <a:off x="2880360" y="5349240"/>
            <a:ext cx="8851392" cy="114300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026138597" name="Text 16"/>
          <p:cNvSpPr txBox="1"/>
          <p:nvPr/>
        </p:nvSpPr>
        <p:spPr bwMode="auto">
          <a:xfrm>
            <a:off x="2880360" y="6675120"/>
            <a:ext cx="2743200" cy="237744"/>
          </a:xfrm>
          <a:prstGeom prst="rect">
            <a:avLst/>
          </a:prstGeom>
          <a:noFill/>
          <a:ln/>
        </p:spPr>
        <p:txBody>
          <a:bodyPr wrap="square" lIns="0" tIns="0" rIns="0" bIns="0" rtlCol="0" anchor="t"/>
          <a:lstStyle/>
          <a:p>
            <a:pPr marL="0" indent="0">
              <a:buNone/>
              <a:defRPr/>
            </a:pPr>
            <a:r>
              <a:rPr lang="en-US" sz="1100" b="1">
                <a:solidFill>
                  <a:srgbClr val="C5221F"/>
                </a:solidFill>
                <a:latin typeface="Arial"/>
                <a:ea typeface="Arial"/>
                <a:cs typeface="Arial"/>
              </a:rPr>
              <a:t>¿Cuántas personas probarán?</a:t>
            </a:r>
            <a:endParaRPr lang="en-US" sz="1100"/>
          </a:p>
        </p:txBody>
      </p:sp>
      <p:sp>
        <p:nvSpPr>
          <p:cNvPr id="2044694454" name="Text 17"/>
          <p:cNvSpPr txBox="1"/>
          <p:nvPr/>
        </p:nvSpPr>
        <p:spPr bwMode="auto">
          <a:xfrm>
            <a:off x="2880360" y="6949440"/>
            <a:ext cx="2743200" cy="155448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475899366" name="Text 18"/>
          <p:cNvSpPr txBox="1"/>
          <p:nvPr/>
        </p:nvSpPr>
        <p:spPr bwMode="auto">
          <a:xfrm>
            <a:off x="5852160" y="6675120"/>
            <a:ext cx="2743200" cy="237744"/>
          </a:xfrm>
          <a:prstGeom prst="rect">
            <a:avLst/>
          </a:prstGeom>
          <a:noFill/>
          <a:ln/>
        </p:spPr>
        <p:txBody>
          <a:bodyPr wrap="square" lIns="0" tIns="0" rIns="0" bIns="0" rtlCol="0" anchor="t"/>
          <a:lstStyle/>
          <a:p>
            <a:pPr marL="0" indent="0">
              <a:buNone/>
              <a:defRPr/>
            </a:pPr>
            <a:r>
              <a:rPr lang="en-US" sz="1100" b="1">
                <a:solidFill>
                  <a:srgbClr val="C5221F"/>
                </a:solidFill>
                <a:latin typeface="Arial"/>
                <a:ea typeface="Arial"/>
                <a:cs typeface="Arial"/>
              </a:rPr>
              <a:t>¿Cómo consigo un grupo diverso?</a:t>
            </a:r>
            <a:endParaRPr lang="en-US" sz="1100"/>
          </a:p>
        </p:txBody>
      </p:sp>
      <p:sp>
        <p:nvSpPr>
          <p:cNvPr id="398344849" name="Text 19"/>
          <p:cNvSpPr txBox="1"/>
          <p:nvPr/>
        </p:nvSpPr>
        <p:spPr bwMode="auto">
          <a:xfrm>
            <a:off x="5852160" y="6949440"/>
            <a:ext cx="2743200" cy="155448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439708600" name="Text 20"/>
          <p:cNvSpPr txBox="1"/>
          <p:nvPr/>
        </p:nvSpPr>
        <p:spPr bwMode="auto">
          <a:xfrm>
            <a:off x="8823960" y="6675120"/>
            <a:ext cx="2907792" cy="237744"/>
          </a:xfrm>
          <a:prstGeom prst="rect">
            <a:avLst/>
          </a:prstGeom>
          <a:noFill/>
          <a:ln/>
        </p:spPr>
        <p:txBody>
          <a:bodyPr wrap="square" lIns="0" tIns="0" rIns="0" bIns="0" rtlCol="0" anchor="t"/>
          <a:lstStyle/>
          <a:p>
            <a:pPr marL="0" indent="0">
              <a:buNone/>
              <a:defRPr/>
            </a:pPr>
            <a:r>
              <a:rPr lang="en-US" sz="1100" b="1">
                <a:solidFill>
                  <a:srgbClr val="C5221F"/>
                </a:solidFill>
                <a:latin typeface="Arial"/>
                <a:ea typeface="Arial"/>
                <a:cs typeface="Arial"/>
              </a:rPr>
              <a:t>¿Cómo registraré lo que pase?</a:t>
            </a:r>
            <a:endParaRPr lang="en-US" sz="1100"/>
          </a:p>
        </p:txBody>
      </p:sp>
      <p:sp>
        <p:nvSpPr>
          <p:cNvPr id="342072554" name="Text 21"/>
          <p:cNvSpPr txBox="1"/>
          <p:nvPr/>
        </p:nvSpPr>
        <p:spPr bwMode="auto">
          <a:xfrm>
            <a:off x="8823960" y="6949440"/>
            <a:ext cx="2907792" cy="155448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292771203" name="Text 22"/>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21</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2">
    <p:bg>
      <p:bgPr shadeToTitle="0">
        <a:solidFill>
          <a:srgbClr val="FFFFFF"/>
        </a:solidFill>
      </p:bgPr>
    </p:bg>
    <p:spTree>
      <p:nvGrpSpPr>
        <p:cNvPr id="1" name=""/>
        <p:cNvGrpSpPr/>
        <p:nvPr/>
      </p:nvGrpSpPr>
      <p:grpSpPr bwMode="auto">
        <a:xfrm>
          <a:off x="0" y="0"/>
          <a:ext cx="0" cy="0"/>
          <a:chOff x="0" y="0"/>
          <a:chExt cx="0" cy="0"/>
        </a:xfrm>
      </p:grpSpPr>
      <p:sp>
        <p:nvSpPr>
          <p:cNvPr id="2037849180" name="Shape 0"/>
          <p:cNvSpPr/>
          <p:nvPr/>
        </p:nvSpPr>
        <p:spPr bwMode="auto">
          <a:xfrm>
            <a:off x="0" y="0"/>
            <a:ext cx="2514600" cy="9144000"/>
          </a:xfrm>
          <a:prstGeom prst="rect">
            <a:avLst/>
          </a:prstGeom>
          <a:solidFill>
            <a:srgbClr val="C5221F"/>
          </a:solidFill>
          <a:ln/>
        </p:spPr>
      </p:sp>
      <p:sp>
        <p:nvSpPr>
          <p:cNvPr id="2100824919" name="Text 1"/>
          <p:cNvSpPr txBox="1"/>
          <p:nvPr/>
        </p:nvSpPr>
        <p:spPr bwMode="auto">
          <a:xfrm>
            <a:off x="320040" y="411480"/>
            <a:ext cx="2011680" cy="274320"/>
          </a:xfrm>
          <a:prstGeom prst="rect">
            <a:avLst/>
          </a:prstGeom>
          <a:noFill/>
          <a:ln/>
        </p:spPr>
        <p:txBody>
          <a:bodyPr wrap="square" lIns="0" tIns="0" rIns="0" bIns="0" rtlCol="0" anchor="ctr"/>
          <a:lstStyle/>
          <a:p>
            <a:pPr marL="0" indent="0">
              <a:buNone/>
              <a:defRPr/>
            </a:pPr>
            <a:r>
              <a:rPr lang="en-US" sz="1100" b="1" spc="200">
                <a:solidFill>
                  <a:srgbClr val="FFFFFF"/>
                </a:solidFill>
                <a:latin typeface="Arial"/>
                <a:ea typeface="Arial"/>
                <a:cs typeface="Arial"/>
              </a:rPr>
              <a:t>FASE 4</a:t>
            </a:r>
            <a:endParaRPr lang="en-US" sz="1100"/>
          </a:p>
        </p:txBody>
      </p:sp>
      <p:sp>
        <p:nvSpPr>
          <p:cNvPr id="1207016784" name="Text 2"/>
          <p:cNvSpPr txBox="1"/>
          <p:nvPr/>
        </p:nvSpPr>
        <p:spPr bwMode="auto">
          <a:xfrm>
            <a:off x="320040" y="685800"/>
            <a:ext cx="2103120" cy="502920"/>
          </a:xfrm>
          <a:prstGeom prst="rect">
            <a:avLst/>
          </a:prstGeom>
          <a:noFill/>
          <a:ln/>
        </p:spPr>
        <p:txBody>
          <a:bodyPr wrap="square" lIns="0" tIns="0" rIns="0" bIns="0" rtlCol="0" anchor="ctr"/>
          <a:lstStyle/>
          <a:p>
            <a:pPr marL="0" indent="0">
              <a:buNone/>
              <a:defRPr/>
            </a:pPr>
            <a:r>
              <a:rPr lang="en-US" sz="2600" b="1">
                <a:solidFill>
                  <a:srgbClr val="FFFFFF"/>
                </a:solidFill>
                <a:latin typeface="Arial"/>
                <a:ea typeface="Arial"/>
                <a:cs typeface="Arial"/>
              </a:rPr>
              <a:t>Evalúa</a:t>
            </a:r>
            <a:endParaRPr lang="en-US" sz="2600"/>
          </a:p>
        </p:txBody>
      </p:sp>
      <p:sp>
        <p:nvSpPr>
          <p:cNvPr id="921574931" name="Text 3"/>
          <p:cNvSpPr txBox="1"/>
          <p:nvPr/>
        </p:nvSpPr>
        <p:spPr bwMode="auto">
          <a:xfrm>
            <a:off x="320040" y="1417320"/>
            <a:ext cx="2011680" cy="2011680"/>
          </a:xfrm>
          <a:prstGeom prst="rect">
            <a:avLst/>
          </a:prstGeom>
          <a:noFill/>
          <a:ln/>
        </p:spPr>
        <p:txBody>
          <a:bodyPr wrap="square" lIns="0" tIns="0" rIns="0" bIns="0" rtlCol="0" anchor="t"/>
          <a:lstStyle/>
          <a:p>
            <a:pPr marL="0" indent="0">
              <a:spcAft>
                <a:spcPts val="800"/>
              </a:spcAft>
              <a:buNone/>
              <a:defRPr/>
            </a:pPr>
            <a:r>
              <a:rPr lang="en-US" sz="1300">
                <a:solidFill>
                  <a:srgbClr val="F7CFCD"/>
                </a:solidFill>
                <a:latin typeface="Calibri"/>
                <a:ea typeface="Calibri"/>
                <a:cs typeface="Calibri"/>
              </a:rPr>
              <a:t>Pitch</a:t>
            </a:r>
            <a:endParaRPr lang="en-US" sz="1300"/>
          </a:p>
          <a:p>
            <a:pPr marL="0" indent="0">
              <a:spcAft>
                <a:spcPts val="800"/>
              </a:spcAft>
              <a:buNone/>
              <a:defRPr/>
            </a:pPr>
            <a:r>
              <a:rPr lang="en-US" sz="1300">
                <a:solidFill>
                  <a:srgbClr val="F7CFCD"/>
                </a:solidFill>
                <a:latin typeface="Calibri"/>
                <a:ea typeface="Calibri"/>
                <a:cs typeface="Calibri"/>
              </a:rPr>
              <a:t>Prueba con usuarios</a:t>
            </a:r>
            <a:endParaRPr lang="en-US" sz="1300"/>
          </a:p>
          <a:p>
            <a:pPr marL="0" indent="0">
              <a:spcAft>
                <a:spcPts val="800"/>
              </a:spcAft>
              <a:buNone/>
              <a:defRPr/>
            </a:pPr>
            <a:r>
              <a:rPr lang="en-US" sz="1300" b="1">
                <a:solidFill>
                  <a:srgbClr val="FFFFFF"/>
                </a:solidFill>
                <a:latin typeface="Calibri"/>
                <a:ea typeface="Calibri"/>
                <a:cs typeface="Calibri"/>
              </a:rPr>
              <a:t>Observación</a:t>
            </a:r>
            <a:endParaRPr lang="en-US" sz="1300"/>
          </a:p>
          <a:p>
            <a:pPr marL="0" indent="0">
              <a:spcAft>
                <a:spcPts val="800"/>
              </a:spcAft>
              <a:buNone/>
              <a:defRPr/>
            </a:pPr>
            <a:r>
              <a:rPr lang="en-US" sz="1300">
                <a:solidFill>
                  <a:srgbClr val="F7CFCD"/>
                </a:solidFill>
                <a:latin typeface="Calibri"/>
                <a:ea typeface="Calibri"/>
                <a:cs typeface="Calibri"/>
              </a:rPr>
              <a:t>Iteración</a:t>
            </a:r>
            <a:endParaRPr lang="en-US" sz="1300"/>
          </a:p>
        </p:txBody>
      </p:sp>
      <p:sp>
        <p:nvSpPr>
          <p:cNvPr id="2056525086" name="Shape 4"/>
          <p:cNvSpPr/>
          <p:nvPr/>
        </p:nvSpPr>
        <p:spPr bwMode="auto">
          <a:xfrm>
            <a:off x="320040" y="7269480"/>
            <a:ext cx="1005840" cy="0"/>
          </a:xfrm>
          <a:prstGeom prst="line">
            <a:avLst/>
          </a:prstGeom>
          <a:noFill/>
          <a:ln w="19050">
            <a:solidFill>
              <a:srgbClr val="FFFFFF"/>
            </a:solidFill>
            <a:prstDash val="solid"/>
          </a:ln>
        </p:spPr>
      </p:sp>
      <p:sp>
        <p:nvSpPr>
          <p:cNvPr id="1583396536" name="Text 5"/>
          <p:cNvSpPr txBox="1"/>
          <p:nvPr/>
        </p:nvSpPr>
        <p:spPr bwMode="auto">
          <a:xfrm>
            <a:off x="320040" y="7452360"/>
            <a:ext cx="2011680" cy="228600"/>
          </a:xfrm>
          <a:prstGeom prst="rect">
            <a:avLst/>
          </a:prstGeom>
          <a:noFill/>
          <a:ln/>
        </p:spPr>
        <p:txBody>
          <a:bodyPr wrap="square" lIns="0" tIns="0" rIns="0" bIns="0" rtlCol="0" anchor="ctr"/>
          <a:lstStyle/>
          <a:p>
            <a:pPr marL="0" indent="0">
              <a:buNone/>
              <a:defRPr/>
            </a:pPr>
            <a:r>
              <a:rPr lang="en-US" sz="1000" b="1" spc="150">
                <a:solidFill>
                  <a:srgbClr val="FFFFFF"/>
                </a:solidFill>
                <a:latin typeface="Arial"/>
                <a:ea typeface="Arial"/>
                <a:cs typeface="Arial"/>
              </a:rPr>
              <a:t>ANOTA LITERAL</a:t>
            </a:r>
            <a:endParaRPr lang="en-US" sz="1000"/>
          </a:p>
        </p:txBody>
      </p:sp>
      <p:sp>
        <p:nvSpPr>
          <p:cNvPr id="668568617" name="Text 6"/>
          <p:cNvSpPr txBox="1"/>
          <p:nvPr/>
        </p:nvSpPr>
        <p:spPr bwMode="auto">
          <a:xfrm>
            <a:off x="320040" y="7726680"/>
            <a:ext cx="1965960" cy="1005840"/>
          </a:xfrm>
          <a:prstGeom prst="rect">
            <a:avLst/>
          </a:prstGeom>
          <a:noFill/>
          <a:ln/>
        </p:spPr>
        <p:txBody>
          <a:bodyPr wrap="square" lIns="0" tIns="0" rIns="0" bIns="0" rtlCol="0" anchor="t"/>
          <a:lstStyle/>
          <a:p>
            <a:pPr marL="0" indent="0">
              <a:lnSpc>
                <a:spcPct val="110000"/>
              </a:lnSpc>
              <a:buNone/>
              <a:defRPr/>
            </a:pPr>
            <a:r>
              <a:rPr lang="en-US" sz="1100">
                <a:solidFill>
                  <a:srgbClr val="FFFFFF"/>
                </a:solidFill>
                <a:latin typeface="Calibri"/>
                <a:ea typeface="Calibri"/>
                <a:cs typeface="Calibri"/>
              </a:rPr>
              <a:t>Escribe lo que la persona dijo con sus palabras, no tu interpretación. Duplica esta página por cada usuario.</a:t>
            </a:r>
            <a:endParaRPr lang="en-US" sz="1100"/>
          </a:p>
        </p:txBody>
      </p:sp>
      <p:sp>
        <p:nvSpPr>
          <p:cNvPr id="1217756633" name="Text 7"/>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Observación de una persona usando mi app</a:t>
            </a:r>
            <a:endParaRPr lang="en-US" sz="2500"/>
          </a:p>
        </p:txBody>
      </p:sp>
      <p:sp>
        <p:nvSpPr>
          <p:cNvPr id="721178227" name="Text 8"/>
          <p:cNvSpPr txBox="1"/>
          <p:nvPr/>
        </p:nvSpPr>
        <p:spPr bwMode="auto">
          <a:xfrm>
            <a:off x="2880360" y="1051560"/>
            <a:ext cx="8851392" cy="4572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Completa una página por cada persona que pruebe tu prototipo. Describe qué hizo, no qué querías que hiciera.</a:t>
            </a:r>
            <a:endParaRPr lang="en-US" sz="1400"/>
          </a:p>
        </p:txBody>
      </p:sp>
      <p:sp>
        <p:nvSpPr>
          <p:cNvPr id="546088637" name="Text 9"/>
          <p:cNvSpPr txBox="1"/>
          <p:nvPr/>
        </p:nvSpPr>
        <p:spPr bwMode="auto">
          <a:xfrm>
            <a:off x="2880360" y="1600200"/>
            <a:ext cx="4297680" cy="237744"/>
          </a:xfrm>
          <a:prstGeom prst="rect">
            <a:avLst/>
          </a:prstGeom>
          <a:noFill/>
          <a:ln/>
        </p:spPr>
        <p:txBody>
          <a:bodyPr wrap="square" lIns="0" tIns="0" rIns="0" bIns="0" rtlCol="0" anchor="t"/>
          <a:lstStyle/>
          <a:p>
            <a:pPr marL="0" indent="0">
              <a:buNone/>
              <a:defRPr/>
            </a:pPr>
            <a:r>
              <a:rPr lang="en-US" sz="1100" b="1">
                <a:solidFill>
                  <a:srgbClr val="C5221F"/>
                </a:solidFill>
                <a:latin typeface="Arial"/>
                <a:ea typeface="Arial"/>
                <a:cs typeface="Arial"/>
              </a:rPr>
              <a:t>Quién probó (perfil, no nombre)</a:t>
            </a:r>
            <a:endParaRPr lang="en-US" sz="1100"/>
          </a:p>
        </p:txBody>
      </p:sp>
      <p:sp>
        <p:nvSpPr>
          <p:cNvPr id="1912465497" name="Text 10"/>
          <p:cNvSpPr txBox="1"/>
          <p:nvPr/>
        </p:nvSpPr>
        <p:spPr bwMode="auto">
          <a:xfrm>
            <a:off x="2880360" y="1874520"/>
            <a:ext cx="4297680" cy="45720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2007043721" name="Text 11"/>
          <p:cNvSpPr txBox="1"/>
          <p:nvPr/>
        </p:nvSpPr>
        <p:spPr bwMode="auto">
          <a:xfrm>
            <a:off x="7616952" y="1600200"/>
            <a:ext cx="4114800" cy="237744"/>
          </a:xfrm>
          <a:prstGeom prst="rect">
            <a:avLst/>
          </a:prstGeom>
          <a:noFill/>
          <a:ln/>
        </p:spPr>
        <p:txBody>
          <a:bodyPr wrap="square" lIns="0" tIns="0" rIns="0" bIns="0" rtlCol="0" anchor="t"/>
          <a:lstStyle/>
          <a:p>
            <a:pPr marL="0" indent="0">
              <a:buNone/>
              <a:defRPr/>
            </a:pPr>
            <a:r>
              <a:rPr lang="en-US" sz="1100" b="1">
                <a:solidFill>
                  <a:srgbClr val="C5221F"/>
                </a:solidFill>
                <a:latin typeface="Arial"/>
                <a:ea typeface="Arial"/>
                <a:cs typeface="Arial"/>
              </a:rPr>
              <a:t>Fecha y dispositivo</a:t>
            </a:r>
            <a:endParaRPr lang="en-US" sz="1100"/>
          </a:p>
        </p:txBody>
      </p:sp>
      <p:sp>
        <p:nvSpPr>
          <p:cNvPr id="1535110771" name="Text 12"/>
          <p:cNvSpPr txBox="1"/>
          <p:nvPr/>
        </p:nvSpPr>
        <p:spPr bwMode="auto">
          <a:xfrm>
            <a:off x="7616952" y="1874520"/>
            <a:ext cx="4114800" cy="45720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225342459" name="Text 13"/>
          <p:cNvSpPr txBox="1"/>
          <p:nvPr/>
        </p:nvSpPr>
        <p:spPr bwMode="auto">
          <a:xfrm>
            <a:off x="2880360" y="2697480"/>
            <a:ext cx="8851392" cy="256032"/>
          </a:xfrm>
          <a:prstGeom prst="rect">
            <a:avLst/>
          </a:prstGeom>
          <a:noFill/>
          <a:ln/>
        </p:spPr>
        <p:txBody>
          <a:bodyPr wrap="square" lIns="0" tIns="0" rIns="0" bIns="0" rtlCol="0" anchor="ctr"/>
          <a:lstStyle/>
          <a:p>
            <a:pPr marL="0" indent="0">
              <a:buNone/>
              <a:defRPr/>
            </a:pPr>
            <a:r>
              <a:rPr lang="en-US" sz="1250" b="1">
                <a:solidFill>
                  <a:srgbClr val="202124"/>
                </a:solidFill>
                <a:latin typeface="Calibri"/>
                <a:ea typeface="Calibri"/>
                <a:cs typeface="Calibri"/>
              </a:rPr>
              <a:t>¿Supo qué hacer al abrir la app? ¿Cuánto tardó en entenderla?</a:t>
            </a:r>
            <a:endParaRPr lang="en-US" sz="1250"/>
          </a:p>
        </p:txBody>
      </p:sp>
      <p:sp>
        <p:nvSpPr>
          <p:cNvPr id="1343022799" name="Text 14"/>
          <p:cNvSpPr txBox="1"/>
          <p:nvPr/>
        </p:nvSpPr>
        <p:spPr bwMode="auto">
          <a:xfrm>
            <a:off x="2880360" y="2990088"/>
            <a:ext cx="8851392" cy="7772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017117541" name="Text 15"/>
          <p:cNvSpPr txBox="1"/>
          <p:nvPr/>
        </p:nvSpPr>
        <p:spPr bwMode="auto">
          <a:xfrm>
            <a:off x="2880360" y="3867911"/>
            <a:ext cx="8851392" cy="256032"/>
          </a:xfrm>
          <a:prstGeom prst="rect">
            <a:avLst/>
          </a:prstGeom>
          <a:noFill/>
          <a:ln/>
        </p:spPr>
        <p:txBody>
          <a:bodyPr wrap="square" lIns="0" tIns="0" rIns="0" bIns="0" rtlCol="0" anchor="ctr"/>
          <a:lstStyle/>
          <a:p>
            <a:pPr marL="0" indent="0">
              <a:buNone/>
              <a:defRPr/>
            </a:pPr>
            <a:r>
              <a:rPr lang="en-US" sz="1250" b="1">
                <a:solidFill>
                  <a:srgbClr val="202124"/>
                </a:solidFill>
                <a:latin typeface="Calibri"/>
                <a:ea typeface="Calibri"/>
                <a:cs typeface="Calibri"/>
              </a:rPr>
              <a:t>¿En qué momento exacto se confundió o se detuvo?</a:t>
            </a:r>
            <a:endParaRPr lang="en-US" sz="1250"/>
          </a:p>
        </p:txBody>
      </p:sp>
      <p:sp>
        <p:nvSpPr>
          <p:cNvPr id="207955751" name="Text 16"/>
          <p:cNvSpPr txBox="1"/>
          <p:nvPr/>
        </p:nvSpPr>
        <p:spPr bwMode="auto">
          <a:xfrm>
            <a:off x="2880360" y="4160519"/>
            <a:ext cx="8851392" cy="7772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310252963" name="Text 17"/>
          <p:cNvSpPr txBox="1"/>
          <p:nvPr/>
        </p:nvSpPr>
        <p:spPr bwMode="auto">
          <a:xfrm>
            <a:off x="2880360" y="5038344"/>
            <a:ext cx="8851392" cy="256032"/>
          </a:xfrm>
          <a:prstGeom prst="rect">
            <a:avLst/>
          </a:prstGeom>
          <a:noFill/>
          <a:ln/>
        </p:spPr>
        <p:txBody>
          <a:bodyPr wrap="square" lIns="0" tIns="0" rIns="0" bIns="0" rtlCol="0" anchor="ctr"/>
          <a:lstStyle/>
          <a:p>
            <a:pPr marL="0" indent="0">
              <a:buNone/>
              <a:defRPr/>
            </a:pPr>
            <a:r>
              <a:rPr lang="en-US" sz="1250" b="1">
                <a:solidFill>
                  <a:srgbClr val="202124"/>
                </a:solidFill>
                <a:latin typeface="Calibri"/>
                <a:ea typeface="Calibri"/>
                <a:cs typeface="Calibri"/>
              </a:rPr>
              <a:t>¿Logró terminar la tarea? ¿Sin ayuda?</a:t>
            </a:r>
            <a:endParaRPr lang="en-US" sz="1250"/>
          </a:p>
        </p:txBody>
      </p:sp>
      <p:sp>
        <p:nvSpPr>
          <p:cNvPr id="1379360104" name="Text 18"/>
          <p:cNvSpPr txBox="1"/>
          <p:nvPr/>
        </p:nvSpPr>
        <p:spPr bwMode="auto">
          <a:xfrm>
            <a:off x="2880360" y="5330952"/>
            <a:ext cx="8851392" cy="7772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538403861" name="Text 19"/>
          <p:cNvSpPr txBox="1"/>
          <p:nvPr/>
        </p:nvSpPr>
        <p:spPr bwMode="auto">
          <a:xfrm>
            <a:off x="2880360" y="6208776"/>
            <a:ext cx="8851392" cy="256032"/>
          </a:xfrm>
          <a:prstGeom prst="rect">
            <a:avLst/>
          </a:prstGeom>
          <a:noFill/>
          <a:ln/>
        </p:spPr>
        <p:txBody>
          <a:bodyPr wrap="square" lIns="0" tIns="0" rIns="0" bIns="0" rtlCol="0" anchor="ctr"/>
          <a:lstStyle/>
          <a:p>
            <a:pPr marL="0" indent="0">
              <a:buNone/>
              <a:defRPr/>
            </a:pPr>
            <a:r>
              <a:rPr lang="en-US" sz="1250" b="1">
                <a:solidFill>
                  <a:srgbClr val="202124"/>
                </a:solidFill>
                <a:latin typeface="Calibri"/>
                <a:ea typeface="Calibri"/>
                <a:cs typeface="Calibri"/>
              </a:rPr>
              <a:t>¿Qué le gustó? ¿En qué momento sonrió o se sorprendió?</a:t>
            </a:r>
            <a:endParaRPr lang="en-US" sz="1250"/>
          </a:p>
        </p:txBody>
      </p:sp>
      <p:sp>
        <p:nvSpPr>
          <p:cNvPr id="913905450" name="Text 20"/>
          <p:cNvSpPr txBox="1"/>
          <p:nvPr/>
        </p:nvSpPr>
        <p:spPr bwMode="auto">
          <a:xfrm>
            <a:off x="2880360" y="6501384"/>
            <a:ext cx="8851392" cy="7772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268145055" name="Text 21"/>
          <p:cNvSpPr txBox="1"/>
          <p:nvPr/>
        </p:nvSpPr>
        <p:spPr bwMode="auto">
          <a:xfrm>
            <a:off x="2880360" y="7379208"/>
            <a:ext cx="8851392" cy="256032"/>
          </a:xfrm>
          <a:prstGeom prst="rect">
            <a:avLst/>
          </a:prstGeom>
          <a:noFill/>
          <a:ln/>
        </p:spPr>
        <p:txBody>
          <a:bodyPr wrap="square" lIns="0" tIns="0" rIns="0" bIns="0" rtlCol="0" anchor="ctr"/>
          <a:lstStyle/>
          <a:p>
            <a:pPr marL="0" indent="0">
              <a:buNone/>
              <a:defRPr/>
            </a:pPr>
            <a:r>
              <a:rPr lang="en-US" sz="1250" b="1">
                <a:solidFill>
                  <a:srgbClr val="202124"/>
                </a:solidFill>
                <a:latin typeface="Calibri"/>
                <a:ea typeface="Calibri"/>
                <a:cs typeface="Calibri"/>
              </a:rPr>
              <a:t>¿Qué dijo o hizo que no esperabas? ¿Qué pidió que aún no existe?</a:t>
            </a:r>
            <a:endParaRPr lang="en-US" sz="1250"/>
          </a:p>
        </p:txBody>
      </p:sp>
      <p:sp>
        <p:nvSpPr>
          <p:cNvPr id="679829988" name="Text 22"/>
          <p:cNvSpPr txBox="1"/>
          <p:nvPr/>
        </p:nvSpPr>
        <p:spPr bwMode="auto">
          <a:xfrm>
            <a:off x="2880360" y="7671816"/>
            <a:ext cx="8851392" cy="77724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939207881" name="Text 23"/>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22</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3">
    <p:bg>
      <p:bgPr shadeToTitle="0">
        <a:solidFill>
          <a:srgbClr val="FFFFFF"/>
        </a:solidFill>
      </p:bgPr>
    </p:bg>
    <p:spTree>
      <p:nvGrpSpPr>
        <p:cNvPr id="1" name=""/>
        <p:cNvGrpSpPr/>
        <p:nvPr/>
      </p:nvGrpSpPr>
      <p:grpSpPr bwMode="auto">
        <a:xfrm>
          <a:off x="0" y="0"/>
          <a:ext cx="0" cy="0"/>
          <a:chOff x="0" y="0"/>
          <a:chExt cx="0" cy="0"/>
        </a:xfrm>
      </p:grpSpPr>
      <p:sp>
        <p:nvSpPr>
          <p:cNvPr id="1588938997" name="Shape 0"/>
          <p:cNvSpPr/>
          <p:nvPr/>
        </p:nvSpPr>
        <p:spPr bwMode="auto">
          <a:xfrm>
            <a:off x="0" y="0"/>
            <a:ext cx="2514600" cy="9144000"/>
          </a:xfrm>
          <a:prstGeom prst="rect">
            <a:avLst/>
          </a:prstGeom>
          <a:solidFill>
            <a:srgbClr val="F1F3F4"/>
          </a:solidFill>
          <a:ln/>
        </p:spPr>
      </p:sp>
      <p:sp>
        <p:nvSpPr>
          <p:cNvPr id="2101274931" name="Shape 1"/>
          <p:cNvSpPr/>
          <p:nvPr/>
        </p:nvSpPr>
        <p:spPr bwMode="auto">
          <a:xfrm>
            <a:off x="0" y="822960"/>
            <a:ext cx="2514600" cy="685800"/>
          </a:xfrm>
          <a:prstGeom prst="rect">
            <a:avLst/>
          </a:prstGeom>
          <a:solidFill>
            <a:srgbClr val="34A853"/>
          </a:solidFill>
          <a:ln/>
        </p:spPr>
      </p:sp>
      <p:sp>
        <p:nvSpPr>
          <p:cNvPr id="525627223" name="Text 2"/>
          <p:cNvSpPr txBox="1"/>
          <p:nvPr/>
        </p:nvSpPr>
        <p:spPr bwMode="auto">
          <a:xfrm>
            <a:off x="320040" y="822960"/>
            <a:ext cx="2011680" cy="685800"/>
          </a:xfrm>
          <a:prstGeom prst="rect">
            <a:avLst/>
          </a:prstGeom>
          <a:noFill/>
          <a:ln/>
        </p:spPr>
        <p:txBody>
          <a:bodyPr wrap="square" lIns="0" tIns="0" rIns="0" bIns="0" rtlCol="0" anchor="ctr"/>
          <a:lstStyle/>
          <a:p>
            <a:pPr marL="0" indent="0">
              <a:buNone/>
              <a:defRPr/>
            </a:pPr>
            <a:r>
              <a:rPr lang="en-US" sz="1600" b="1">
                <a:solidFill>
                  <a:srgbClr val="FFFFFF"/>
                </a:solidFill>
                <a:latin typeface="Arial"/>
                <a:ea typeface="Arial"/>
                <a:cs typeface="Arial"/>
              </a:rPr>
              <a:t>1.  Idea</a:t>
            </a:r>
            <a:endParaRPr lang="en-US" sz="1600"/>
          </a:p>
        </p:txBody>
      </p:sp>
      <p:sp>
        <p:nvSpPr>
          <p:cNvPr id="36993103" name="Shape 3"/>
          <p:cNvSpPr/>
          <p:nvPr/>
        </p:nvSpPr>
        <p:spPr bwMode="auto">
          <a:xfrm>
            <a:off x="0" y="1691640"/>
            <a:ext cx="2514600" cy="685800"/>
          </a:xfrm>
          <a:prstGeom prst="rect">
            <a:avLst/>
          </a:prstGeom>
          <a:solidFill>
            <a:srgbClr val="1967D2"/>
          </a:solidFill>
          <a:ln/>
        </p:spPr>
      </p:sp>
      <p:sp>
        <p:nvSpPr>
          <p:cNvPr id="1557183916" name="Text 4"/>
          <p:cNvSpPr txBox="1"/>
          <p:nvPr/>
        </p:nvSpPr>
        <p:spPr bwMode="auto">
          <a:xfrm>
            <a:off x="320040" y="1691640"/>
            <a:ext cx="2011680" cy="685800"/>
          </a:xfrm>
          <a:prstGeom prst="rect">
            <a:avLst/>
          </a:prstGeom>
          <a:noFill/>
          <a:ln/>
        </p:spPr>
        <p:txBody>
          <a:bodyPr wrap="square" lIns="0" tIns="0" rIns="0" bIns="0" rtlCol="0" anchor="ctr"/>
          <a:lstStyle/>
          <a:p>
            <a:pPr marL="0" indent="0">
              <a:buNone/>
              <a:defRPr/>
            </a:pPr>
            <a:r>
              <a:rPr lang="en-US" sz="1600" b="1">
                <a:solidFill>
                  <a:srgbClr val="FFFFFF"/>
                </a:solidFill>
                <a:latin typeface="Arial"/>
                <a:ea typeface="Arial"/>
                <a:cs typeface="Arial"/>
              </a:rPr>
              <a:t>2.  Planifica</a:t>
            </a:r>
            <a:endParaRPr lang="en-US" sz="1600"/>
          </a:p>
        </p:txBody>
      </p:sp>
      <p:sp>
        <p:nvSpPr>
          <p:cNvPr id="918409317" name="Shape 5"/>
          <p:cNvSpPr/>
          <p:nvPr/>
        </p:nvSpPr>
        <p:spPr bwMode="auto">
          <a:xfrm>
            <a:off x="0" y="2560320"/>
            <a:ext cx="2514600" cy="685800"/>
          </a:xfrm>
          <a:prstGeom prst="rect">
            <a:avLst/>
          </a:prstGeom>
          <a:solidFill>
            <a:srgbClr val="00838F"/>
          </a:solidFill>
          <a:ln/>
        </p:spPr>
      </p:sp>
      <p:sp>
        <p:nvSpPr>
          <p:cNvPr id="1404868783" name="Text 6"/>
          <p:cNvSpPr txBox="1"/>
          <p:nvPr/>
        </p:nvSpPr>
        <p:spPr bwMode="auto">
          <a:xfrm>
            <a:off x="320040" y="2560320"/>
            <a:ext cx="2011680" cy="685800"/>
          </a:xfrm>
          <a:prstGeom prst="rect">
            <a:avLst/>
          </a:prstGeom>
          <a:noFill/>
          <a:ln/>
        </p:spPr>
        <p:txBody>
          <a:bodyPr wrap="square" lIns="0" tIns="0" rIns="0" bIns="0" rtlCol="0" anchor="ctr"/>
          <a:lstStyle/>
          <a:p>
            <a:pPr marL="0" indent="0">
              <a:buNone/>
              <a:defRPr/>
            </a:pPr>
            <a:r>
              <a:rPr lang="en-US" sz="1600" b="1">
                <a:solidFill>
                  <a:srgbClr val="FFFFFF"/>
                </a:solidFill>
                <a:latin typeface="Arial"/>
                <a:ea typeface="Arial"/>
                <a:cs typeface="Arial"/>
              </a:rPr>
              <a:t>3.  Prototipa</a:t>
            </a:r>
            <a:endParaRPr lang="en-US" sz="1600"/>
          </a:p>
        </p:txBody>
      </p:sp>
      <p:sp>
        <p:nvSpPr>
          <p:cNvPr id="5250716" name="Shape 7"/>
          <p:cNvSpPr/>
          <p:nvPr/>
        </p:nvSpPr>
        <p:spPr bwMode="auto">
          <a:xfrm>
            <a:off x="0" y="3429000"/>
            <a:ext cx="2514600" cy="685800"/>
          </a:xfrm>
          <a:prstGeom prst="rect">
            <a:avLst/>
          </a:prstGeom>
          <a:solidFill>
            <a:srgbClr val="C5221F"/>
          </a:solidFill>
          <a:ln/>
        </p:spPr>
      </p:sp>
      <p:sp>
        <p:nvSpPr>
          <p:cNvPr id="1035999769" name="Text 8"/>
          <p:cNvSpPr txBox="1"/>
          <p:nvPr/>
        </p:nvSpPr>
        <p:spPr bwMode="auto">
          <a:xfrm>
            <a:off x="320040" y="3429000"/>
            <a:ext cx="2011680" cy="685800"/>
          </a:xfrm>
          <a:prstGeom prst="rect">
            <a:avLst/>
          </a:prstGeom>
          <a:noFill/>
          <a:ln/>
        </p:spPr>
        <p:txBody>
          <a:bodyPr wrap="square" lIns="0" tIns="0" rIns="0" bIns="0" rtlCol="0" anchor="ctr"/>
          <a:lstStyle/>
          <a:p>
            <a:pPr marL="0" indent="0">
              <a:buNone/>
              <a:defRPr/>
            </a:pPr>
            <a:r>
              <a:rPr lang="en-US" sz="1600" b="1">
                <a:solidFill>
                  <a:srgbClr val="FFFFFF"/>
                </a:solidFill>
                <a:latin typeface="Arial"/>
                <a:ea typeface="Arial"/>
                <a:cs typeface="Arial"/>
              </a:rPr>
              <a:t>4.  Evalúa</a:t>
            </a:r>
            <a:endParaRPr lang="en-US" sz="1600"/>
          </a:p>
        </p:txBody>
      </p:sp>
      <p:sp>
        <p:nvSpPr>
          <p:cNvPr id="1962812555" name="Text 9"/>
          <p:cNvSpPr txBox="1"/>
          <p:nvPr/>
        </p:nvSpPr>
        <p:spPr bwMode="auto">
          <a:xfrm>
            <a:off x="320040" y="4663440"/>
            <a:ext cx="2011680" cy="274320"/>
          </a:xfrm>
          <a:prstGeom prst="rect">
            <a:avLst/>
          </a:prstGeom>
          <a:noFill/>
          <a:ln/>
        </p:spPr>
        <p:txBody>
          <a:bodyPr wrap="square" lIns="0" tIns="0" rIns="0" bIns="0" rtlCol="0" anchor="ctr"/>
          <a:lstStyle/>
          <a:p>
            <a:pPr marL="0" indent="0">
              <a:buNone/>
              <a:defRPr/>
            </a:pPr>
            <a:r>
              <a:rPr lang="en-US" sz="1000" b="1" spc="150">
                <a:solidFill>
                  <a:srgbClr val="5F6368"/>
                </a:solidFill>
                <a:latin typeface="Arial"/>
                <a:ea typeface="Arial"/>
                <a:cs typeface="Arial"/>
              </a:rPr>
              <a:t>EL DISEÑO ES UN CICLO</a:t>
            </a:r>
            <a:endParaRPr lang="en-US" sz="1000"/>
          </a:p>
        </p:txBody>
      </p:sp>
      <p:sp>
        <p:nvSpPr>
          <p:cNvPr id="2077515768" name="Text 10"/>
          <p:cNvSpPr txBox="1"/>
          <p:nvPr/>
        </p:nvSpPr>
        <p:spPr bwMode="auto">
          <a:xfrm>
            <a:off x="320040" y="4983480"/>
            <a:ext cx="1965960" cy="1280160"/>
          </a:xfrm>
          <a:prstGeom prst="rect">
            <a:avLst/>
          </a:prstGeom>
          <a:noFill/>
          <a:ln/>
        </p:spPr>
        <p:txBody>
          <a:bodyPr wrap="square" lIns="0" tIns="0" rIns="0" bIns="0" rtlCol="0" anchor="t"/>
          <a:lstStyle/>
          <a:p>
            <a:pPr marL="0" indent="0">
              <a:lnSpc>
                <a:spcPct val="114999"/>
              </a:lnSpc>
              <a:buNone/>
              <a:defRPr/>
            </a:pPr>
            <a:r>
              <a:rPr lang="en-US" sz="1200">
                <a:solidFill>
                  <a:srgbClr val="5F6368"/>
                </a:solidFill>
                <a:latin typeface="Calibri"/>
                <a:ea typeface="Calibri"/>
                <a:cs typeface="Calibri"/>
              </a:rPr>
              <a:t>Duplica las páginas que necesites y vuelve a la fase que haga falta. Ninguna app buena salió bien en la primera versión.</a:t>
            </a:r>
            <a:endParaRPr lang="en-US" sz="1200"/>
          </a:p>
        </p:txBody>
      </p:sp>
      <p:sp>
        <p:nvSpPr>
          <p:cNvPr id="1828324611" name="Text 11"/>
          <p:cNvSpPr txBox="1"/>
          <p:nvPr/>
        </p:nvSpPr>
        <p:spPr bwMode="auto">
          <a:xfrm>
            <a:off x="2880360" y="457200"/>
            <a:ext cx="8851392" cy="548640"/>
          </a:xfrm>
          <a:prstGeom prst="rect">
            <a:avLst/>
          </a:prstGeom>
          <a:noFill/>
          <a:ln/>
        </p:spPr>
        <p:txBody>
          <a:bodyPr wrap="square" lIns="0" tIns="0" rIns="0" bIns="0" rtlCol="0" anchor="t"/>
          <a:lstStyle/>
          <a:p>
            <a:pPr marL="0" indent="0">
              <a:buNone/>
              <a:defRPr/>
            </a:pPr>
            <a:r>
              <a:rPr lang="en-US" sz="2500" b="1">
                <a:solidFill>
                  <a:srgbClr val="202124"/>
                </a:solidFill>
                <a:latin typeface="Arial"/>
                <a:ea typeface="Arial"/>
                <a:cs typeface="Arial"/>
              </a:rPr>
              <a:t>Itera con el feedback</a:t>
            </a:r>
            <a:endParaRPr lang="en-US" sz="2500"/>
          </a:p>
        </p:txBody>
      </p:sp>
      <p:sp>
        <p:nvSpPr>
          <p:cNvPr id="1891249147" name="Text 12"/>
          <p:cNvSpPr txBox="1"/>
          <p:nvPr/>
        </p:nvSpPr>
        <p:spPr bwMode="auto">
          <a:xfrm>
            <a:off x="2880360" y="1051560"/>
            <a:ext cx="8851392" cy="457200"/>
          </a:xfrm>
          <a:prstGeom prst="rect">
            <a:avLst/>
          </a:prstGeom>
          <a:noFill/>
          <a:ln/>
        </p:spPr>
        <p:txBody>
          <a:bodyPr wrap="square" lIns="0" tIns="0" rIns="0" bIns="0" rtlCol="0" anchor="t"/>
          <a:lstStyle/>
          <a:p>
            <a:pPr marL="0" indent="0">
              <a:lnSpc>
                <a:spcPct val="114999"/>
              </a:lnSpc>
              <a:buNone/>
              <a:defRPr/>
            </a:pPr>
            <a:r>
              <a:rPr lang="en-US" sz="1400">
                <a:solidFill>
                  <a:srgbClr val="5F6368"/>
                </a:solidFill>
                <a:latin typeface="Calibri"/>
                <a:ea typeface="Calibri"/>
                <a:cs typeface="Calibri"/>
              </a:rPr>
              <a:t>Ya viste tu app en manos de otras personas. Es momento de decidir qué cambias, qué mantienes y a qué fase regresas.</a:t>
            </a:r>
            <a:endParaRPr lang="en-US" sz="1400"/>
          </a:p>
        </p:txBody>
      </p:sp>
      <p:sp>
        <p:nvSpPr>
          <p:cNvPr id="967522348" name="Text 13"/>
          <p:cNvSpPr txBox="1"/>
          <p:nvPr/>
        </p:nvSpPr>
        <p:spPr bwMode="auto">
          <a:xfrm>
            <a:off x="2880360" y="1600200"/>
            <a:ext cx="8851392" cy="256032"/>
          </a:xfrm>
          <a:prstGeom prst="rect">
            <a:avLst/>
          </a:prstGeom>
          <a:noFill/>
          <a:ln/>
        </p:spPr>
        <p:txBody>
          <a:bodyPr wrap="square" lIns="0" tIns="0" rIns="0" bIns="0" rtlCol="0" anchor="ctr"/>
          <a:lstStyle/>
          <a:p>
            <a:pPr marL="0" indent="0">
              <a:buNone/>
              <a:defRPr/>
            </a:pPr>
            <a:r>
              <a:rPr lang="en-US" sz="1300" b="1">
                <a:solidFill>
                  <a:srgbClr val="202124"/>
                </a:solidFill>
                <a:latin typeface="Calibri"/>
                <a:ea typeface="Calibri"/>
                <a:cs typeface="Calibri"/>
              </a:rPr>
              <a:t>¿Qué funcionó bien y qué no? Compara lo que esperabas con lo que pasó.</a:t>
            </a:r>
            <a:endParaRPr lang="en-US" sz="1300"/>
          </a:p>
        </p:txBody>
      </p:sp>
      <p:sp>
        <p:nvSpPr>
          <p:cNvPr id="1524549370" name="Text 14"/>
          <p:cNvSpPr txBox="1"/>
          <p:nvPr/>
        </p:nvSpPr>
        <p:spPr bwMode="auto">
          <a:xfrm>
            <a:off x="2880360" y="1874520"/>
            <a:ext cx="8851392" cy="1234440"/>
          </a:xfrm>
          <a:prstGeom prst="rect">
            <a:avLst/>
          </a:prstGeom>
          <a:solidFill>
            <a:srgbClr val="EAF6EC"/>
          </a:solidFill>
          <a:ln w="12700">
            <a:solidFill>
              <a:srgbClr val="A8DAB5"/>
            </a:solidFill>
          </a:ln>
        </p:spPr>
        <p:txBody>
          <a:bodyPr wrap="square" lIns="114300" tIns="114300" rIns="114300" bIns="114300" rtlCol="0" anchor="t"/>
          <a:lstStyle/>
          <a:p>
            <a:pPr marL="0" indent="0">
              <a:buNone/>
              <a:defRPr/>
            </a:pPr>
            <a:endParaRPr lang="en-US" sz="1300"/>
          </a:p>
        </p:txBody>
      </p:sp>
      <p:sp>
        <p:nvSpPr>
          <p:cNvPr id="966780084" name="Text 15"/>
          <p:cNvSpPr txBox="1"/>
          <p:nvPr/>
        </p:nvSpPr>
        <p:spPr bwMode="auto">
          <a:xfrm>
            <a:off x="2880360" y="3291840"/>
            <a:ext cx="8851392" cy="256032"/>
          </a:xfrm>
          <a:prstGeom prst="rect">
            <a:avLst/>
          </a:prstGeom>
          <a:noFill/>
          <a:ln/>
        </p:spPr>
        <p:txBody>
          <a:bodyPr wrap="square" lIns="0" tIns="0" rIns="0" bIns="0" rtlCol="0" anchor="ctr"/>
          <a:lstStyle/>
          <a:p>
            <a:pPr marL="0" indent="0">
              <a:buNone/>
              <a:defRPr/>
            </a:pPr>
            <a:r>
              <a:rPr lang="en-US" sz="1300" b="1">
                <a:solidFill>
                  <a:srgbClr val="202124"/>
                </a:solidFill>
                <a:latin typeface="Calibri"/>
                <a:ea typeface="Calibri"/>
                <a:cs typeface="Calibri"/>
              </a:rPr>
              <a:t>Los tres cambios que haré en la siguiente versión, en orden de importancia.</a:t>
            </a:r>
            <a:endParaRPr lang="en-US" sz="1300"/>
          </a:p>
        </p:txBody>
      </p:sp>
      <p:sp>
        <p:nvSpPr>
          <p:cNvPr id="2139908364" name="Text 16"/>
          <p:cNvSpPr txBox="1"/>
          <p:nvPr/>
        </p:nvSpPr>
        <p:spPr bwMode="auto">
          <a:xfrm>
            <a:off x="2880360" y="3566160"/>
            <a:ext cx="8851392" cy="1371600"/>
          </a:xfrm>
          <a:prstGeom prst="rect">
            <a:avLst/>
          </a:prstGeom>
          <a:solidFill>
            <a:srgbClr val="EAF1FD"/>
          </a:solidFill>
          <a:ln w="12700">
            <a:solidFill>
              <a:srgbClr val="AECBFA"/>
            </a:solidFill>
          </a:ln>
        </p:spPr>
        <p:txBody>
          <a:bodyPr wrap="square" lIns="114300" tIns="114300" rIns="114300" bIns="114300" rtlCol="0" anchor="t"/>
          <a:lstStyle/>
          <a:p>
            <a:pPr marL="0" indent="0">
              <a:buNone/>
              <a:defRPr/>
            </a:pPr>
            <a:endParaRPr lang="en-US" sz="1300"/>
          </a:p>
        </p:txBody>
      </p:sp>
      <p:sp>
        <p:nvSpPr>
          <p:cNvPr id="1628973115" name="Text 17"/>
          <p:cNvSpPr txBox="1"/>
          <p:nvPr/>
        </p:nvSpPr>
        <p:spPr bwMode="auto">
          <a:xfrm>
            <a:off x="2880360" y="5120640"/>
            <a:ext cx="8851392" cy="256032"/>
          </a:xfrm>
          <a:prstGeom prst="rect">
            <a:avLst/>
          </a:prstGeom>
          <a:noFill/>
          <a:ln/>
        </p:spPr>
        <p:txBody>
          <a:bodyPr wrap="square" lIns="0" tIns="0" rIns="0" bIns="0" rtlCol="0" anchor="ctr"/>
          <a:lstStyle/>
          <a:p>
            <a:pPr marL="0" indent="0">
              <a:buNone/>
              <a:defRPr/>
            </a:pPr>
            <a:r>
              <a:rPr lang="en-US" sz="1300" b="1">
                <a:solidFill>
                  <a:srgbClr val="202124"/>
                </a:solidFill>
                <a:latin typeface="Calibri"/>
                <a:ea typeface="Calibri"/>
                <a:cs typeface="Calibri"/>
              </a:rPr>
              <a:t>¿Qué idea voy a descartar aunque me gustara? ¿Por qué?</a:t>
            </a:r>
            <a:endParaRPr lang="en-US" sz="1300"/>
          </a:p>
        </p:txBody>
      </p:sp>
      <p:sp>
        <p:nvSpPr>
          <p:cNvPr id="854869341" name="Text 18"/>
          <p:cNvSpPr txBox="1"/>
          <p:nvPr/>
        </p:nvSpPr>
        <p:spPr bwMode="auto">
          <a:xfrm>
            <a:off x="2880360" y="5394960"/>
            <a:ext cx="8851392" cy="960120"/>
          </a:xfrm>
          <a:prstGeom prst="rect">
            <a:avLst/>
          </a:prstGeom>
          <a:solidFill>
            <a:srgbClr val="E4F5F7"/>
          </a:solidFill>
          <a:ln w="12700">
            <a:solidFill>
              <a:srgbClr val="A7DDE3"/>
            </a:solidFill>
          </a:ln>
        </p:spPr>
        <p:txBody>
          <a:bodyPr wrap="square" lIns="114300" tIns="114300" rIns="114300" bIns="114300" rtlCol="0" anchor="t"/>
          <a:lstStyle/>
          <a:p>
            <a:pPr marL="0" indent="0">
              <a:buNone/>
              <a:defRPr/>
            </a:pPr>
            <a:endParaRPr lang="en-US" sz="1300"/>
          </a:p>
        </p:txBody>
      </p:sp>
      <p:sp>
        <p:nvSpPr>
          <p:cNvPr id="28495389" name="Text 19"/>
          <p:cNvSpPr txBox="1"/>
          <p:nvPr/>
        </p:nvSpPr>
        <p:spPr bwMode="auto">
          <a:xfrm>
            <a:off x="2880360" y="6537960"/>
            <a:ext cx="8851392" cy="256032"/>
          </a:xfrm>
          <a:prstGeom prst="rect">
            <a:avLst/>
          </a:prstGeom>
          <a:noFill/>
          <a:ln/>
        </p:spPr>
        <p:txBody>
          <a:bodyPr wrap="square" lIns="0" tIns="0" rIns="0" bIns="0" rtlCol="0" anchor="ctr"/>
          <a:lstStyle/>
          <a:p>
            <a:pPr marL="0" indent="0">
              <a:buNone/>
              <a:defRPr/>
            </a:pPr>
            <a:r>
              <a:rPr lang="en-US" sz="1300" b="1">
                <a:solidFill>
                  <a:srgbClr val="202124"/>
                </a:solidFill>
                <a:latin typeface="Calibri"/>
                <a:ea typeface="Calibri"/>
                <a:cs typeface="Calibri"/>
              </a:rPr>
              <a:t>¿A qué fase regreso (Idea, Planifica o Prototipa) y qué haré primero?</a:t>
            </a:r>
            <a:endParaRPr lang="en-US" sz="1300"/>
          </a:p>
        </p:txBody>
      </p:sp>
      <p:sp>
        <p:nvSpPr>
          <p:cNvPr id="1665335511" name="Text 20"/>
          <p:cNvSpPr txBox="1"/>
          <p:nvPr/>
        </p:nvSpPr>
        <p:spPr bwMode="auto">
          <a:xfrm>
            <a:off x="2880360" y="6812280"/>
            <a:ext cx="8851392" cy="914400"/>
          </a:xfrm>
          <a:prstGeom prst="rect">
            <a:avLst/>
          </a:prstGeom>
          <a:solidFill>
            <a:srgbClr val="FCEAE9"/>
          </a:solidFill>
          <a:ln w="12700">
            <a:solidFill>
              <a:srgbClr val="F3B7B4"/>
            </a:solidFill>
          </a:ln>
        </p:spPr>
        <p:txBody>
          <a:bodyPr wrap="square" lIns="114300" tIns="114300" rIns="114300" bIns="114300" rtlCol="0" anchor="t"/>
          <a:lstStyle/>
          <a:p>
            <a:pPr marL="0" indent="0">
              <a:buNone/>
              <a:defRPr/>
            </a:pPr>
            <a:endParaRPr lang="en-US" sz="1300"/>
          </a:p>
        </p:txBody>
      </p:sp>
      <p:sp>
        <p:nvSpPr>
          <p:cNvPr id="1453248021" name="Shape 21"/>
          <p:cNvSpPr/>
          <p:nvPr/>
        </p:nvSpPr>
        <p:spPr bwMode="auto">
          <a:xfrm>
            <a:off x="2880360" y="7863840"/>
            <a:ext cx="8851392" cy="594360"/>
          </a:xfrm>
          <a:prstGeom prst="rect">
            <a:avLst/>
          </a:prstGeom>
          <a:solidFill>
            <a:srgbClr val="F1F3F4"/>
          </a:solidFill>
          <a:ln/>
        </p:spPr>
      </p:sp>
      <p:sp>
        <p:nvSpPr>
          <p:cNvPr id="864789285" name="Text 22"/>
          <p:cNvSpPr txBox="1"/>
          <p:nvPr/>
        </p:nvSpPr>
        <p:spPr bwMode="auto">
          <a:xfrm>
            <a:off x="3108960" y="7863840"/>
            <a:ext cx="8394192" cy="594360"/>
          </a:xfrm>
          <a:prstGeom prst="rect">
            <a:avLst/>
          </a:prstGeom>
          <a:noFill/>
          <a:ln/>
        </p:spPr>
        <p:txBody>
          <a:bodyPr wrap="square" lIns="0" tIns="0" rIns="0" bIns="0" rtlCol="0" anchor="ctr"/>
          <a:lstStyle/>
          <a:p>
            <a:pPr marL="0" indent="0">
              <a:buNone/>
              <a:defRPr/>
            </a:pPr>
            <a:r>
              <a:rPr lang="en-US" sz="1250" i="1">
                <a:solidFill>
                  <a:srgbClr val="5F6368"/>
                </a:solidFill>
                <a:latin typeface="Calibri"/>
                <a:ea typeface="Calibri"/>
                <a:cs typeface="Calibri"/>
              </a:rPr>
              <a:t>Cuando termines esta página, tu diario está completo: guárdalo junto a tu prototipo y tu pitch para la entrega final.</a:t>
            </a:r>
            <a:endParaRPr lang="en-US" sz="1250"/>
          </a:p>
        </p:txBody>
      </p:sp>
      <p:sp>
        <p:nvSpPr>
          <p:cNvPr id="553546424" name="Text 23"/>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23</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4">
    <p:bg>
      <p:bgPr shadeToTitle="0">
        <a:solidFill>
          <a:srgbClr val="FFFFFF"/>
        </a:solidFill>
      </p:bgPr>
    </p:bg>
    <p:spTree>
      <p:nvGrpSpPr>
        <p:cNvPr id="1" name=""/>
        <p:cNvGrpSpPr/>
        <p:nvPr/>
      </p:nvGrpSpPr>
      <p:grpSpPr bwMode="auto">
        <a:xfrm>
          <a:off x="0" y="0"/>
          <a:ext cx="0" cy="0"/>
          <a:chOff x="0" y="0"/>
          <a:chExt cx="0" cy="0"/>
        </a:xfrm>
      </p:grpSpPr>
      <p:sp>
        <p:nvSpPr>
          <p:cNvPr id="1040090244" name="Text 0"/>
          <p:cNvSpPr txBox="1"/>
          <p:nvPr/>
        </p:nvSpPr>
        <p:spPr bwMode="auto">
          <a:xfrm>
            <a:off x="822960" y="731520"/>
            <a:ext cx="7315200" cy="640080"/>
          </a:xfrm>
          <a:prstGeom prst="rect">
            <a:avLst/>
          </a:prstGeom>
          <a:noFill/>
          <a:ln/>
        </p:spPr>
        <p:txBody>
          <a:bodyPr wrap="square" lIns="0" tIns="0" rIns="0" bIns="0" rtlCol="0" anchor="ctr"/>
          <a:lstStyle/>
          <a:p>
            <a:pPr marL="0" indent="0">
              <a:buNone/>
              <a:defRPr/>
            </a:pPr>
            <a:r>
              <a:rPr lang="en-US" sz="3400" b="1">
                <a:solidFill>
                  <a:srgbClr val="202124"/>
                </a:solidFill>
                <a:latin typeface="Arial"/>
                <a:ea typeface="Arial"/>
                <a:cs typeface="Arial"/>
              </a:rPr>
              <a:t>Lista de entrega</a:t>
            </a:r>
            <a:endParaRPr lang="en-US" sz="3400"/>
          </a:p>
        </p:txBody>
      </p:sp>
      <p:sp>
        <p:nvSpPr>
          <p:cNvPr id="377945287" name="Text 1"/>
          <p:cNvSpPr txBox="1"/>
          <p:nvPr/>
        </p:nvSpPr>
        <p:spPr bwMode="auto">
          <a:xfrm>
            <a:off x="822960" y="1463040"/>
            <a:ext cx="8229600" cy="365760"/>
          </a:xfrm>
          <a:prstGeom prst="rect">
            <a:avLst/>
          </a:prstGeom>
          <a:noFill/>
          <a:ln/>
        </p:spPr>
        <p:txBody>
          <a:bodyPr wrap="square" lIns="0" tIns="0" rIns="0" bIns="0" rtlCol="0" anchor="ctr"/>
          <a:lstStyle/>
          <a:p>
            <a:pPr marL="0" indent="0">
              <a:buNone/>
              <a:defRPr/>
            </a:pPr>
            <a:r>
              <a:rPr lang="en-US" sz="1500">
                <a:solidFill>
                  <a:srgbClr val="5F6368"/>
                </a:solidFill>
                <a:latin typeface="Calibri"/>
                <a:ea typeface="Calibri"/>
                <a:cs typeface="Calibri"/>
              </a:rPr>
              <a:t>Antes de presentar tu proyecto final, revisa que tengas todo esto listo.</a:t>
            </a:r>
            <a:endParaRPr lang="en-US" sz="1500"/>
          </a:p>
        </p:txBody>
      </p:sp>
      <p:sp>
        <p:nvSpPr>
          <p:cNvPr id="710311725" name="Shape 2"/>
          <p:cNvSpPr/>
          <p:nvPr/>
        </p:nvSpPr>
        <p:spPr bwMode="auto">
          <a:xfrm>
            <a:off x="822960" y="2203704"/>
            <a:ext cx="182880" cy="182880"/>
          </a:xfrm>
          <a:prstGeom prst="rect">
            <a:avLst/>
          </a:prstGeom>
          <a:solidFill>
            <a:srgbClr val="FFFFFF"/>
          </a:solidFill>
          <a:ln w="15875">
            <a:solidFill>
              <a:srgbClr val="9AA0A6"/>
            </a:solidFill>
            <a:prstDash val="solid"/>
          </a:ln>
        </p:spPr>
      </p:sp>
      <p:sp>
        <p:nvSpPr>
          <p:cNvPr id="1003658218" name="Text 3"/>
          <p:cNvSpPr txBox="1"/>
          <p:nvPr/>
        </p:nvSpPr>
        <p:spPr bwMode="auto">
          <a:xfrm>
            <a:off x="1143000" y="2148840"/>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Diario completo</a:t>
            </a:r>
            <a:endParaRPr lang="en-US" sz="1300"/>
          </a:p>
          <a:p>
            <a:pPr marL="0" indent="0">
              <a:lnSpc>
                <a:spcPct val="105000"/>
              </a:lnSpc>
              <a:buNone/>
              <a:defRPr/>
            </a:pPr>
            <a:r>
              <a:rPr lang="en-US" sz="1150">
                <a:solidFill>
                  <a:srgbClr val="5F6368"/>
                </a:solidFill>
                <a:latin typeface="Calibri"/>
                <a:ea typeface="Calibri"/>
                <a:cs typeface="Calibri"/>
              </a:rPr>
              <a:t>Todas las páginas llenas, incluidas las de la fase de evaluación</a:t>
            </a:r>
            <a:endParaRPr lang="en-US" sz="1300"/>
          </a:p>
        </p:txBody>
      </p:sp>
      <p:sp>
        <p:nvSpPr>
          <p:cNvPr id="1269804629" name="Shape 4"/>
          <p:cNvSpPr/>
          <p:nvPr/>
        </p:nvSpPr>
        <p:spPr bwMode="auto">
          <a:xfrm>
            <a:off x="6217920" y="2203704"/>
            <a:ext cx="182880" cy="182880"/>
          </a:xfrm>
          <a:prstGeom prst="rect">
            <a:avLst/>
          </a:prstGeom>
          <a:solidFill>
            <a:srgbClr val="FFFFFF"/>
          </a:solidFill>
          <a:ln w="15875">
            <a:solidFill>
              <a:srgbClr val="9AA0A6"/>
            </a:solidFill>
            <a:prstDash val="solid"/>
          </a:ln>
        </p:spPr>
      </p:sp>
      <p:sp>
        <p:nvSpPr>
          <p:cNvPr id="890877938" name="Text 5"/>
          <p:cNvSpPr txBox="1"/>
          <p:nvPr/>
        </p:nvSpPr>
        <p:spPr bwMode="auto">
          <a:xfrm>
            <a:off x="6537960" y="2148840"/>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Problema y usuario definidos</a:t>
            </a:r>
            <a:endParaRPr lang="en-US" sz="1300"/>
          </a:p>
          <a:p>
            <a:pPr marL="0" indent="0">
              <a:lnSpc>
                <a:spcPct val="105000"/>
              </a:lnSpc>
              <a:buNone/>
              <a:defRPr/>
            </a:pPr>
            <a:r>
              <a:rPr lang="en-US" sz="1150">
                <a:solidFill>
                  <a:srgbClr val="5F6368"/>
                </a:solidFill>
                <a:latin typeface="Calibri"/>
                <a:ea typeface="Calibri"/>
                <a:cs typeface="Calibri"/>
              </a:rPr>
              <a:t>Una oración clara del problema y una descripción de tu usuario</a:t>
            </a:r>
            <a:endParaRPr lang="en-US" sz="1300"/>
          </a:p>
        </p:txBody>
      </p:sp>
      <p:sp>
        <p:nvSpPr>
          <p:cNvPr id="1644895115" name="Shape 6"/>
          <p:cNvSpPr/>
          <p:nvPr/>
        </p:nvSpPr>
        <p:spPr bwMode="auto">
          <a:xfrm>
            <a:off x="822960" y="3136392"/>
            <a:ext cx="182880" cy="182880"/>
          </a:xfrm>
          <a:prstGeom prst="rect">
            <a:avLst/>
          </a:prstGeom>
          <a:solidFill>
            <a:srgbClr val="FFFFFF"/>
          </a:solidFill>
          <a:ln w="15875">
            <a:solidFill>
              <a:srgbClr val="9AA0A6"/>
            </a:solidFill>
            <a:prstDash val="solid"/>
          </a:ln>
        </p:spPr>
      </p:sp>
      <p:sp>
        <p:nvSpPr>
          <p:cNvPr id="1842156264" name="Text 7"/>
          <p:cNvSpPr txBox="1"/>
          <p:nvPr/>
        </p:nvSpPr>
        <p:spPr bwMode="auto">
          <a:xfrm>
            <a:off x="1143000" y="3081528"/>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Idea de app con metas</a:t>
            </a:r>
            <a:endParaRPr lang="en-US" sz="1300"/>
          </a:p>
          <a:p>
            <a:pPr marL="0" indent="0">
              <a:lnSpc>
                <a:spcPct val="105000"/>
              </a:lnSpc>
              <a:buNone/>
              <a:defRPr/>
            </a:pPr>
            <a:r>
              <a:rPr lang="en-US" sz="1150">
                <a:solidFill>
                  <a:srgbClr val="5F6368"/>
                </a:solidFill>
                <a:latin typeface="Calibri"/>
                <a:ea typeface="Calibri"/>
                <a:cs typeface="Calibri"/>
              </a:rPr>
              <a:t>La plantilla de la página 6 completa y sus dos o tres metas</a:t>
            </a:r>
            <a:endParaRPr lang="en-US" sz="1300"/>
          </a:p>
        </p:txBody>
      </p:sp>
      <p:sp>
        <p:nvSpPr>
          <p:cNvPr id="129951963" name="Shape 8"/>
          <p:cNvSpPr/>
          <p:nvPr/>
        </p:nvSpPr>
        <p:spPr bwMode="auto">
          <a:xfrm>
            <a:off x="6217920" y="3136392"/>
            <a:ext cx="182880" cy="182880"/>
          </a:xfrm>
          <a:prstGeom prst="rect">
            <a:avLst/>
          </a:prstGeom>
          <a:solidFill>
            <a:srgbClr val="FFFFFF"/>
          </a:solidFill>
          <a:ln w="15875">
            <a:solidFill>
              <a:srgbClr val="9AA0A6"/>
            </a:solidFill>
            <a:prstDash val="solid"/>
          </a:ln>
        </p:spPr>
      </p:sp>
      <p:sp>
        <p:nvSpPr>
          <p:cNvPr id="1628123830" name="Text 9"/>
          <p:cNvSpPr txBox="1"/>
          <p:nvPr/>
        </p:nvSpPr>
        <p:spPr bwMode="auto">
          <a:xfrm>
            <a:off x="6537960" y="3081528"/>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Acciones y estado</a:t>
            </a:r>
            <a:endParaRPr lang="en-US" sz="1300"/>
          </a:p>
          <a:p>
            <a:pPr marL="0" indent="0">
              <a:lnSpc>
                <a:spcPct val="105000"/>
              </a:lnSpc>
              <a:buNone/>
              <a:defRPr/>
            </a:pPr>
            <a:r>
              <a:rPr lang="en-US" sz="1150">
                <a:solidFill>
                  <a:srgbClr val="5F6368"/>
                </a:solidFill>
                <a:latin typeface="Calibri"/>
                <a:ea typeface="Calibri"/>
                <a:cs typeface="Calibri"/>
              </a:rPr>
              <a:t>La lista de acciones del usuario y sus cambios de estado</a:t>
            </a:r>
            <a:endParaRPr lang="en-US" sz="1300"/>
          </a:p>
        </p:txBody>
      </p:sp>
      <p:sp>
        <p:nvSpPr>
          <p:cNvPr id="722342415" name="Shape 10"/>
          <p:cNvSpPr/>
          <p:nvPr/>
        </p:nvSpPr>
        <p:spPr bwMode="auto">
          <a:xfrm>
            <a:off x="822960" y="4069080"/>
            <a:ext cx="182880" cy="182880"/>
          </a:xfrm>
          <a:prstGeom prst="rect">
            <a:avLst/>
          </a:prstGeom>
          <a:solidFill>
            <a:srgbClr val="FFFFFF"/>
          </a:solidFill>
          <a:ln w="15875">
            <a:solidFill>
              <a:srgbClr val="9AA0A6"/>
            </a:solidFill>
            <a:prstDash val="solid"/>
          </a:ln>
        </p:spPr>
      </p:sp>
      <p:sp>
        <p:nvSpPr>
          <p:cNvPr id="2010054414" name="Text 11"/>
          <p:cNvSpPr txBox="1"/>
          <p:nvPr/>
        </p:nvSpPr>
        <p:spPr bwMode="auto">
          <a:xfrm>
            <a:off x="1143000" y="4014216"/>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Funciones y permisos</a:t>
            </a:r>
            <a:endParaRPr lang="en-US" sz="1300"/>
          </a:p>
          <a:p>
            <a:pPr marL="0" indent="0">
              <a:lnSpc>
                <a:spcPct val="105000"/>
              </a:lnSpc>
              <a:buNone/>
              <a:defRPr/>
            </a:pPr>
            <a:r>
              <a:rPr lang="en-US" sz="1150">
                <a:solidFill>
                  <a:srgbClr val="5F6368"/>
                </a:solidFill>
                <a:latin typeface="Calibri"/>
                <a:ea typeface="Calibri"/>
                <a:cs typeface="Calibri"/>
              </a:rPr>
              <a:t>Qué usarás del dispositivo y cómo pedirás cada permiso</a:t>
            </a:r>
            <a:endParaRPr lang="en-US" sz="1300"/>
          </a:p>
        </p:txBody>
      </p:sp>
      <p:sp>
        <p:nvSpPr>
          <p:cNvPr id="387452453" name="Shape 12"/>
          <p:cNvSpPr/>
          <p:nvPr/>
        </p:nvSpPr>
        <p:spPr bwMode="auto">
          <a:xfrm>
            <a:off x="6217920" y="4069080"/>
            <a:ext cx="182880" cy="182880"/>
          </a:xfrm>
          <a:prstGeom prst="rect">
            <a:avLst/>
          </a:prstGeom>
          <a:solidFill>
            <a:srgbClr val="FFFFFF"/>
          </a:solidFill>
          <a:ln w="15875">
            <a:solidFill>
              <a:srgbClr val="9AA0A6"/>
            </a:solidFill>
            <a:prstDash val="solid"/>
          </a:ln>
        </p:spPr>
      </p:sp>
      <p:sp>
        <p:nvSpPr>
          <p:cNvPr id="882326636" name="Text 13"/>
          <p:cNvSpPr txBox="1"/>
          <p:nvPr/>
        </p:nvSpPr>
        <p:spPr bwMode="auto">
          <a:xfrm>
            <a:off x="6537960" y="4014216"/>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Decisiones de accesibilidad</a:t>
            </a:r>
            <a:endParaRPr lang="en-US" sz="1300"/>
          </a:p>
          <a:p>
            <a:pPr marL="0" indent="0">
              <a:lnSpc>
                <a:spcPct val="105000"/>
              </a:lnSpc>
              <a:buNone/>
              <a:defRPr/>
            </a:pPr>
            <a:r>
              <a:rPr lang="en-US" sz="1150">
                <a:solidFill>
                  <a:srgbClr val="5F6368"/>
                </a:solidFill>
                <a:latin typeface="Calibri"/>
                <a:ea typeface="Calibri"/>
                <a:cs typeface="Calibri"/>
              </a:rPr>
              <a:t>Al menos dos, explicadas y probadas</a:t>
            </a:r>
            <a:endParaRPr lang="en-US" sz="1300"/>
          </a:p>
        </p:txBody>
      </p:sp>
      <p:sp>
        <p:nvSpPr>
          <p:cNvPr id="1835477081" name="Shape 14"/>
          <p:cNvSpPr/>
          <p:nvPr/>
        </p:nvSpPr>
        <p:spPr bwMode="auto">
          <a:xfrm>
            <a:off x="822960" y="5001768"/>
            <a:ext cx="182880" cy="182880"/>
          </a:xfrm>
          <a:prstGeom prst="rect">
            <a:avLst/>
          </a:prstGeom>
          <a:solidFill>
            <a:srgbClr val="FFFFFF"/>
          </a:solidFill>
          <a:ln w="15875">
            <a:solidFill>
              <a:srgbClr val="9AA0A6"/>
            </a:solidFill>
            <a:prstDash val="solid"/>
          </a:ln>
        </p:spPr>
      </p:sp>
      <p:sp>
        <p:nvSpPr>
          <p:cNvPr id="855986647" name="Text 15"/>
          <p:cNvSpPr txBox="1"/>
          <p:nvPr/>
        </p:nvSpPr>
        <p:spPr bwMode="auto">
          <a:xfrm>
            <a:off x="1143000" y="4946904"/>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Bocetos de pantallas</a:t>
            </a:r>
            <a:endParaRPr lang="en-US" sz="1300"/>
          </a:p>
          <a:p>
            <a:pPr marL="0" indent="0">
              <a:lnSpc>
                <a:spcPct val="105000"/>
              </a:lnSpc>
              <a:buNone/>
              <a:defRPr/>
            </a:pPr>
            <a:r>
              <a:rPr lang="en-US" sz="1150">
                <a:solidFill>
                  <a:srgbClr val="5F6368"/>
                </a:solidFill>
                <a:latin typeface="Calibri"/>
                <a:ea typeface="Calibri"/>
                <a:cs typeface="Calibri"/>
              </a:rPr>
              <a:t>Tres versiones de tu pantalla principal y la favorita elegida</a:t>
            </a:r>
            <a:endParaRPr lang="en-US" sz="1300"/>
          </a:p>
        </p:txBody>
      </p:sp>
      <p:sp>
        <p:nvSpPr>
          <p:cNvPr id="966051684" name="Shape 16"/>
          <p:cNvSpPr/>
          <p:nvPr/>
        </p:nvSpPr>
        <p:spPr bwMode="auto">
          <a:xfrm>
            <a:off x="6217920" y="5001768"/>
            <a:ext cx="182880" cy="182880"/>
          </a:xfrm>
          <a:prstGeom prst="rect">
            <a:avLst/>
          </a:prstGeom>
          <a:solidFill>
            <a:srgbClr val="FFFFFF"/>
          </a:solidFill>
          <a:ln w="15875">
            <a:solidFill>
              <a:srgbClr val="9AA0A6"/>
            </a:solidFill>
            <a:prstDash val="solid"/>
          </a:ln>
        </p:spPr>
      </p:sp>
      <p:sp>
        <p:nvSpPr>
          <p:cNvPr id="1523953121" name="Text 17"/>
          <p:cNvSpPr txBox="1"/>
          <p:nvPr/>
        </p:nvSpPr>
        <p:spPr bwMode="auto">
          <a:xfrm>
            <a:off x="6537960" y="4946904"/>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Flujo navegable</a:t>
            </a:r>
            <a:endParaRPr lang="en-US" sz="1300"/>
          </a:p>
          <a:p>
            <a:pPr marL="0" indent="0">
              <a:lnSpc>
                <a:spcPct val="105000"/>
              </a:lnSpc>
              <a:buNone/>
              <a:defRPr/>
            </a:pPr>
            <a:r>
              <a:rPr lang="en-US" sz="1150">
                <a:solidFill>
                  <a:srgbClr val="5F6368"/>
                </a:solidFill>
                <a:latin typeface="Calibri"/>
                <a:ea typeface="Calibri"/>
                <a:cs typeface="Calibri"/>
              </a:rPr>
              <a:t>Prototipo en Figma o Compose que otra persona pueda usar sin ti</a:t>
            </a:r>
            <a:endParaRPr lang="en-US" sz="1300"/>
          </a:p>
        </p:txBody>
      </p:sp>
      <p:sp>
        <p:nvSpPr>
          <p:cNvPr id="2045864289" name="Shape 18"/>
          <p:cNvSpPr/>
          <p:nvPr/>
        </p:nvSpPr>
        <p:spPr bwMode="auto">
          <a:xfrm>
            <a:off x="822960" y="5934456"/>
            <a:ext cx="182880" cy="182880"/>
          </a:xfrm>
          <a:prstGeom prst="rect">
            <a:avLst/>
          </a:prstGeom>
          <a:solidFill>
            <a:srgbClr val="FFFFFF"/>
          </a:solidFill>
          <a:ln w="15875">
            <a:solidFill>
              <a:srgbClr val="9AA0A6"/>
            </a:solidFill>
            <a:prstDash val="solid"/>
          </a:ln>
        </p:spPr>
      </p:sp>
      <p:sp>
        <p:nvSpPr>
          <p:cNvPr id="1918896454" name="Text 19"/>
          <p:cNvSpPr txBox="1"/>
          <p:nvPr/>
        </p:nvSpPr>
        <p:spPr bwMode="auto">
          <a:xfrm>
            <a:off x="1143000" y="5879592"/>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Estilo Material 3</a:t>
            </a:r>
            <a:endParaRPr lang="en-US" sz="1300"/>
          </a:p>
          <a:p>
            <a:pPr marL="0" indent="0">
              <a:lnSpc>
                <a:spcPct val="105000"/>
              </a:lnSpc>
              <a:buNone/>
              <a:defRPr/>
            </a:pPr>
            <a:r>
              <a:rPr lang="en-US" sz="1150">
                <a:solidFill>
                  <a:srgbClr val="5F6368"/>
                </a:solidFill>
                <a:latin typeface="Calibri"/>
                <a:ea typeface="Calibri"/>
                <a:cs typeface="Calibri"/>
              </a:rPr>
              <a:t>Paleta, tipografía, tema oscuro, ícono y nombre</a:t>
            </a:r>
            <a:endParaRPr lang="en-US" sz="1300"/>
          </a:p>
        </p:txBody>
      </p:sp>
      <p:sp>
        <p:nvSpPr>
          <p:cNvPr id="1930489345" name="Shape 20"/>
          <p:cNvSpPr/>
          <p:nvPr/>
        </p:nvSpPr>
        <p:spPr bwMode="auto">
          <a:xfrm>
            <a:off x="6217920" y="5934456"/>
            <a:ext cx="182880" cy="182880"/>
          </a:xfrm>
          <a:prstGeom prst="rect">
            <a:avLst/>
          </a:prstGeom>
          <a:solidFill>
            <a:srgbClr val="FFFFFF"/>
          </a:solidFill>
          <a:ln w="15875">
            <a:solidFill>
              <a:srgbClr val="9AA0A6"/>
            </a:solidFill>
            <a:prstDash val="solid"/>
          </a:ln>
        </p:spPr>
      </p:sp>
      <p:sp>
        <p:nvSpPr>
          <p:cNvPr id="2016570333" name="Text 21"/>
          <p:cNvSpPr txBox="1"/>
          <p:nvPr/>
        </p:nvSpPr>
        <p:spPr bwMode="auto">
          <a:xfrm>
            <a:off x="6537960" y="5879592"/>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Prueba con tres usuarios</a:t>
            </a:r>
            <a:endParaRPr lang="en-US" sz="1300"/>
          </a:p>
          <a:p>
            <a:pPr marL="0" indent="0">
              <a:lnSpc>
                <a:spcPct val="105000"/>
              </a:lnSpc>
              <a:buNone/>
              <a:defRPr/>
            </a:pPr>
            <a:r>
              <a:rPr lang="en-US" sz="1150">
                <a:solidFill>
                  <a:srgbClr val="5F6368"/>
                </a:solidFill>
                <a:latin typeface="Calibri"/>
                <a:ea typeface="Calibri"/>
                <a:cs typeface="Calibri"/>
              </a:rPr>
              <a:t>Una página de observación por persona, con lo que dijeron</a:t>
            </a:r>
            <a:endParaRPr lang="en-US" sz="1300"/>
          </a:p>
        </p:txBody>
      </p:sp>
      <p:sp>
        <p:nvSpPr>
          <p:cNvPr id="1605952824" name="Shape 22"/>
          <p:cNvSpPr/>
          <p:nvPr/>
        </p:nvSpPr>
        <p:spPr bwMode="auto">
          <a:xfrm>
            <a:off x="822960" y="6867144"/>
            <a:ext cx="182880" cy="182880"/>
          </a:xfrm>
          <a:prstGeom prst="rect">
            <a:avLst/>
          </a:prstGeom>
          <a:solidFill>
            <a:srgbClr val="FFFFFF"/>
          </a:solidFill>
          <a:ln w="15875">
            <a:solidFill>
              <a:srgbClr val="9AA0A6"/>
            </a:solidFill>
            <a:prstDash val="solid"/>
          </a:ln>
        </p:spPr>
      </p:sp>
      <p:sp>
        <p:nvSpPr>
          <p:cNvPr id="1774952509" name="Text 23"/>
          <p:cNvSpPr txBox="1"/>
          <p:nvPr/>
        </p:nvSpPr>
        <p:spPr bwMode="auto">
          <a:xfrm>
            <a:off x="1143000" y="6812280"/>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Pitch de tres minutos</a:t>
            </a:r>
            <a:endParaRPr lang="en-US" sz="1300"/>
          </a:p>
          <a:p>
            <a:pPr marL="0" indent="0">
              <a:lnSpc>
                <a:spcPct val="105000"/>
              </a:lnSpc>
              <a:buNone/>
              <a:defRPr/>
            </a:pPr>
            <a:r>
              <a:rPr lang="en-US" sz="1150">
                <a:solidFill>
                  <a:srgbClr val="5F6368"/>
                </a:solidFill>
                <a:latin typeface="Calibri"/>
                <a:ea typeface="Calibri"/>
                <a:cs typeface="Calibri"/>
              </a:rPr>
              <a:t>Por qué, quién, qué y cómo, con la demo ensayada</a:t>
            </a:r>
            <a:endParaRPr lang="en-US" sz="1300"/>
          </a:p>
        </p:txBody>
      </p:sp>
      <p:sp>
        <p:nvSpPr>
          <p:cNvPr id="2056261846" name="Shape 24"/>
          <p:cNvSpPr/>
          <p:nvPr/>
        </p:nvSpPr>
        <p:spPr bwMode="auto">
          <a:xfrm>
            <a:off x="6217920" y="6867144"/>
            <a:ext cx="182880" cy="182880"/>
          </a:xfrm>
          <a:prstGeom prst="rect">
            <a:avLst/>
          </a:prstGeom>
          <a:solidFill>
            <a:srgbClr val="FFFFFF"/>
          </a:solidFill>
          <a:ln w="15875">
            <a:solidFill>
              <a:srgbClr val="9AA0A6"/>
            </a:solidFill>
            <a:prstDash val="solid"/>
          </a:ln>
        </p:spPr>
      </p:sp>
      <p:sp>
        <p:nvSpPr>
          <p:cNvPr id="1728008855" name="Text 25"/>
          <p:cNvSpPr txBox="1"/>
          <p:nvPr/>
        </p:nvSpPr>
        <p:spPr bwMode="auto">
          <a:xfrm>
            <a:off x="6537960" y="6812280"/>
            <a:ext cx="4754880" cy="777240"/>
          </a:xfrm>
          <a:prstGeom prst="rect">
            <a:avLst/>
          </a:prstGeom>
          <a:noFill/>
          <a:ln/>
        </p:spPr>
        <p:txBody>
          <a:bodyPr wrap="square" lIns="0" tIns="0" rIns="0" bIns="0" rtlCol="0" anchor="t"/>
          <a:lstStyle/>
          <a:p>
            <a:pPr marL="0" indent="0">
              <a:lnSpc>
                <a:spcPct val="105000"/>
              </a:lnSpc>
              <a:buNone/>
              <a:defRPr/>
            </a:pPr>
            <a:r>
              <a:rPr lang="en-US" sz="1300" b="1">
                <a:solidFill>
                  <a:srgbClr val="202124"/>
                </a:solidFill>
                <a:latin typeface="Calibri"/>
                <a:ea typeface="Calibri"/>
                <a:cs typeface="Calibri"/>
              </a:rPr>
              <a:t>Plan de siguiente versión</a:t>
            </a:r>
            <a:endParaRPr lang="en-US" sz="1300"/>
          </a:p>
          <a:p>
            <a:pPr marL="0" indent="0">
              <a:lnSpc>
                <a:spcPct val="105000"/>
              </a:lnSpc>
              <a:buNone/>
              <a:defRPr/>
            </a:pPr>
            <a:r>
              <a:rPr lang="en-US" sz="1150">
                <a:solidFill>
                  <a:srgbClr val="5F6368"/>
                </a:solidFill>
                <a:latin typeface="Calibri"/>
                <a:ea typeface="Calibri"/>
                <a:cs typeface="Calibri"/>
              </a:rPr>
              <a:t>Los tres cambios que harías y a qué fase regresas</a:t>
            </a:r>
            <a:endParaRPr lang="en-US" sz="1300"/>
          </a:p>
        </p:txBody>
      </p:sp>
      <p:sp>
        <p:nvSpPr>
          <p:cNvPr id="1450311982" name="Shape 26"/>
          <p:cNvSpPr/>
          <p:nvPr/>
        </p:nvSpPr>
        <p:spPr bwMode="auto">
          <a:xfrm>
            <a:off x="822960" y="7955280"/>
            <a:ext cx="10515600" cy="685800"/>
          </a:xfrm>
          <a:prstGeom prst="rect">
            <a:avLst/>
          </a:prstGeom>
          <a:solidFill>
            <a:srgbClr val="34A853"/>
          </a:solidFill>
          <a:ln/>
        </p:spPr>
      </p:sp>
      <p:sp>
        <p:nvSpPr>
          <p:cNvPr id="1498863792" name="Text 27"/>
          <p:cNvSpPr txBox="1"/>
          <p:nvPr/>
        </p:nvSpPr>
        <p:spPr bwMode="auto">
          <a:xfrm>
            <a:off x="1097280" y="7955280"/>
            <a:ext cx="9966960" cy="685800"/>
          </a:xfrm>
          <a:prstGeom prst="rect">
            <a:avLst/>
          </a:prstGeom>
          <a:noFill/>
          <a:ln/>
        </p:spPr>
        <p:txBody>
          <a:bodyPr wrap="square" lIns="0" tIns="0" rIns="0" bIns="0" rtlCol="0" anchor="ctr"/>
          <a:lstStyle/>
          <a:p>
            <a:pPr marL="0" indent="0">
              <a:buNone/>
              <a:defRPr/>
            </a:pPr>
            <a:r>
              <a:rPr lang="en-US" sz="1400">
                <a:solidFill>
                  <a:srgbClr val="FFFFFF"/>
                </a:solidFill>
                <a:latin typeface="Calibri"/>
                <a:ea typeface="Calibri"/>
                <a:cs typeface="Calibri"/>
              </a:rPr>
              <a:t>Éxitos con tu proyecto. Recuerda: una app que resuelve algo real, aunque sea pequeña, vale más que una idea enorme que nunca se prueba.</a:t>
            </a:r>
            <a:endParaRPr lang="en-US" sz="1400"/>
          </a:p>
        </p:txBody>
      </p:sp>
      <p:sp>
        <p:nvSpPr>
          <p:cNvPr id="797808124" name="Text 28"/>
          <p:cNvSpPr txBox="1"/>
          <p:nvPr/>
        </p:nvSpPr>
        <p:spPr bwMode="auto">
          <a:xfrm>
            <a:off x="11183112" y="8613648"/>
            <a:ext cx="548640" cy="274320"/>
          </a:xfrm>
          <a:prstGeom prst="rect">
            <a:avLst/>
          </a:prstGeom>
          <a:noFill/>
          <a:ln/>
        </p:spPr>
        <p:txBody>
          <a:bodyPr wrap="square" lIns="0" tIns="0" rIns="0" bIns="0" rtlCol="0" anchor="ctr"/>
          <a:lstStyle/>
          <a:p>
            <a:pPr marL="0" indent="0" algn="r">
              <a:buNone/>
              <a:defRPr/>
            </a:pPr>
            <a:r>
              <a:rPr lang="en-US" sz="1000">
                <a:solidFill>
                  <a:srgbClr val="BDC1C6"/>
                </a:solidFill>
                <a:latin typeface="Calibri"/>
                <a:ea typeface="Calibri"/>
                <a:cs typeface="Calibri"/>
              </a:rPr>
              <a:t>24</a:t>
            </a:r>
            <a:endParaRPr lang="en-US" sz="1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24</Slides>
  <Notes>24</Notes>
  <HiddenSlides>0</HiddenSlides>
  <MMClips>2</MMClips>
  <ScaleCrop>0</ScaleCrop>
  <HeadingPairs>
    <vt:vector size="4" baseType="variant">
      <vt:variant>
        <vt:lpstr>Theme</vt:lpstr>
      </vt:variant>
      <vt:variant>
        <vt:i4>1</vt:i4>
      </vt:variant>
      <vt:variant>
        <vt:lpstr>Slide Titles</vt:lpstr>
      </vt:variant>
      <vt:variant>
        <vt:i4>24</vt:i4>
      </vt:variant>
    </vt:vector>
  </HeadingPairs>
  <TitlesOfParts>
    <vt:vector size="2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Diario de Diseño de Apps Android</dc:title>
  <dc:subject>PptxGenJS Presentation</dc:subject>
  <dc:creator>Tecsup</dc:creator>
  <cp:lastModifiedBy/>
  <cp:revision>3</cp:revision>
  <dcterms:created xsi:type="dcterms:W3CDTF">2026-09-04T19:00:22Z</dcterms:created>
  <dcterms:modified xsi:type="dcterms:W3CDTF">2026-10-10T03:49:23Z</dcterms:modified>
</cp:coreProperties>
</file>