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314" r:id="rId3"/>
    <p:sldId id="315" r:id="rId4"/>
    <p:sldId id="316" r:id="rId5"/>
    <p:sldId id="261" r:id="rId6"/>
    <p:sldId id="1040" r:id="rId7"/>
    <p:sldId id="262" r:id="rId8"/>
    <p:sldId id="264" r:id="rId9"/>
    <p:sldId id="317" r:id="rId10"/>
    <p:sldId id="1041" r:id="rId11"/>
    <p:sldId id="318" r:id="rId12"/>
    <p:sldId id="265" r:id="rId13"/>
    <p:sldId id="1039" r:id="rId14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C1C9"/>
    <a:srgbClr val="6D7F93"/>
    <a:srgbClr val="7385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28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BF7EEB-84AF-41C9-B023-B598E94B3B9B}" type="datetimeFigureOut">
              <a:rPr lang="es-419" smtClean="0"/>
              <a:t>2/9/2026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B46E4A-56DA-441F-9B02-FE7EB2E62FC1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7160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46E4A-56DA-441F-9B02-FE7EB2E62FC1}" type="slidenum">
              <a:rPr lang="es-419" smtClean="0"/>
              <a:t>4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887901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C010E-EC4E-8C1C-79FD-4BBBC0877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C609DF-FA0C-FCB2-A517-0DDCDDD23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7266F5-9C5D-0EC7-73EF-913181B9D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84A25-9848-4C53-9770-C5527CD15B17}" type="datetimeFigureOut">
              <a:rPr lang="es-419" smtClean="0"/>
              <a:t>2/9/2026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3A9AA9-084D-81A1-853C-C0159BDE8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42D21F-737B-E624-4FE3-00E0DAE5A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0A4B2-436E-41CE-8B6C-8B427041E3D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197270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C285D5-1279-7F5F-B78F-F5CBCFF7F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FBFFDF-0634-3623-2A94-8697A4943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5302F6-C3D6-035A-A42B-521F5260C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84A25-9848-4C53-9770-C5527CD15B17}" type="datetimeFigureOut">
              <a:rPr lang="es-419" smtClean="0"/>
              <a:t>2/9/2026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75F9F2-BF61-B471-D978-73D597769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984943-B551-662B-8149-8C4C93872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0A4B2-436E-41CE-8B6C-8B427041E3D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29357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26F17F-6576-EF0F-780F-1DF0D2596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427090-577D-3C5D-C2C9-952B4101E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57875B-A57B-2722-DD33-88BDA3426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84A25-9848-4C53-9770-C5527CD15B17}" type="datetimeFigureOut">
              <a:rPr lang="es-419" smtClean="0"/>
              <a:t>2/9/2026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A035A9-B870-7B27-4FA9-60B99CFBE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89049A-4967-4244-C7F7-8AAEA37F1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0A4B2-436E-41CE-8B6C-8B427041E3D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671589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CEBBE-B02C-3625-DB12-1858FE1C4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AF9BF1-1A65-8FF4-6698-6A668D8B3B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00BEB44-457C-283B-321A-D08C7EAFE5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4BBB2EF-7044-13F3-F125-2E5FBEB18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84A25-9848-4C53-9770-C5527CD15B17}" type="datetimeFigureOut">
              <a:rPr lang="es-419" smtClean="0"/>
              <a:t>2/9/2026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8D22B80-FE2B-3E42-18B8-BD56B5346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8461722-E9E1-577E-B746-8AD9FA40C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0A4B2-436E-41CE-8B6C-8B427041E3D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32216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E6050-2B32-7AD4-7BF0-3692E8746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2F945D-4166-22A0-5DA6-8CB574A97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B19CC2-DB74-FBAA-8B29-86068B135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3CD7928-7790-099A-59F6-A566103D86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CCC20BF-F86B-9B2C-DA77-4FBA4B6C59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FB3BCCA-87EE-DD25-F22F-DA50852D2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84A25-9848-4C53-9770-C5527CD15B17}" type="datetimeFigureOut">
              <a:rPr lang="es-419" smtClean="0"/>
              <a:t>2/9/2026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78E1311-BA59-4D45-B37A-4B8989B8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4F17EB7-5C96-8C07-444C-4F82205D4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0A4B2-436E-41CE-8B6C-8B427041E3D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860311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02D1C6-653F-0888-9CE0-AD97A253D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C9C101-8907-4D87-4FD3-A8F584052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84A25-9848-4C53-9770-C5527CD15B17}" type="datetimeFigureOut">
              <a:rPr lang="es-419" smtClean="0"/>
              <a:t>2/9/2026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59F0643-1044-3D0C-9AC5-82254A675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5C665B7-2C97-A5C6-E296-AC632084E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0A4B2-436E-41CE-8B6C-8B427041E3D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455654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379B074-0FC3-FA7B-FFD3-46DE45F18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84A25-9848-4C53-9770-C5527CD15B17}" type="datetimeFigureOut">
              <a:rPr lang="es-419" smtClean="0"/>
              <a:t>2/9/2026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FCC215E-4AC3-4F02-5B73-A2E582BC7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9A194EF-48C6-E152-76A3-FC66777E9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0A4B2-436E-41CE-8B6C-8B427041E3D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2910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CA4207-5080-7A0C-CAA4-952B0CB34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E90B32-8719-C30B-41F9-C8F3938FB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5F91BA-791B-B822-6309-723E238E3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885966-E6C2-B5F0-101B-0DB218D3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84A25-9848-4C53-9770-C5527CD15B17}" type="datetimeFigureOut">
              <a:rPr lang="es-419" smtClean="0"/>
              <a:t>2/9/2026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195A255-6E66-0583-9C7D-8EB8C0DB9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6EAC9A-A421-62E3-FB15-A98E0E7F2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0A4B2-436E-41CE-8B6C-8B427041E3D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780680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E37CDD-3FF4-2A40-382B-AEA61091C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9261052-065D-5B62-89F2-6E765F508D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09C361-D582-77A7-EA7F-225A860ECE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BCEB82A-58A8-4CF7-5788-33D049F06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84A25-9848-4C53-9770-C5527CD15B17}" type="datetimeFigureOut">
              <a:rPr lang="es-419" smtClean="0"/>
              <a:t>2/9/2026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4C1B31D-E68E-E243-990C-E7072B3B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DCEB28B-8BE1-DDC4-FD68-4EA743EB2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0A4B2-436E-41CE-8B6C-8B427041E3D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646787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074E94-41D7-30A1-1913-DEA2F13E7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C945EA6-DB18-905A-AA6B-A8CE1FDC37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358D0A-1282-BC2E-4978-F62456D50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84A25-9848-4C53-9770-C5527CD15B17}" type="datetimeFigureOut">
              <a:rPr lang="es-419" smtClean="0"/>
              <a:t>2/9/2026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22E983-6B35-935D-27B0-58F806E42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B6B59D-2AC3-9B11-6DC1-6B75409C7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0A4B2-436E-41CE-8B6C-8B427041E3D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942192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DFCDFB9-7260-AFC6-39FD-82D24EC3BD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AA0365B-DFA1-A96B-FAA7-B1D317374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6C17D5-933A-D316-3356-6666CE5E9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84A25-9848-4C53-9770-C5527CD15B17}" type="datetimeFigureOut">
              <a:rPr lang="es-419" smtClean="0"/>
              <a:t>2/9/2026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908D3E-35F8-20EB-F97F-3810190D7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C0ECF2-5189-2181-2A24-BAC783F9A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0A4B2-436E-41CE-8B6C-8B427041E3D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03395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2A2B9DF-121F-0354-FD2D-A538A4CFD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2812DF-0508-0463-CD97-1EEB0A5F1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12EE36-325E-608A-55A8-ED459E062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684A25-9848-4C53-9770-C5527CD15B17}" type="datetimeFigureOut">
              <a:rPr lang="es-419" smtClean="0"/>
              <a:t>2/9/2026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D55E1A-4947-065D-13D0-F1A53A55B6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B09EAE-D624-A68D-4091-15453FB80F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0A4B2-436E-41CE-8B6C-8B427041E3D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78491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correo@dominio.com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tupaginaweb.co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correo@dominio.com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hyperlink" Target="https://tupaginaweb.com/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microsoft.com/office/2007/relationships/hdphoto" Target="../media/hdphoto2.wdp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tupaginaweb.com/" TargetMode="External"/><Relationship Id="rId2" Type="http://schemas.openxmlformats.org/officeDocument/2006/relationships/hyperlink" Target="mailto:correo@dominio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C614F35-309A-DFAA-F55B-23D5905B0F1C}"/>
              </a:ext>
            </a:extLst>
          </p:cNvPr>
          <p:cNvSpPr txBox="1"/>
          <p:nvPr/>
        </p:nvSpPr>
        <p:spPr>
          <a:xfrm>
            <a:off x="253999" y="1313128"/>
            <a:ext cx="11683999" cy="1857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Investigación e Innovación</a:t>
            </a:r>
            <a:r>
              <a:rPr lang="es-419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Tecnológica </a:t>
            </a:r>
            <a:endParaRPr lang="es-419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TALLER N°15</a:t>
            </a:r>
            <a:endParaRPr lang="es-419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“Presentación Final”</a:t>
            </a:r>
            <a:endParaRPr lang="es-419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DB062334-22C2-F112-0C5E-A8C1F0A10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191787"/>
              </p:ext>
            </p:extLst>
          </p:nvPr>
        </p:nvGraphicFramePr>
        <p:xfrm>
          <a:off x="3290252" y="3687119"/>
          <a:ext cx="5611495" cy="149656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347470">
                  <a:extLst>
                    <a:ext uri="{9D8B030D-6E8A-4147-A177-3AD203B41FA5}">
                      <a16:colId xmlns:a16="http://schemas.microsoft.com/office/drawing/2014/main" val="2357291527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275938957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81003792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3550455265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1063089791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123583675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92625037"/>
                    </a:ext>
                  </a:extLst>
                </a:gridCol>
              </a:tblGrid>
              <a:tr h="181610">
                <a:tc row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200" dirty="0">
                          <a:effectLst/>
                        </a:rPr>
                        <a:t>Alumnos(as)</a:t>
                      </a:r>
                      <a:endParaRPr lang="es-419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200" dirty="0">
                          <a:effectLst/>
                        </a:rPr>
                        <a:t>1.-</a:t>
                      </a:r>
                      <a:endParaRPr lang="es-419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827153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200">
                          <a:effectLst/>
                        </a:rPr>
                        <a:t>2.-</a:t>
                      </a:r>
                      <a:endParaRPr lang="es-419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07256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200" dirty="0">
                          <a:effectLst/>
                        </a:rPr>
                        <a:t>3.-</a:t>
                      </a:r>
                      <a:endParaRPr lang="es-419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6451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200">
                          <a:effectLst/>
                        </a:rPr>
                        <a:t>4.-</a:t>
                      </a:r>
                      <a:endParaRPr lang="es-419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04249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200">
                          <a:effectLst/>
                        </a:rPr>
                        <a:t>5.-</a:t>
                      </a:r>
                      <a:endParaRPr lang="es-419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117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200">
                          <a:effectLst/>
                        </a:rPr>
                        <a:t>N° de Grupo:</a:t>
                      </a:r>
                      <a:endParaRPr lang="es-419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200">
                          <a:effectLst/>
                        </a:rPr>
                        <a:t> </a:t>
                      </a:r>
                      <a:endParaRPr lang="es-419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200">
                          <a:effectLst/>
                        </a:rPr>
                        <a:t>Profesor:</a:t>
                      </a:r>
                      <a:endParaRPr lang="es-419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200">
                          <a:effectLst/>
                        </a:rPr>
                        <a:t>Nota:</a:t>
                      </a:r>
                      <a:endParaRPr lang="es-419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90180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200">
                          <a:effectLst/>
                        </a:rPr>
                        <a:t>Semestre:</a:t>
                      </a:r>
                      <a:endParaRPr lang="es-419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200">
                          <a:effectLst/>
                        </a:rPr>
                        <a:t> </a:t>
                      </a:r>
                      <a:endParaRPr lang="es-419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200">
                          <a:effectLst/>
                        </a:rPr>
                        <a:t>Ing. Oscar Christian Medina Carpio</a:t>
                      </a:r>
                      <a:endParaRPr lang="es-419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200">
                          <a:effectLst/>
                        </a:rPr>
                        <a:t> </a:t>
                      </a:r>
                      <a:endParaRPr lang="es-419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39945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200">
                          <a:effectLst/>
                        </a:rPr>
                        <a:t>Fecha de entrega:</a:t>
                      </a:r>
                      <a:endParaRPr lang="es-419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200">
                          <a:effectLst/>
                        </a:rPr>
                        <a:t> </a:t>
                      </a:r>
                      <a:endParaRPr lang="es-419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200">
                          <a:effectLst/>
                        </a:rPr>
                        <a:t> </a:t>
                      </a:r>
                      <a:endParaRPr lang="es-419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200">
                          <a:effectLst/>
                        </a:rPr>
                        <a:t> </a:t>
                      </a:r>
                      <a:endParaRPr lang="es-419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200">
                          <a:effectLst/>
                        </a:rPr>
                        <a:t>Hora:</a:t>
                      </a:r>
                      <a:endParaRPr lang="es-419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200" dirty="0">
                          <a:effectLst/>
                        </a:rPr>
                        <a:t> </a:t>
                      </a:r>
                      <a:endParaRPr lang="es-419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063185"/>
                  </a:ext>
                </a:extLst>
              </a:tr>
            </a:tbl>
          </a:graphicData>
        </a:graphic>
      </p:graphicFrame>
      <p:pic>
        <p:nvPicPr>
          <p:cNvPr id="7" name="image1.png">
            <a:extLst>
              <a:ext uri="{FF2B5EF4-FFF2-40B4-BE49-F238E27FC236}">
                <a16:creationId xmlns:a16="http://schemas.microsoft.com/office/drawing/2014/main" id="{1D2957E7-DEF4-B3DE-CC4B-4022C17850A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07"/>
          <a:stretch>
            <a:fillRect/>
          </a:stretch>
        </p:blipFill>
        <p:spPr>
          <a:xfrm>
            <a:off x="10387819" y="297857"/>
            <a:ext cx="1222289" cy="502588"/>
          </a:xfrm>
          <a:prstGeom prst="rect">
            <a:avLst/>
          </a:prstGeom>
          <a:ln/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E6201B0-1BAD-40BA-8DB0-0AB73B10E2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44" y="297857"/>
            <a:ext cx="1757569" cy="738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761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3DFA8C3-C032-BBFF-A2B9-47A720C9924E}"/>
              </a:ext>
            </a:extLst>
          </p:cNvPr>
          <p:cNvSpPr txBox="1"/>
          <p:nvPr/>
        </p:nvSpPr>
        <p:spPr>
          <a:xfrm>
            <a:off x="0" y="-53496"/>
            <a:ext cx="12192000" cy="6911496"/>
          </a:xfrm>
          <a:prstGeom prst="rect">
            <a:avLst/>
          </a:prstGeom>
          <a:solidFill>
            <a:srgbClr val="F7F7F7"/>
          </a:solidFill>
        </p:spPr>
        <p:txBody>
          <a:bodyPr wrap="square" rtlCol="0">
            <a:spAutoFit/>
          </a:bodyPr>
          <a:lstStyle/>
          <a:p>
            <a:endParaRPr lang="es-419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601F3A4-16C3-A1D1-4023-3C2CFD48FE5A}"/>
              </a:ext>
            </a:extLst>
          </p:cNvPr>
          <p:cNvSpPr/>
          <p:nvPr/>
        </p:nvSpPr>
        <p:spPr>
          <a:xfrm>
            <a:off x="5655026" y="1759886"/>
            <a:ext cx="4202520" cy="2656849"/>
          </a:xfrm>
          <a:prstGeom prst="rect">
            <a:avLst/>
          </a:prstGeom>
          <a:solidFill>
            <a:srgbClr val="0388B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A5B2244-C0A4-2E87-D0A3-C78FFA18B1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663" t="46394" r="31123" b="40953"/>
          <a:stretch/>
        </p:blipFill>
        <p:spPr>
          <a:xfrm>
            <a:off x="1344852" y="1582973"/>
            <a:ext cx="2220687" cy="86774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0BEB2AC-D9BC-1F7A-2B55-CDAE58764A6F}"/>
              </a:ext>
            </a:extLst>
          </p:cNvPr>
          <p:cNvSpPr txBox="1"/>
          <p:nvPr/>
        </p:nvSpPr>
        <p:spPr>
          <a:xfrm>
            <a:off x="1255718" y="2489393"/>
            <a:ext cx="2127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304966"/>
                </a:solidFill>
              </a:rPr>
              <a:t>Puedes colocar tu eslogan aquí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3473C9C-013A-E6FE-98BC-AEFAE227E413}"/>
              </a:ext>
            </a:extLst>
          </p:cNvPr>
          <p:cNvSpPr txBox="1"/>
          <p:nvPr/>
        </p:nvSpPr>
        <p:spPr>
          <a:xfrm>
            <a:off x="1295501" y="5134194"/>
            <a:ext cx="23979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400" b="1" dirty="0">
                <a:solidFill>
                  <a:srgbClr val="304966"/>
                </a:solidFill>
              </a:rPr>
              <a:t>Contacto:</a:t>
            </a:r>
          </a:p>
          <a:p>
            <a:r>
              <a:rPr lang="es-419" sz="1400" dirty="0">
                <a:solidFill>
                  <a:srgbClr val="304966"/>
                </a:solidFill>
                <a:hlinkClick r:id="rId3"/>
              </a:rPr>
              <a:t>correo@dominio.com</a:t>
            </a:r>
            <a:endParaRPr lang="es-419" sz="1400" dirty="0">
              <a:solidFill>
                <a:srgbClr val="304966"/>
              </a:solidFill>
            </a:endParaRPr>
          </a:p>
          <a:p>
            <a:endParaRPr lang="es-419" sz="1400" dirty="0">
              <a:solidFill>
                <a:srgbClr val="304966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2ACCA00-1892-8384-2EDC-A07AB811D260}"/>
              </a:ext>
            </a:extLst>
          </p:cNvPr>
          <p:cNvSpPr txBox="1"/>
          <p:nvPr/>
        </p:nvSpPr>
        <p:spPr>
          <a:xfrm>
            <a:off x="6523068" y="4845522"/>
            <a:ext cx="2591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hlinkClick r:id="rId4"/>
              </a:rPr>
              <a:t>https://tupaginaweb.com</a:t>
            </a:r>
            <a:endParaRPr lang="es-419" dirty="0"/>
          </a:p>
          <a:p>
            <a:endParaRPr lang="es-419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CBFB4AA-04FB-8C86-DFB0-D7C02E8A9069}"/>
              </a:ext>
            </a:extLst>
          </p:cNvPr>
          <p:cNvSpPr txBox="1"/>
          <p:nvPr/>
        </p:nvSpPr>
        <p:spPr>
          <a:xfrm>
            <a:off x="6453272" y="2437523"/>
            <a:ext cx="25855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200" dirty="0">
                <a:solidFill>
                  <a:schemeClr val="bg1"/>
                </a:solidFill>
              </a:rPr>
              <a:t>Tu producto o</a:t>
            </a:r>
          </a:p>
          <a:p>
            <a:pPr algn="ctr"/>
            <a:r>
              <a:rPr lang="es-419" sz="3200" dirty="0">
                <a:solidFill>
                  <a:schemeClr val="bg1"/>
                </a:solidFill>
              </a:rPr>
              <a:t>servicio</a:t>
            </a:r>
          </a:p>
        </p:txBody>
      </p:sp>
      <p:pic>
        <p:nvPicPr>
          <p:cNvPr id="2050" name="Picture 2" descr="laptop-png-6759 | ClickyArregla.com">
            <a:extLst>
              <a:ext uri="{FF2B5EF4-FFF2-40B4-BE49-F238E27FC236}">
                <a16:creationId xmlns:a16="http://schemas.microsoft.com/office/drawing/2014/main" id="{8E8F6B8A-A0C5-D923-3811-2D81A006A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8972" y="1504893"/>
            <a:ext cx="5659672" cy="3395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6A699694-D415-D059-740F-8C9FF078734D}"/>
              </a:ext>
            </a:extLst>
          </p:cNvPr>
          <p:cNvSpPr txBox="1"/>
          <p:nvPr/>
        </p:nvSpPr>
        <p:spPr>
          <a:xfrm>
            <a:off x="1296472" y="4618875"/>
            <a:ext cx="21273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400" dirty="0">
                <a:solidFill>
                  <a:srgbClr val="304966"/>
                </a:solidFill>
              </a:rPr>
              <a:t>Nombre y apellido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F6C43DA-9590-5655-45EC-DD71E3BFEEB1}"/>
              </a:ext>
            </a:extLst>
          </p:cNvPr>
          <p:cNvSpPr txBox="1"/>
          <p:nvPr/>
        </p:nvSpPr>
        <p:spPr>
          <a:xfrm>
            <a:off x="1296472" y="4881734"/>
            <a:ext cx="21273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400" dirty="0">
                <a:solidFill>
                  <a:srgbClr val="304966"/>
                </a:solidFill>
              </a:rPr>
              <a:t>Responsabilidad</a:t>
            </a:r>
          </a:p>
        </p:txBody>
      </p:sp>
    </p:spTree>
    <p:extLst>
      <p:ext uri="{BB962C8B-B14F-4D97-AF65-F5344CB8AC3E}">
        <p14:creationId xmlns:p14="http://schemas.microsoft.com/office/powerpoint/2010/main" val="2548582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on contaminantes las quemas agrícolas? ¿Son contaminantes las quemas  agrícolas? : ¿Son contaminantes las quemas agrícolas?">
            <a:extLst>
              <a:ext uri="{FF2B5EF4-FFF2-40B4-BE49-F238E27FC236}">
                <a16:creationId xmlns:a16="http://schemas.microsoft.com/office/drawing/2014/main" id="{E705B65F-883F-BB5B-4CEE-C7682528F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7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162B68C8-D051-5F38-391C-2C597043BC0C}"/>
              </a:ext>
            </a:extLst>
          </p:cNvPr>
          <p:cNvSpPr/>
          <p:nvPr/>
        </p:nvSpPr>
        <p:spPr>
          <a:xfrm>
            <a:off x="350982" y="1958109"/>
            <a:ext cx="4882259" cy="4387273"/>
          </a:xfrm>
          <a:prstGeom prst="roundRect">
            <a:avLst>
              <a:gd name="adj" fmla="val 4878"/>
            </a:avLst>
          </a:prstGeom>
          <a:solidFill>
            <a:srgbClr val="3FC1C9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B704CC0-41B2-4B88-95A4-0D66B16E0F13}"/>
              </a:ext>
            </a:extLst>
          </p:cNvPr>
          <p:cNvSpPr txBox="1"/>
          <p:nvPr/>
        </p:nvSpPr>
        <p:spPr>
          <a:xfrm>
            <a:off x="623141" y="2443585"/>
            <a:ext cx="46101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dirty="0">
                <a:solidFill>
                  <a:schemeClr val="bg1"/>
                </a:solidFill>
              </a:rPr>
              <a:t>Aquí responde a la pregunta</a:t>
            </a:r>
          </a:p>
          <a:p>
            <a:r>
              <a:rPr lang="es-419" sz="2400" dirty="0">
                <a:solidFill>
                  <a:schemeClr val="bg1"/>
                </a:solidFill>
              </a:rPr>
              <a:t>¿Qué te preocupa? </a:t>
            </a:r>
          </a:p>
          <a:p>
            <a:r>
              <a:rPr lang="es-419" sz="2400" dirty="0">
                <a:solidFill>
                  <a:schemeClr val="bg1"/>
                </a:solidFill>
              </a:rPr>
              <a:t>Esta pregunta te ayudará a identificar tu propósito.</a:t>
            </a:r>
          </a:p>
          <a:p>
            <a:endParaRPr lang="es-419" sz="2400" dirty="0">
              <a:solidFill>
                <a:schemeClr val="bg1"/>
              </a:solidFill>
            </a:endParaRPr>
          </a:p>
          <a:p>
            <a:r>
              <a:rPr lang="es-419" sz="2400" dirty="0">
                <a:solidFill>
                  <a:schemeClr val="bg1"/>
                </a:solidFill>
              </a:rPr>
              <a:t>Elige una imagen que sea impactante o representativa que ocupe todo el espacio de tu presentación.</a:t>
            </a:r>
          </a:p>
        </p:txBody>
      </p:sp>
      <p:pic>
        <p:nvPicPr>
          <p:cNvPr id="7170" name="Picture 2" descr="Consumo y producción sostenibles - Desarrollo Sostenible">
            <a:extLst>
              <a:ext uri="{FF2B5EF4-FFF2-40B4-BE49-F238E27FC236}">
                <a16:creationId xmlns:a16="http://schemas.microsoft.com/office/drawing/2014/main" id="{0CD5652A-36B8-3145-7D67-6AC5308EF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8452" y="5731685"/>
            <a:ext cx="962988" cy="962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alud - Desarrollo Sostenible">
            <a:extLst>
              <a:ext uri="{FF2B5EF4-FFF2-40B4-BE49-F238E27FC236}">
                <a16:creationId xmlns:a16="http://schemas.microsoft.com/office/drawing/2014/main" id="{7CB834A3-E458-BD89-8109-2753C7596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7238" y="5731685"/>
            <a:ext cx="962988" cy="962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0FFC4C4-0524-B716-299D-A14201FECE6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0663" t="46394" r="31123" b="40953"/>
          <a:stretch/>
        </p:blipFill>
        <p:spPr>
          <a:xfrm>
            <a:off x="350982" y="262388"/>
            <a:ext cx="1429806" cy="55870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E00DD837-D8E4-80D6-C1B3-20D6448851DB}"/>
              </a:ext>
            </a:extLst>
          </p:cNvPr>
          <p:cNvSpPr txBox="1"/>
          <p:nvPr/>
        </p:nvSpPr>
        <p:spPr>
          <a:xfrm>
            <a:off x="1668544" y="189452"/>
            <a:ext cx="2674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600" dirty="0">
                <a:solidFill>
                  <a:srgbClr val="6D7F93"/>
                </a:solidFill>
              </a:rPr>
              <a:t>|El propósito</a:t>
            </a:r>
          </a:p>
        </p:txBody>
      </p:sp>
    </p:spTree>
    <p:extLst>
      <p:ext uri="{BB962C8B-B14F-4D97-AF65-F5344CB8AC3E}">
        <p14:creationId xmlns:p14="http://schemas.microsoft.com/office/powerpoint/2010/main" val="2621330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F7D6637-4297-CCC3-4DD4-104F11787FB4}"/>
              </a:ext>
            </a:extLst>
          </p:cNvPr>
          <p:cNvSpPr txBox="1"/>
          <p:nvPr/>
        </p:nvSpPr>
        <p:spPr>
          <a:xfrm>
            <a:off x="-9837" y="0"/>
            <a:ext cx="12167166" cy="6858000"/>
          </a:xfrm>
          <a:prstGeom prst="rect">
            <a:avLst/>
          </a:prstGeom>
          <a:solidFill>
            <a:srgbClr val="F7F7F7"/>
          </a:solidFill>
        </p:spPr>
        <p:txBody>
          <a:bodyPr wrap="square" rtlCol="0">
            <a:spAutoFit/>
          </a:bodyPr>
          <a:lstStyle/>
          <a:p>
            <a:endParaRPr lang="es-419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AE9FABB-E188-EBD4-0E42-1DC1D8708238}"/>
              </a:ext>
            </a:extLst>
          </p:cNvPr>
          <p:cNvSpPr txBox="1"/>
          <p:nvPr/>
        </p:nvSpPr>
        <p:spPr>
          <a:xfrm>
            <a:off x="633058" y="1932740"/>
            <a:ext cx="3455039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5400" b="1" dirty="0">
                <a:solidFill>
                  <a:srgbClr val="6D7F93"/>
                </a:solidFill>
              </a:rPr>
              <a:t>60%</a:t>
            </a:r>
          </a:p>
          <a:p>
            <a:pPr algn="ctr"/>
            <a:endParaRPr lang="es-419" sz="2000" b="1" dirty="0">
              <a:solidFill>
                <a:srgbClr val="6D7F93"/>
              </a:solidFill>
            </a:endParaRPr>
          </a:p>
          <a:p>
            <a:pPr algn="ctr"/>
            <a:r>
              <a:rPr lang="es-419" sz="2400" dirty="0">
                <a:solidFill>
                  <a:srgbClr val="6D7F93"/>
                </a:solidFill>
              </a:rPr>
              <a:t>Dato de tu problema central</a:t>
            </a:r>
          </a:p>
          <a:p>
            <a:pPr algn="ctr"/>
            <a:endParaRPr lang="es-419" sz="2400" dirty="0">
              <a:solidFill>
                <a:srgbClr val="6D7F93"/>
              </a:solidFill>
            </a:endParaRPr>
          </a:p>
          <a:p>
            <a:pPr algn="ctr"/>
            <a:r>
              <a:rPr lang="es-419" sz="2400" dirty="0" err="1">
                <a:solidFill>
                  <a:srgbClr val="6D7F93"/>
                </a:solidFill>
              </a:rPr>
              <a:t>Ejm</a:t>
            </a:r>
            <a:r>
              <a:rPr lang="es-419" sz="2400" dirty="0">
                <a:solidFill>
                  <a:srgbClr val="6D7F93"/>
                </a:solidFill>
              </a:rPr>
              <a:t>. 70% de agricultores queman la broza para despejar sus terrenos.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525B45C0-B624-B52A-BEB8-D777FC151BB6}"/>
              </a:ext>
            </a:extLst>
          </p:cNvPr>
          <p:cNvSpPr/>
          <p:nvPr/>
        </p:nvSpPr>
        <p:spPr>
          <a:xfrm>
            <a:off x="5266515" y="1706435"/>
            <a:ext cx="1391343" cy="1290110"/>
          </a:xfrm>
          <a:prstGeom prst="ellipse">
            <a:avLst/>
          </a:prstGeom>
          <a:solidFill>
            <a:srgbClr val="6D7F9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4A1170A-F48C-D6FE-8FDA-927BC8601CD9}"/>
              </a:ext>
            </a:extLst>
          </p:cNvPr>
          <p:cNvSpPr txBox="1"/>
          <p:nvPr/>
        </p:nvSpPr>
        <p:spPr>
          <a:xfrm>
            <a:off x="5432600" y="2028324"/>
            <a:ext cx="11035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3600" b="1" dirty="0">
                <a:solidFill>
                  <a:schemeClr val="bg1"/>
                </a:solidFill>
              </a:rPr>
              <a:t>60%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1E0E88C-CDC4-9E88-AD25-33927CBF1B7B}"/>
              </a:ext>
            </a:extLst>
          </p:cNvPr>
          <p:cNvSpPr txBox="1"/>
          <p:nvPr/>
        </p:nvSpPr>
        <p:spPr>
          <a:xfrm>
            <a:off x="4470011" y="3071514"/>
            <a:ext cx="297902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400" dirty="0">
                <a:solidFill>
                  <a:srgbClr val="6D7F93"/>
                </a:solidFill>
              </a:rPr>
              <a:t>Dato del efecto del problema</a:t>
            </a:r>
          </a:p>
          <a:p>
            <a:pPr algn="ctr"/>
            <a:endParaRPr lang="es-419" sz="2400" dirty="0">
              <a:solidFill>
                <a:srgbClr val="6D7F93"/>
              </a:solidFill>
            </a:endParaRPr>
          </a:p>
          <a:p>
            <a:pPr algn="ctr"/>
            <a:r>
              <a:rPr lang="es-419" sz="2400" dirty="0" err="1">
                <a:solidFill>
                  <a:srgbClr val="6D7F93"/>
                </a:solidFill>
              </a:rPr>
              <a:t>Ejm</a:t>
            </a:r>
            <a:r>
              <a:rPr lang="es-419" sz="2400" dirty="0">
                <a:solidFill>
                  <a:srgbClr val="6D7F93"/>
                </a:solidFill>
              </a:rPr>
              <a:t>. Más de 50 mil niños de zonas rurales se enferman de asma.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92875287-AC8A-340F-6A45-FCBE83101BF3}"/>
              </a:ext>
            </a:extLst>
          </p:cNvPr>
          <p:cNvSpPr/>
          <p:nvPr/>
        </p:nvSpPr>
        <p:spPr>
          <a:xfrm>
            <a:off x="8886196" y="1706435"/>
            <a:ext cx="1391343" cy="1290110"/>
          </a:xfrm>
          <a:prstGeom prst="ellipse">
            <a:avLst/>
          </a:prstGeom>
          <a:solidFill>
            <a:srgbClr val="6D7F9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B50D27F-83AD-3FD9-DA3A-EED0675510DB}"/>
              </a:ext>
            </a:extLst>
          </p:cNvPr>
          <p:cNvSpPr txBox="1"/>
          <p:nvPr/>
        </p:nvSpPr>
        <p:spPr>
          <a:xfrm>
            <a:off x="8742030" y="2089462"/>
            <a:ext cx="1705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400" dirty="0">
                <a:solidFill>
                  <a:schemeClr val="bg1"/>
                </a:solidFill>
              </a:rPr>
              <a:t>Imagen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AD95EFA-4171-7318-518E-C0EFE8A63DB8}"/>
              </a:ext>
            </a:extLst>
          </p:cNvPr>
          <p:cNvSpPr txBox="1"/>
          <p:nvPr/>
        </p:nvSpPr>
        <p:spPr>
          <a:xfrm>
            <a:off x="7759891" y="3071514"/>
            <a:ext cx="36439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400" dirty="0">
                <a:solidFill>
                  <a:srgbClr val="6D7F93"/>
                </a:solidFill>
              </a:rPr>
              <a:t>Dato de la causa del problema</a:t>
            </a:r>
          </a:p>
          <a:p>
            <a:pPr algn="ctr"/>
            <a:endParaRPr lang="es-419" sz="2400" dirty="0">
              <a:solidFill>
                <a:srgbClr val="6D7F93"/>
              </a:solidFill>
            </a:endParaRPr>
          </a:p>
          <a:p>
            <a:pPr algn="ctr"/>
            <a:r>
              <a:rPr lang="es-419" sz="2400" dirty="0">
                <a:solidFill>
                  <a:srgbClr val="6D7F93"/>
                </a:solidFill>
              </a:rPr>
              <a:t>10 mil ton son quemadas para devolver la fuente de carbono a los suelos.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5FD6912-A193-B478-4E70-8857AE23AEA8}"/>
              </a:ext>
            </a:extLst>
          </p:cNvPr>
          <p:cNvSpPr txBox="1"/>
          <p:nvPr/>
        </p:nvSpPr>
        <p:spPr>
          <a:xfrm>
            <a:off x="-262325" y="6265180"/>
            <a:ext cx="56653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dirty="0">
                <a:solidFill>
                  <a:srgbClr val="6D7F93"/>
                </a:solidFill>
              </a:rPr>
              <a:t>Fuentes: Aquí coloca la fuente de tus datos.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668B365-0D65-E259-0EC7-7EA19BC5B4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663" t="46394" r="31123" b="40953"/>
          <a:stretch/>
        </p:blipFill>
        <p:spPr>
          <a:xfrm>
            <a:off x="478380" y="474003"/>
            <a:ext cx="1429806" cy="55870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2F8EE39-589A-7B57-866F-02A84EAE8A9E}"/>
              </a:ext>
            </a:extLst>
          </p:cNvPr>
          <p:cNvSpPr txBox="1"/>
          <p:nvPr/>
        </p:nvSpPr>
        <p:spPr>
          <a:xfrm>
            <a:off x="1795942" y="401067"/>
            <a:ext cx="2674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600" dirty="0">
                <a:solidFill>
                  <a:srgbClr val="6D7F93"/>
                </a:solidFill>
              </a:rPr>
              <a:t>|El problema</a:t>
            </a:r>
          </a:p>
        </p:txBody>
      </p:sp>
    </p:spTree>
    <p:extLst>
      <p:ext uri="{BB962C8B-B14F-4D97-AF65-F5344CB8AC3E}">
        <p14:creationId xmlns:p14="http://schemas.microsoft.com/office/powerpoint/2010/main" val="2485895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F7D6637-4297-CCC3-4DD4-104F11787FB4}"/>
              </a:ext>
            </a:extLst>
          </p:cNvPr>
          <p:cNvSpPr txBox="1"/>
          <p:nvPr/>
        </p:nvSpPr>
        <p:spPr>
          <a:xfrm>
            <a:off x="1" y="-46166"/>
            <a:ext cx="12191999" cy="6858000"/>
          </a:xfrm>
          <a:prstGeom prst="rect">
            <a:avLst/>
          </a:prstGeom>
          <a:solidFill>
            <a:srgbClr val="F7F7F7"/>
          </a:solidFill>
        </p:spPr>
        <p:txBody>
          <a:bodyPr wrap="square" rtlCol="0">
            <a:spAutoFit/>
          </a:bodyPr>
          <a:lstStyle/>
          <a:p>
            <a:endParaRPr lang="es-419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AE9FABB-E188-EBD4-0E42-1DC1D8708238}"/>
              </a:ext>
            </a:extLst>
          </p:cNvPr>
          <p:cNvSpPr txBox="1"/>
          <p:nvPr/>
        </p:nvSpPr>
        <p:spPr>
          <a:xfrm>
            <a:off x="643367" y="2151727"/>
            <a:ext cx="52134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200" dirty="0">
                <a:solidFill>
                  <a:srgbClr val="6D7F93"/>
                </a:solidFill>
              </a:rPr>
              <a:t>Aquí describe con la menor cantidad de palabras el analgésico al problema </a:t>
            </a:r>
          </a:p>
          <a:p>
            <a:r>
              <a:rPr lang="es-419" sz="3200" dirty="0">
                <a:solidFill>
                  <a:srgbClr val="6D7F93"/>
                </a:solidFill>
              </a:rPr>
              <a:t>(¿Qué hacen actualmente para solucionar el problema?)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E32DA60-CC28-C202-FDC5-5928949D01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663" t="46394" r="31123" b="40953"/>
          <a:stretch/>
        </p:blipFill>
        <p:spPr>
          <a:xfrm>
            <a:off x="478380" y="474003"/>
            <a:ext cx="1429806" cy="55870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5F3AEC0-6CA4-5943-2AB6-B0C8E1E35891}"/>
              </a:ext>
            </a:extLst>
          </p:cNvPr>
          <p:cNvSpPr txBox="1"/>
          <p:nvPr/>
        </p:nvSpPr>
        <p:spPr>
          <a:xfrm>
            <a:off x="1714056" y="430190"/>
            <a:ext cx="2674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600" dirty="0">
                <a:solidFill>
                  <a:srgbClr val="6D7F93"/>
                </a:solidFill>
              </a:rPr>
              <a:t>|Actualidad</a:t>
            </a:r>
          </a:p>
        </p:txBody>
      </p:sp>
      <p:pic>
        <p:nvPicPr>
          <p:cNvPr id="3074" name="Picture 2" descr="No hay ninguna descripción de la foto disponible.">
            <a:extLst>
              <a:ext uri="{FF2B5EF4-FFF2-40B4-BE49-F238E27FC236}">
                <a16:creationId xmlns:a16="http://schemas.microsoft.com/office/drawing/2014/main" id="{D062BE6A-1FEB-5D6B-B8DC-1F5B36107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189" y="1418231"/>
            <a:ext cx="4757382" cy="475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7533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E945F0-0D34-B8F0-E999-160845B3D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A70AD1-E88A-C124-4A59-8CE9CDEAA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1018F78-DCC0-4860-DBD9-965AEF71D489}"/>
              </a:ext>
            </a:extLst>
          </p:cNvPr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7F7"/>
          </a:solidFill>
        </p:spPr>
        <p:txBody>
          <a:bodyPr wrap="square" rtlCol="0">
            <a:spAutoFit/>
          </a:bodyPr>
          <a:lstStyle/>
          <a:p>
            <a:endParaRPr lang="es-419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4767E8E-76C0-A673-8DEC-3BA3EA02F300}"/>
              </a:ext>
            </a:extLst>
          </p:cNvPr>
          <p:cNvSpPr txBox="1"/>
          <p:nvPr/>
        </p:nvSpPr>
        <p:spPr>
          <a:xfrm>
            <a:off x="838200" y="2099818"/>
            <a:ext cx="505146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200" dirty="0">
                <a:solidFill>
                  <a:srgbClr val="6D7F93"/>
                </a:solidFill>
              </a:rPr>
              <a:t>Aquí describe con la menor cantidad de palabras posibles la solución innovadora a tu problema.</a:t>
            </a:r>
          </a:p>
          <a:p>
            <a:endParaRPr lang="es-419" sz="3200" dirty="0">
              <a:solidFill>
                <a:srgbClr val="6D7F93"/>
              </a:solidFill>
            </a:endParaRPr>
          </a:p>
          <a:p>
            <a:r>
              <a:rPr lang="es-419" sz="3200" dirty="0" err="1">
                <a:solidFill>
                  <a:srgbClr val="6D7F93"/>
                </a:solidFill>
              </a:rPr>
              <a:t>Ejm</a:t>
            </a:r>
            <a:r>
              <a:rPr lang="es-419" sz="3200" dirty="0">
                <a:solidFill>
                  <a:srgbClr val="6D7F93"/>
                </a:solidFill>
              </a:rPr>
              <a:t>. Digerir la broza para obtener fertilizantes líquidos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35F8917-F60B-CC9B-9832-18DCEEF413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663" t="46394" r="31123" b="40953"/>
          <a:stretch/>
        </p:blipFill>
        <p:spPr>
          <a:xfrm>
            <a:off x="478380" y="474003"/>
            <a:ext cx="1429806" cy="55870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E55952F-15D5-B370-08B0-0D7EE038E4C0}"/>
              </a:ext>
            </a:extLst>
          </p:cNvPr>
          <p:cNvSpPr txBox="1"/>
          <p:nvPr/>
        </p:nvSpPr>
        <p:spPr>
          <a:xfrm>
            <a:off x="1714056" y="430190"/>
            <a:ext cx="4381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600" dirty="0">
                <a:solidFill>
                  <a:srgbClr val="6D7F93"/>
                </a:solidFill>
              </a:rPr>
              <a:t>|Solución innovadora</a:t>
            </a:r>
          </a:p>
        </p:txBody>
      </p:sp>
      <p:pic>
        <p:nvPicPr>
          <p:cNvPr id="5122" name="Picture 2" descr="Weltec Biopower construye su cuarta planta de biogás en Japón - Química">
            <a:extLst>
              <a:ext uri="{FF2B5EF4-FFF2-40B4-BE49-F238E27FC236}">
                <a16:creationId xmlns:a16="http://schemas.microsoft.com/office/drawing/2014/main" id="{F80905D9-F3C0-11E9-6F21-DFD0C9A0AA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1" r="10767"/>
          <a:stretch/>
        </p:blipFill>
        <p:spPr bwMode="auto">
          <a:xfrm>
            <a:off x="6302336" y="2051966"/>
            <a:ext cx="5051464" cy="365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159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F7D6637-4297-CCC3-4DD4-104F11787FB4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7"/>
          </a:solidFill>
        </p:spPr>
        <p:txBody>
          <a:bodyPr wrap="square" rtlCol="0">
            <a:spAutoFit/>
          </a:bodyPr>
          <a:lstStyle/>
          <a:p>
            <a:endParaRPr lang="es-419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EFE598-D39B-9417-04A6-D0A5F26E6F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663" t="46394" r="31123" b="40953"/>
          <a:stretch/>
        </p:blipFill>
        <p:spPr>
          <a:xfrm>
            <a:off x="478380" y="474003"/>
            <a:ext cx="1429806" cy="55870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7A668E7-7429-63A6-985A-E7C4BC86A894}"/>
              </a:ext>
            </a:extLst>
          </p:cNvPr>
          <p:cNvSpPr txBox="1"/>
          <p:nvPr/>
        </p:nvSpPr>
        <p:spPr>
          <a:xfrm>
            <a:off x="1714056" y="430190"/>
            <a:ext cx="4686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600" dirty="0">
                <a:solidFill>
                  <a:srgbClr val="6D7F93"/>
                </a:solidFill>
              </a:rPr>
              <a:t>|Tecnología innovadora</a:t>
            </a:r>
          </a:p>
        </p:txBody>
      </p:sp>
      <p:pic>
        <p:nvPicPr>
          <p:cNvPr id="6146" name="Picture 2" descr="El panorama de los biodigestores en Chile, una alternativa para la gestión  de los residuos orgánicos - País Circular">
            <a:extLst>
              <a:ext uri="{FF2B5EF4-FFF2-40B4-BE49-F238E27FC236}">
                <a16:creationId xmlns:a16="http://schemas.microsoft.com/office/drawing/2014/main" id="{16E2BD23-35A9-6FC9-1DA2-D395624945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5" t="6881" r="4080" b="9043"/>
          <a:stretch/>
        </p:blipFill>
        <p:spPr bwMode="auto">
          <a:xfrm>
            <a:off x="1570517" y="1485901"/>
            <a:ext cx="9050966" cy="4898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7623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F7D6637-4297-CCC3-4DD4-104F11787FB4}"/>
              </a:ext>
            </a:extLst>
          </p:cNvPr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7F7"/>
          </a:solidFill>
        </p:spPr>
        <p:txBody>
          <a:bodyPr wrap="square" rtlCol="0">
            <a:spAutoFit/>
          </a:bodyPr>
          <a:lstStyle/>
          <a:p>
            <a:endParaRPr lang="es-419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84F031A1-1D74-3299-C65D-BE50EB1BB6B7}"/>
              </a:ext>
            </a:extLst>
          </p:cNvPr>
          <p:cNvGrpSpPr/>
          <p:nvPr/>
        </p:nvGrpSpPr>
        <p:grpSpPr>
          <a:xfrm>
            <a:off x="1639714" y="1898305"/>
            <a:ext cx="8541295" cy="3711961"/>
            <a:chOff x="1885595" y="2392723"/>
            <a:chExt cx="6324600" cy="2738325"/>
          </a:xfrm>
        </p:grpSpPr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5CB5BB45-B49A-1A71-3F53-CC4E7256698A}"/>
                </a:ext>
              </a:extLst>
            </p:cNvPr>
            <p:cNvCxnSpPr/>
            <p:nvPr/>
          </p:nvCxnSpPr>
          <p:spPr>
            <a:xfrm>
              <a:off x="1885595" y="2961940"/>
              <a:ext cx="6324600" cy="0"/>
            </a:xfrm>
            <a:prstGeom prst="line">
              <a:avLst/>
            </a:prstGeom>
            <a:ln w="12700">
              <a:solidFill>
                <a:srgbClr val="6D7F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F50EAEA7-24ED-CD70-6A98-6F62CEA45FBC}"/>
                </a:ext>
              </a:extLst>
            </p:cNvPr>
            <p:cNvSpPr txBox="1"/>
            <p:nvPr/>
          </p:nvSpPr>
          <p:spPr>
            <a:xfrm>
              <a:off x="1971320" y="2445894"/>
              <a:ext cx="14678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419" sz="1400" b="1" dirty="0">
                  <a:solidFill>
                    <a:srgbClr val="6D7F93"/>
                  </a:solidFill>
                </a:rPr>
                <a:t>Factores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2CF5D6CD-C436-197C-162E-43A3E9A33D26}"/>
                </a:ext>
              </a:extLst>
            </p:cNvPr>
            <p:cNvSpPr txBox="1"/>
            <p:nvPr/>
          </p:nvSpPr>
          <p:spPr>
            <a:xfrm>
              <a:off x="1971320" y="3061922"/>
              <a:ext cx="11049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419" sz="1400" dirty="0">
                  <a:solidFill>
                    <a:srgbClr val="6D7F93"/>
                  </a:solidFill>
                </a:rPr>
                <a:t>Factor 1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1EFC15D6-2636-754B-EAB4-410F8E9D62FA}"/>
                </a:ext>
              </a:extLst>
            </p:cNvPr>
            <p:cNvSpPr txBox="1"/>
            <p:nvPr/>
          </p:nvSpPr>
          <p:spPr>
            <a:xfrm>
              <a:off x="1971320" y="3500586"/>
              <a:ext cx="11049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419" sz="1400" dirty="0">
                  <a:solidFill>
                    <a:srgbClr val="6D7F93"/>
                  </a:solidFill>
                </a:rPr>
                <a:t>Factor 2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DACF1715-D790-56D2-0B88-CCB987BBFE5F}"/>
                </a:ext>
              </a:extLst>
            </p:cNvPr>
            <p:cNvSpPr txBox="1"/>
            <p:nvPr/>
          </p:nvSpPr>
          <p:spPr>
            <a:xfrm>
              <a:off x="1971320" y="3936909"/>
              <a:ext cx="11049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419" sz="1400" dirty="0">
                  <a:solidFill>
                    <a:srgbClr val="6D7F93"/>
                  </a:solidFill>
                </a:rPr>
                <a:t>Factor 3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445926C6-10A6-D184-E9AE-F71EF35546E5}"/>
                </a:ext>
              </a:extLst>
            </p:cNvPr>
            <p:cNvSpPr txBox="1"/>
            <p:nvPr/>
          </p:nvSpPr>
          <p:spPr>
            <a:xfrm>
              <a:off x="1971320" y="4362573"/>
              <a:ext cx="11049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419" sz="1400" dirty="0">
                  <a:solidFill>
                    <a:srgbClr val="6D7F93"/>
                  </a:solidFill>
                </a:rPr>
                <a:t>Factor 4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6FCB88F7-36B3-5B13-B632-3D34EBA86D04}"/>
                </a:ext>
              </a:extLst>
            </p:cNvPr>
            <p:cNvSpPr txBox="1"/>
            <p:nvPr/>
          </p:nvSpPr>
          <p:spPr>
            <a:xfrm>
              <a:off x="1971320" y="4807342"/>
              <a:ext cx="11049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419" sz="1400" dirty="0">
                  <a:solidFill>
                    <a:srgbClr val="6D7F93"/>
                  </a:solidFill>
                </a:rPr>
                <a:t>Factor 5</a:t>
              </a:r>
            </a:p>
          </p:txBody>
        </p: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F2BB0DD3-60CE-10B8-07D7-AFEA66890E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0663" t="46394" r="31123" b="40953"/>
            <a:stretch/>
          </p:blipFill>
          <p:spPr>
            <a:xfrm>
              <a:off x="6958921" y="2392723"/>
              <a:ext cx="1041724" cy="407060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F34F35AA-3B74-6634-9AD5-F1448E2FD7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5F5F5"/>
                </a:clrFrom>
                <a:clrTo>
                  <a:srgbClr val="F5F5F5">
                    <a:alpha val="0"/>
                  </a:srgbClr>
                </a:clrTo>
              </a:clrChange>
            </a:blip>
            <a:srcRect l="50547" t="42115" r="24375" b="34917"/>
            <a:stretch/>
          </p:blipFill>
          <p:spPr>
            <a:xfrm>
              <a:off x="5289358" y="2392723"/>
              <a:ext cx="918302" cy="473099"/>
            </a:xfrm>
            <a:prstGeom prst="rect">
              <a:avLst/>
            </a:prstGeom>
          </p:spPr>
        </p:pic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5A80D4AC-9761-D192-5BD2-4B463B42A3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47500" t="39571" r="21407" b="34917"/>
            <a:stretch/>
          </p:blipFill>
          <p:spPr>
            <a:xfrm>
              <a:off x="3608496" y="2392723"/>
              <a:ext cx="931450" cy="429893"/>
            </a:xfrm>
            <a:prstGeom prst="rect">
              <a:avLst/>
            </a:prstGeom>
          </p:spPr>
        </p:pic>
        <p:pic>
          <p:nvPicPr>
            <p:cNvPr id="9220" name="Picture 4" descr="Tick Verde Vectores Libres de Derechos - iStock">
              <a:extLst>
                <a:ext uri="{FF2B5EF4-FFF2-40B4-BE49-F238E27FC236}">
                  <a16:creationId xmlns:a16="http://schemas.microsoft.com/office/drawing/2014/main" id="{571E2AA1-2CB8-F5A6-63EB-2C812F452C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7930" y="3045993"/>
              <a:ext cx="323706" cy="323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4" descr="Tick Verde Vectores Libres de Derechos - iStock">
              <a:extLst>
                <a:ext uri="{FF2B5EF4-FFF2-40B4-BE49-F238E27FC236}">
                  <a16:creationId xmlns:a16="http://schemas.microsoft.com/office/drawing/2014/main" id="{CE17C163-DEE4-3984-5AD1-679CD7DEAB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7930" y="3484657"/>
              <a:ext cx="323706" cy="323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4" descr="Tick Verde Vectores Libres de Derechos - iStock">
              <a:extLst>
                <a:ext uri="{FF2B5EF4-FFF2-40B4-BE49-F238E27FC236}">
                  <a16:creationId xmlns:a16="http://schemas.microsoft.com/office/drawing/2014/main" id="{EAB1566F-162E-6378-C0D9-D6A2AD9C61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7930" y="3912406"/>
              <a:ext cx="323706" cy="323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4" descr="Tick Verde Vectores Libres de Derechos - iStock">
              <a:extLst>
                <a:ext uri="{FF2B5EF4-FFF2-40B4-BE49-F238E27FC236}">
                  <a16:creationId xmlns:a16="http://schemas.microsoft.com/office/drawing/2014/main" id="{C072035C-2D36-1E94-6D64-4CB650B4D6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7930" y="4356414"/>
              <a:ext cx="323706" cy="323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4" descr="Tick Verde Vectores Libres de Derechos - iStock">
              <a:extLst>
                <a:ext uri="{FF2B5EF4-FFF2-40B4-BE49-F238E27FC236}">
                  <a16:creationId xmlns:a16="http://schemas.microsoft.com/office/drawing/2014/main" id="{4C790312-0694-3A56-A1D6-96A6B7A67B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7930" y="4797817"/>
              <a:ext cx="323706" cy="323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4" descr="Tick Verde Vectores Libres de Derechos - iStock">
              <a:extLst>
                <a:ext uri="{FF2B5EF4-FFF2-40B4-BE49-F238E27FC236}">
                  <a16:creationId xmlns:a16="http://schemas.microsoft.com/office/drawing/2014/main" id="{F451F3F7-53C4-164F-AE41-F4FE891EE9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86656" y="4807342"/>
              <a:ext cx="323706" cy="323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4" descr="Tick Verde Vectores Libres de Derechos - iStock">
              <a:extLst>
                <a:ext uri="{FF2B5EF4-FFF2-40B4-BE49-F238E27FC236}">
                  <a16:creationId xmlns:a16="http://schemas.microsoft.com/office/drawing/2014/main" id="{4AAD237E-B94E-DCE8-AF33-32C3FBA9A2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2803" y="4369374"/>
              <a:ext cx="323706" cy="323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4" descr="Tick Verde Vectores Libres de Derechos - iStock">
              <a:extLst>
                <a:ext uri="{FF2B5EF4-FFF2-40B4-BE49-F238E27FC236}">
                  <a16:creationId xmlns:a16="http://schemas.microsoft.com/office/drawing/2014/main" id="{05033292-2E34-B161-F821-5204F71016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86656" y="3045993"/>
              <a:ext cx="323706" cy="323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4" descr="Tick Verde Vectores Libres de Derechos - iStock">
              <a:extLst>
                <a:ext uri="{FF2B5EF4-FFF2-40B4-BE49-F238E27FC236}">
                  <a16:creationId xmlns:a16="http://schemas.microsoft.com/office/drawing/2014/main" id="{556ADC7F-CBD8-5BE7-A35E-CB2D6B14B8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8495" y="3053957"/>
              <a:ext cx="323706" cy="323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4" descr="Tick Verde Vectores Libres de Derechos - iStock">
              <a:extLst>
                <a:ext uri="{FF2B5EF4-FFF2-40B4-BE49-F238E27FC236}">
                  <a16:creationId xmlns:a16="http://schemas.microsoft.com/office/drawing/2014/main" id="{CDA27283-8D91-60BA-B135-6241303BE1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86656" y="3500586"/>
              <a:ext cx="323706" cy="323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22" name="Picture 6" descr="Icono X con círculo negro (símbolo png)">
              <a:extLst>
                <a:ext uri="{FF2B5EF4-FFF2-40B4-BE49-F238E27FC236}">
                  <a16:creationId xmlns:a16="http://schemas.microsoft.com/office/drawing/2014/main" id="{F26EEA5F-2B3B-DACE-4440-E1E167720F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7948" y="3500586"/>
              <a:ext cx="304800" cy="2961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6" descr="Icono X con círculo negro (símbolo png)">
              <a:extLst>
                <a:ext uri="{FF2B5EF4-FFF2-40B4-BE49-F238E27FC236}">
                  <a16:creationId xmlns:a16="http://schemas.microsoft.com/office/drawing/2014/main" id="{D82B942C-B94D-5230-2BE2-552D4D80D1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96109" y="3936909"/>
              <a:ext cx="304800" cy="2961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6" descr="Icono X con círculo negro (símbolo png)">
              <a:extLst>
                <a:ext uri="{FF2B5EF4-FFF2-40B4-BE49-F238E27FC236}">
                  <a16:creationId xmlns:a16="http://schemas.microsoft.com/office/drawing/2014/main" id="{4908E65C-1549-ECA8-B8C6-77569867C6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2667" y="3936909"/>
              <a:ext cx="304800" cy="2961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6" descr="Icono X con círculo negro (símbolo png)">
              <a:extLst>
                <a:ext uri="{FF2B5EF4-FFF2-40B4-BE49-F238E27FC236}">
                  <a16:creationId xmlns:a16="http://schemas.microsoft.com/office/drawing/2014/main" id="{E9872B73-49CA-85B9-5A36-7556D22200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86656" y="4374270"/>
              <a:ext cx="304800" cy="2961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6" descr="Icono X con círculo negro (símbolo png)">
              <a:extLst>
                <a:ext uri="{FF2B5EF4-FFF2-40B4-BE49-F238E27FC236}">
                  <a16:creationId xmlns:a16="http://schemas.microsoft.com/office/drawing/2014/main" id="{FB6F0A72-A5BA-AF54-F385-FFC30D7C60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02256" y="4823134"/>
              <a:ext cx="304800" cy="2961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DA48B51D-D375-F784-DCBE-29E2F7B7DC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663" t="46394" r="31123" b="40953"/>
          <a:stretch/>
        </p:blipFill>
        <p:spPr>
          <a:xfrm>
            <a:off x="478380" y="474003"/>
            <a:ext cx="1429806" cy="5587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BCFFCAD-D9E8-3332-2B48-EE3490C9AB02}"/>
              </a:ext>
            </a:extLst>
          </p:cNvPr>
          <p:cNvSpPr txBox="1"/>
          <p:nvPr/>
        </p:nvSpPr>
        <p:spPr>
          <a:xfrm>
            <a:off x="1223617" y="405065"/>
            <a:ext cx="4686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600" dirty="0">
                <a:solidFill>
                  <a:srgbClr val="6D7F93"/>
                </a:solidFill>
              </a:rPr>
              <a:t>|Factor diferencial</a:t>
            </a:r>
          </a:p>
        </p:txBody>
      </p:sp>
    </p:spTree>
    <p:extLst>
      <p:ext uri="{BB962C8B-B14F-4D97-AF65-F5344CB8AC3E}">
        <p14:creationId xmlns:p14="http://schemas.microsoft.com/office/powerpoint/2010/main" val="74807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F7D6637-4297-CCC3-4DD4-104F11787FB4}"/>
              </a:ext>
            </a:extLst>
          </p:cNvPr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7F7"/>
          </a:solidFill>
        </p:spPr>
        <p:txBody>
          <a:bodyPr wrap="square" rtlCol="0">
            <a:spAutoFit/>
          </a:bodyPr>
          <a:lstStyle/>
          <a:p>
            <a:endParaRPr lang="es-419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323F6FA-3B2C-977F-D7F5-4DA8F90804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663" t="46394" r="31123" b="40953"/>
          <a:stretch/>
        </p:blipFill>
        <p:spPr>
          <a:xfrm>
            <a:off x="478380" y="474003"/>
            <a:ext cx="1429806" cy="55870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AC22A21-8357-E8E4-C465-823398749336}"/>
              </a:ext>
            </a:extLst>
          </p:cNvPr>
          <p:cNvSpPr txBox="1"/>
          <p:nvPr/>
        </p:nvSpPr>
        <p:spPr>
          <a:xfrm>
            <a:off x="1681842" y="417914"/>
            <a:ext cx="536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600" dirty="0">
                <a:solidFill>
                  <a:srgbClr val="6D7F93"/>
                </a:solidFill>
              </a:rPr>
              <a:t>|Oportunidad de mercado 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0ED68E2-39A9-BF0D-8178-6342B40168D5}"/>
              </a:ext>
            </a:extLst>
          </p:cNvPr>
          <p:cNvSpPr/>
          <p:nvPr/>
        </p:nvSpPr>
        <p:spPr>
          <a:xfrm>
            <a:off x="6612715" y="2164760"/>
            <a:ext cx="4262782" cy="4162567"/>
          </a:xfrm>
          <a:prstGeom prst="ellipse">
            <a:avLst/>
          </a:prstGeom>
          <a:noFill/>
          <a:ln w="50800">
            <a:solidFill>
              <a:srgbClr val="6D7F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8131470-7A6D-B847-3E6F-9D62DED02880}"/>
              </a:ext>
            </a:extLst>
          </p:cNvPr>
          <p:cNvSpPr txBox="1"/>
          <p:nvPr/>
        </p:nvSpPr>
        <p:spPr>
          <a:xfrm>
            <a:off x="895698" y="1807063"/>
            <a:ext cx="5172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600" dirty="0">
                <a:solidFill>
                  <a:srgbClr val="6D7F93"/>
                </a:solidFill>
              </a:rPr>
              <a:t>Modelo de negocio B </a:t>
            </a:r>
            <a:r>
              <a:rPr lang="es-419" sz="3600" dirty="0" err="1">
                <a:solidFill>
                  <a:srgbClr val="6D7F93"/>
                </a:solidFill>
              </a:rPr>
              <a:t>to</a:t>
            </a:r>
            <a:r>
              <a:rPr lang="es-419" sz="3600" dirty="0">
                <a:solidFill>
                  <a:srgbClr val="6D7F93"/>
                </a:solidFill>
              </a:rPr>
              <a:t> B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C0D2211-4D88-D74F-0BDF-BC0309406CC1}"/>
              </a:ext>
            </a:extLst>
          </p:cNvPr>
          <p:cNvSpPr txBox="1"/>
          <p:nvPr/>
        </p:nvSpPr>
        <p:spPr>
          <a:xfrm>
            <a:off x="895698" y="2514661"/>
            <a:ext cx="5805353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800" dirty="0">
                <a:solidFill>
                  <a:srgbClr val="3FC1C9"/>
                </a:solidFill>
              </a:rPr>
              <a:t>Ingreso por suscripción</a:t>
            </a:r>
          </a:p>
          <a:p>
            <a:r>
              <a:rPr lang="es-419" sz="4800" dirty="0">
                <a:solidFill>
                  <a:srgbClr val="6D7F93"/>
                </a:solidFill>
              </a:rPr>
              <a:t>CANTIDAD MONETARIA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710E350-049C-B6DB-2699-8F2EE70F0852}"/>
              </a:ext>
            </a:extLst>
          </p:cNvPr>
          <p:cNvSpPr txBox="1"/>
          <p:nvPr/>
        </p:nvSpPr>
        <p:spPr>
          <a:xfrm>
            <a:off x="895698" y="4637743"/>
            <a:ext cx="517250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800" dirty="0">
                <a:solidFill>
                  <a:srgbClr val="3FC1C9"/>
                </a:solidFill>
              </a:rPr>
              <a:t>Cuota de mercado</a:t>
            </a:r>
          </a:p>
          <a:p>
            <a:r>
              <a:rPr lang="es-419" sz="4800" dirty="0">
                <a:solidFill>
                  <a:srgbClr val="6D7F93"/>
                </a:solidFill>
              </a:rPr>
              <a:t>5% del mercado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3A67CAA-007E-A835-D423-2CD4925059E7}"/>
              </a:ext>
            </a:extLst>
          </p:cNvPr>
          <p:cNvSpPr txBox="1"/>
          <p:nvPr/>
        </p:nvSpPr>
        <p:spPr>
          <a:xfrm>
            <a:off x="7078519" y="3255712"/>
            <a:ext cx="33311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4800" b="1" dirty="0">
                <a:solidFill>
                  <a:srgbClr val="738598"/>
                </a:solidFill>
              </a:rPr>
              <a:t>+ de 80 mil </a:t>
            </a:r>
            <a:r>
              <a:rPr lang="es-419" sz="3600" b="1" dirty="0">
                <a:solidFill>
                  <a:srgbClr val="738598"/>
                </a:solidFill>
              </a:rPr>
              <a:t>Agricultores de zonas rurales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38959F7-D054-3458-E5EB-20EC15FB2618}"/>
              </a:ext>
            </a:extLst>
          </p:cNvPr>
          <p:cNvSpPr txBox="1"/>
          <p:nvPr/>
        </p:nvSpPr>
        <p:spPr>
          <a:xfrm>
            <a:off x="5697244" y="1506712"/>
            <a:ext cx="60937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800" dirty="0">
                <a:solidFill>
                  <a:srgbClr val="3FC1C9"/>
                </a:solidFill>
              </a:rPr>
              <a:t>Tamaño de mercado</a:t>
            </a:r>
          </a:p>
        </p:txBody>
      </p:sp>
    </p:spTree>
    <p:extLst>
      <p:ext uri="{BB962C8B-B14F-4D97-AF65-F5344CB8AC3E}">
        <p14:creationId xmlns:p14="http://schemas.microsoft.com/office/powerpoint/2010/main" val="376701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0300F9-31D5-8950-64AE-B96A28582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D4C05B-E625-F8B3-ABE1-929D65168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817" y="2204675"/>
            <a:ext cx="10515600" cy="4351338"/>
          </a:xfrm>
        </p:spPr>
        <p:txBody>
          <a:bodyPr/>
          <a:lstStyle/>
          <a:p>
            <a:endParaRPr lang="es-419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9135FA-3176-B0E6-2790-8FB59B4DA7EC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7"/>
          </a:solidFill>
        </p:spPr>
        <p:txBody>
          <a:bodyPr wrap="square" rtlCol="0">
            <a:spAutoFit/>
          </a:bodyPr>
          <a:lstStyle/>
          <a:p>
            <a:endParaRPr lang="es-419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0480251-507F-3DD5-0B13-E64700B710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663" t="46394" r="31123" b="40953"/>
          <a:stretch/>
        </p:blipFill>
        <p:spPr>
          <a:xfrm>
            <a:off x="478380" y="474003"/>
            <a:ext cx="1429806" cy="5587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6C31798-A587-ADE3-6ABC-0E0E5AEAED46}"/>
              </a:ext>
            </a:extLst>
          </p:cNvPr>
          <p:cNvSpPr txBox="1"/>
          <p:nvPr/>
        </p:nvSpPr>
        <p:spPr>
          <a:xfrm>
            <a:off x="1713755" y="438689"/>
            <a:ext cx="536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600" dirty="0">
                <a:solidFill>
                  <a:srgbClr val="6D7F93"/>
                </a:solidFill>
              </a:rPr>
              <a:t>|Crecimiento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F7C774C-E8C8-030F-79C4-2980F3AF0B46}"/>
              </a:ext>
            </a:extLst>
          </p:cNvPr>
          <p:cNvCxnSpPr>
            <a:cxnSpLocks/>
          </p:cNvCxnSpPr>
          <p:nvPr/>
        </p:nvCxnSpPr>
        <p:spPr>
          <a:xfrm>
            <a:off x="2133799" y="2576340"/>
            <a:ext cx="4" cy="3111689"/>
          </a:xfrm>
          <a:prstGeom prst="line">
            <a:avLst/>
          </a:prstGeom>
          <a:ln w="25400">
            <a:solidFill>
              <a:srgbClr val="3FC1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8A00343-971B-5E77-70BE-CFD0D998A901}"/>
              </a:ext>
            </a:extLst>
          </p:cNvPr>
          <p:cNvCxnSpPr>
            <a:cxnSpLocks/>
          </p:cNvCxnSpPr>
          <p:nvPr/>
        </p:nvCxnSpPr>
        <p:spPr>
          <a:xfrm flipH="1">
            <a:off x="2133803" y="5688029"/>
            <a:ext cx="3509975" cy="0"/>
          </a:xfrm>
          <a:prstGeom prst="line">
            <a:avLst/>
          </a:prstGeom>
          <a:ln w="25400">
            <a:solidFill>
              <a:srgbClr val="3FC1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2C30586-3088-9C65-1CC4-5D1C34DBAC3F}"/>
              </a:ext>
            </a:extLst>
          </p:cNvPr>
          <p:cNvSpPr txBox="1"/>
          <p:nvPr/>
        </p:nvSpPr>
        <p:spPr>
          <a:xfrm>
            <a:off x="838200" y="3909378"/>
            <a:ext cx="1295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dirty="0">
                <a:solidFill>
                  <a:srgbClr val="6D7F93"/>
                </a:solidFill>
              </a:rPr>
              <a:t>Clientes 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EB32927-0B86-AC8A-8271-96ABEC2E345A}"/>
              </a:ext>
            </a:extLst>
          </p:cNvPr>
          <p:cNvSpPr/>
          <p:nvPr/>
        </p:nvSpPr>
        <p:spPr>
          <a:xfrm>
            <a:off x="2482354" y="4820046"/>
            <a:ext cx="409425" cy="859838"/>
          </a:xfrm>
          <a:prstGeom prst="rect">
            <a:avLst/>
          </a:prstGeom>
          <a:solidFill>
            <a:srgbClr val="3FC1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26B8B68-6BEC-83DE-ACDA-4E7BCCE76FD4}"/>
              </a:ext>
            </a:extLst>
          </p:cNvPr>
          <p:cNvSpPr/>
          <p:nvPr/>
        </p:nvSpPr>
        <p:spPr>
          <a:xfrm>
            <a:off x="3689632" y="4268633"/>
            <a:ext cx="409425" cy="1419396"/>
          </a:xfrm>
          <a:prstGeom prst="rect">
            <a:avLst/>
          </a:prstGeom>
          <a:solidFill>
            <a:srgbClr val="3FC1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599D904-A86F-6991-813B-B667314E7755}"/>
              </a:ext>
            </a:extLst>
          </p:cNvPr>
          <p:cNvSpPr/>
          <p:nvPr/>
        </p:nvSpPr>
        <p:spPr>
          <a:xfrm>
            <a:off x="4896906" y="3108604"/>
            <a:ext cx="409425" cy="2579425"/>
          </a:xfrm>
          <a:prstGeom prst="rect">
            <a:avLst/>
          </a:prstGeom>
          <a:solidFill>
            <a:srgbClr val="3FC1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7F6B4188-E4C2-5F95-7A41-25AC5729E7E9}"/>
              </a:ext>
            </a:extLst>
          </p:cNvPr>
          <p:cNvCxnSpPr>
            <a:cxnSpLocks/>
          </p:cNvCxnSpPr>
          <p:nvPr/>
        </p:nvCxnSpPr>
        <p:spPr>
          <a:xfrm>
            <a:off x="7454548" y="2576340"/>
            <a:ext cx="4" cy="3111689"/>
          </a:xfrm>
          <a:prstGeom prst="line">
            <a:avLst/>
          </a:prstGeom>
          <a:ln w="25400">
            <a:solidFill>
              <a:srgbClr val="3FC1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EED69F6E-53A6-9F20-06B4-96563BABFD04}"/>
              </a:ext>
            </a:extLst>
          </p:cNvPr>
          <p:cNvCxnSpPr>
            <a:cxnSpLocks/>
          </p:cNvCxnSpPr>
          <p:nvPr/>
        </p:nvCxnSpPr>
        <p:spPr>
          <a:xfrm flipH="1">
            <a:off x="7454552" y="5688029"/>
            <a:ext cx="3509975" cy="0"/>
          </a:xfrm>
          <a:prstGeom prst="line">
            <a:avLst/>
          </a:prstGeom>
          <a:ln w="25400">
            <a:solidFill>
              <a:srgbClr val="3FC1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5F93688-443E-99DA-BE49-49ACB13DDB1C}"/>
              </a:ext>
            </a:extLst>
          </p:cNvPr>
          <p:cNvSpPr txBox="1"/>
          <p:nvPr/>
        </p:nvSpPr>
        <p:spPr>
          <a:xfrm>
            <a:off x="6158949" y="3909378"/>
            <a:ext cx="1295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dirty="0">
                <a:solidFill>
                  <a:srgbClr val="6D7F93"/>
                </a:solidFill>
              </a:rPr>
              <a:t>Dinero 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0BCE7E0-1460-EAA5-C19D-DD0EAFC59652}"/>
              </a:ext>
            </a:extLst>
          </p:cNvPr>
          <p:cNvSpPr txBox="1"/>
          <p:nvPr/>
        </p:nvSpPr>
        <p:spPr>
          <a:xfrm>
            <a:off x="7525381" y="5822967"/>
            <a:ext cx="9648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2400" dirty="0">
                <a:solidFill>
                  <a:srgbClr val="6D7F93"/>
                </a:solidFill>
              </a:rPr>
              <a:t>Mes 1</a:t>
            </a:r>
          </a:p>
          <a:p>
            <a:pPr algn="ctr"/>
            <a:r>
              <a:rPr lang="es-419" sz="2000" dirty="0">
                <a:solidFill>
                  <a:srgbClr val="6D7F93"/>
                </a:solidFill>
              </a:rPr>
              <a:t>B </a:t>
            </a:r>
            <a:r>
              <a:rPr lang="es-419" sz="2000" dirty="0" err="1">
                <a:solidFill>
                  <a:srgbClr val="6D7F93"/>
                </a:solidFill>
              </a:rPr>
              <a:t>to</a:t>
            </a:r>
            <a:r>
              <a:rPr lang="es-419" sz="2000" dirty="0">
                <a:solidFill>
                  <a:srgbClr val="6D7F93"/>
                </a:solidFill>
              </a:rPr>
              <a:t> C 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A7C609D-7B00-6D7F-0321-D36FB7C6ED9E}"/>
              </a:ext>
            </a:extLst>
          </p:cNvPr>
          <p:cNvSpPr txBox="1"/>
          <p:nvPr/>
        </p:nvSpPr>
        <p:spPr>
          <a:xfrm>
            <a:off x="8521578" y="5812327"/>
            <a:ext cx="13495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2400" dirty="0">
                <a:solidFill>
                  <a:srgbClr val="6D7F93"/>
                </a:solidFill>
              </a:rPr>
              <a:t>Mes 6</a:t>
            </a:r>
          </a:p>
          <a:p>
            <a:pPr algn="ctr"/>
            <a:r>
              <a:rPr lang="es-419" sz="2000" dirty="0">
                <a:solidFill>
                  <a:srgbClr val="6D7F93"/>
                </a:solidFill>
              </a:rPr>
              <a:t>B </a:t>
            </a:r>
            <a:r>
              <a:rPr lang="es-419" sz="2000" dirty="0" err="1">
                <a:solidFill>
                  <a:srgbClr val="6D7F93"/>
                </a:solidFill>
              </a:rPr>
              <a:t>to</a:t>
            </a:r>
            <a:r>
              <a:rPr lang="es-419" sz="2000" dirty="0">
                <a:solidFill>
                  <a:srgbClr val="6D7F93"/>
                </a:solidFill>
              </a:rPr>
              <a:t> B </a:t>
            </a:r>
            <a:r>
              <a:rPr lang="es-419" sz="2000" dirty="0" err="1">
                <a:solidFill>
                  <a:srgbClr val="6D7F93"/>
                </a:solidFill>
              </a:rPr>
              <a:t>to</a:t>
            </a:r>
            <a:r>
              <a:rPr lang="es-419" sz="2000" dirty="0">
                <a:solidFill>
                  <a:srgbClr val="6D7F93"/>
                </a:solidFill>
              </a:rPr>
              <a:t> C 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8720741-29CD-4ED1-525A-E1F3171C3D91}"/>
              </a:ext>
            </a:extLst>
          </p:cNvPr>
          <p:cNvSpPr txBox="1"/>
          <p:nvPr/>
        </p:nvSpPr>
        <p:spPr>
          <a:xfrm>
            <a:off x="9747586" y="5794717"/>
            <a:ext cx="13495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2400" dirty="0">
                <a:solidFill>
                  <a:srgbClr val="6D7F93"/>
                </a:solidFill>
              </a:rPr>
              <a:t>Mes 12</a:t>
            </a:r>
          </a:p>
          <a:p>
            <a:pPr algn="ctr"/>
            <a:r>
              <a:rPr lang="es-419" sz="2000" dirty="0">
                <a:solidFill>
                  <a:srgbClr val="6D7F93"/>
                </a:solidFill>
              </a:rPr>
              <a:t>B </a:t>
            </a:r>
            <a:r>
              <a:rPr lang="es-419" sz="2000" dirty="0" err="1">
                <a:solidFill>
                  <a:srgbClr val="6D7F93"/>
                </a:solidFill>
              </a:rPr>
              <a:t>to</a:t>
            </a:r>
            <a:r>
              <a:rPr lang="es-419" sz="2000" dirty="0">
                <a:solidFill>
                  <a:srgbClr val="6D7F93"/>
                </a:solidFill>
              </a:rPr>
              <a:t> B 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F734DF1-4524-DD1E-EE44-B62476F7ACA6}"/>
              </a:ext>
            </a:extLst>
          </p:cNvPr>
          <p:cNvSpPr/>
          <p:nvPr/>
        </p:nvSpPr>
        <p:spPr>
          <a:xfrm>
            <a:off x="7803103" y="4820046"/>
            <a:ext cx="409425" cy="859838"/>
          </a:xfrm>
          <a:prstGeom prst="rect">
            <a:avLst/>
          </a:prstGeom>
          <a:solidFill>
            <a:srgbClr val="3FC1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B1D6E6F5-38C0-2BC3-9490-1CE3EEF31D00}"/>
              </a:ext>
            </a:extLst>
          </p:cNvPr>
          <p:cNvSpPr/>
          <p:nvPr/>
        </p:nvSpPr>
        <p:spPr>
          <a:xfrm>
            <a:off x="9010381" y="4268633"/>
            <a:ext cx="409425" cy="1419396"/>
          </a:xfrm>
          <a:prstGeom prst="rect">
            <a:avLst/>
          </a:prstGeom>
          <a:solidFill>
            <a:srgbClr val="3FC1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25816061-E0B7-6885-6872-024BE41E7E83}"/>
              </a:ext>
            </a:extLst>
          </p:cNvPr>
          <p:cNvSpPr/>
          <p:nvPr/>
        </p:nvSpPr>
        <p:spPr>
          <a:xfrm>
            <a:off x="10217655" y="3108604"/>
            <a:ext cx="409425" cy="2579425"/>
          </a:xfrm>
          <a:prstGeom prst="rect">
            <a:avLst/>
          </a:prstGeom>
          <a:solidFill>
            <a:srgbClr val="3FC1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DD0ABDE-E4AE-D79F-027A-C459312129AC}"/>
              </a:ext>
            </a:extLst>
          </p:cNvPr>
          <p:cNvSpPr txBox="1"/>
          <p:nvPr/>
        </p:nvSpPr>
        <p:spPr>
          <a:xfrm>
            <a:off x="2229508" y="5800697"/>
            <a:ext cx="9648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2400" dirty="0">
                <a:solidFill>
                  <a:srgbClr val="6D7F93"/>
                </a:solidFill>
              </a:rPr>
              <a:t>Mes 1</a:t>
            </a:r>
          </a:p>
          <a:p>
            <a:pPr algn="ctr"/>
            <a:r>
              <a:rPr lang="es-419" sz="2000" dirty="0">
                <a:solidFill>
                  <a:srgbClr val="6D7F93"/>
                </a:solidFill>
              </a:rPr>
              <a:t>B </a:t>
            </a:r>
            <a:r>
              <a:rPr lang="es-419" sz="2000" dirty="0" err="1">
                <a:solidFill>
                  <a:srgbClr val="6D7F93"/>
                </a:solidFill>
              </a:rPr>
              <a:t>to</a:t>
            </a:r>
            <a:r>
              <a:rPr lang="es-419" sz="2000" dirty="0">
                <a:solidFill>
                  <a:srgbClr val="6D7F93"/>
                </a:solidFill>
              </a:rPr>
              <a:t> C 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105C68D-660A-FB7A-FEF8-160075B81EFD}"/>
              </a:ext>
            </a:extLst>
          </p:cNvPr>
          <p:cNvSpPr txBox="1"/>
          <p:nvPr/>
        </p:nvSpPr>
        <p:spPr>
          <a:xfrm>
            <a:off x="3225705" y="5790057"/>
            <a:ext cx="13495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2400" dirty="0">
                <a:solidFill>
                  <a:srgbClr val="6D7F93"/>
                </a:solidFill>
              </a:rPr>
              <a:t>Mes 6</a:t>
            </a:r>
          </a:p>
          <a:p>
            <a:pPr algn="ctr"/>
            <a:r>
              <a:rPr lang="es-419" sz="2000" dirty="0">
                <a:solidFill>
                  <a:srgbClr val="6D7F93"/>
                </a:solidFill>
              </a:rPr>
              <a:t>B </a:t>
            </a:r>
            <a:r>
              <a:rPr lang="es-419" sz="2000" dirty="0" err="1">
                <a:solidFill>
                  <a:srgbClr val="6D7F93"/>
                </a:solidFill>
              </a:rPr>
              <a:t>to</a:t>
            </a:r>
            <a:r>
              <a:rPr lang="es-419" sz="2000" dirty="0">
                <a:solidFill>
                  <a:srgbClr val="6D7F93"/>
                </a:solidFill>
              </a:rPr>
              <a:t> B </a:t>
            </a:r>
            <a:r>
              <a:rPr lang="es-419" sz="2000" dirty="0" err="1">
                <a:solidFill>
                  <a:srgbClr val="6D7F93"/>
                </a:solidFill>
              </a:rPr>
              <a:t>to</a:t>
            </a:r>
            <a:r>
              <a:rPr lang="es-419" sz="2000" dirty="0">
                <a:solidFill>
                  <a:srgbClr val="6D7F93"/>
                </a:solidFill>
              </a:rPr>
              <a:t> C 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84EB829-BDF2-28A9-8534-EE03F94EA1C1}"/>
              </a:ext>
            </a:extLst>
          </p:cNvPr>
          <p:cNvSpPr txBox="1"/>
          <p:nvPr/>
        </p:nvSpPr>
        <p:spPr>
          <a:xfrm>
            <a:off x="4451713" y="5772447"/>
            <a:ext cx="13495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2400" dirty="0">
                <a:solidFill>
                  <a:srgbClr val="6D7F93"/>
                </a:solidFill>
              </a:rPr>
              <a:t>Mes 12</a:t>
            </a:r>
          </a:p>
          <a:p>
            <a:pPr algn="ctr"/>
            <a:r>
              <a:rPr lang="es-419" sz="2000" dirty="0">
                <a:solidFill>
                  <a:srgbClr val="6D7F93"/>
                </a:solidFill>
              </a:rPr>
              <a:t>B </a:t>
            </a:r>
            <a:r>
              <a:rPr lang="es-419" sz="2000" dirty="0" err="1">
                <a:solidFill>
                  <a:srgbClr val="6D7F93"/>
                </a:solidFill>
              </a:rPr>
              <a:t>to</a:t>
            </a:r>
            <a:r>
              <a:rPr lang="es-419" sz="2000" dirty="0">
                <a:solidFill>
                  <a:srgbClr val="6D7F93"/>
                </a:solidFill>
              </a:rPr>
              <a:t> B 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C12A863-AEB0-2A1D-F33B-4B5A76183B3F}"/>
              </a:ext>
            </a:extLst>
          </p:cNvPr>
          <p:cNvSpPr txBox="1"/>
          <p:nvPr/>
        </p:nvSpPr>
        <p:spPr>
          <a:xfrm>
            <a:off x="361429" y="1238498"/>
            <a:ext cx="58053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800" dirty="0">
                <a:solidFill>
                  <a:srgbClr val="3FC1C9"/>
                </a:solidFill>
              </a:rPr>
              <a:t>Ingreso por suscripción</a:t>
            </a:r>
          </a:p>
          <a:p>
            <a:r>
              <a:rPr lang="es-419" sz="2800" dirty="0">
                <a:solidFill>
                  <a:srgbClr val="6D7F93"/>
                </a:solidFill>
              </a:rPr>
              <a:t>CANTIDAD MONETARIA </a:t>
            </a:r>
          </a:p>
        </p:txBody>
      </p:sp>
    </p:spTree>
    <p:extLst>
      <p:ext uri="{BB962C8B-B14F-4D97-AF65-F5344CB8AC3E}">
        <p14:creationId xmlns:p14="http://schemas.microsoft.com/office/powerpoint/2010/main" val="1326421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3822016-5F26-862E-78E2-279BC36B0843}"/>
              </a:ext>
            </a:extLst>
          </p:cNvPr>
          <p:cNvSpPr txBox="1"/>
          <p:nvPr/>
        </p:nvSpPr>
        <p:spPr>
          <a:xfrm>
            <a:off x="943996" y="1055008"/>
            <a:ext cx="8641254" cy="4873924"/>
          </a:xfrm>
          <a:prstGeom prst="rect">
            <a:avLst/>
          </a:prstGeom>
          <a:solidFill>
            <a:srgbClr val="F7F7F7"/>
          </a:solidFill>
        </p:spPr>
        <p:txBody>
          <a:bodyPr wrap="square" rtlCol="0">
            <a:spAutoFit/>
          </a:bodyPr>
          <a:lstStyle/>
          <a:p>
            <a:endParaRPr lang="es-419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573FF78-855E-F788-71A7-2A9CF71CC7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663" t="46394" r="31123" b="40953"/>
          <a:stretch/>
        </p:blipFill>
        <p:spPr>
          <a:xfrm>
            <a:off x="4154279" y="2227282"/>
            <a:ext cx="2220687" cy="86774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D98BAE6-38B3-9202-6B0E-3A969BC5FD2A}"/>
              </a:ext>
            </a:extLst>
          </p:cNvPr>
          <p:cNvSpPr txBox="1"/>
          <p:nvPr/>
        </p:nvSpPr>
        <p:spPr>
          <a:xfrm>
            <a:off x="4200931" y="3168803"/>
            <a:ext cx="2127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304966"/>
                </a:solidFill>
              </a:rPr>
              <a:t>Puedes colocar tu eslogan aquí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5810B71-2EC7-153A-8529-34773F407E15}"/>
              </a:ext>
            </a:extLst>
          </p:cNvPr>
          <p:cNvSpPr txBox="1"/>
          <p:nvPr/>
        </p:nvSpPr>
        <p:spPr>
          <a:xfrm>
            <a:off x="4065636" y="4050316"/>
            <a:ext cx="23979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b="1" dirty="0">
                <a:solidFill>
                  <a:srgbClr val="304966"/>
                </a:solidFill>
              </a:rPr>
              <a:t>Contacto:</a:t>
            </a:r>
          </a:p>
          <a:p>
            <a:pPr algn="ctr"/>
            <a:r>
              <a:rPr lang="es-419" dirty="0">
                <a:solidFill>
                  <a:srgbClr val="304966"/>
                </a:solidFill>
                <a:hlinkClick r:id="rId3"/>
              </a:rPr>
              <a:t>correo@dominio.com</a:t>
            </a:r>
            <a:endParaRPr lang="es-419" dirty="0">
              <a:solidFill>
                <a:srgbClr val="304966"/>
              </a:solidFill>
            </a:endParaRPr>
          </a:p>
          <a:p>
            <a:pPr algn="ctr"/>
            <a:endParaRPr lang="es-419" dirty="0">
              <a:solidFill>
                <a:srgbClr val="304966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D4AE833-97AC-1951-4EB2-646EB47AA267}"/>
              </a:ext>
            </a:extLst>
          </p:cNvPr>
          <p:cNvSpPr txBox="1"/>
          <p:nvPr/>
        </p:nvSpPr>
        <p:spPr>
          <a:xfrm>
            <a:off x="3968881" y="4650480"/>
            <a:ext cx="2591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hlinkClick r:id="rId4"/>
              </a:rPr>
              <a:t>https://tupaginaweb.com</a:t>
            </a:r>
            <a:endParaRPr lang="es-419" dirty="0"/>
          </a:p>
          <a:p>
            <a:endParaRPr lang="es-419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E879573-C940-2748-74D7-893A21FA8ADC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7"/>
          </a:solidFill>
        </p:spPr>
        <p:txBody>
          <a:bodyPr wrap="square" rtlCol="0">
            <a:spAutoFit/>
          </a:bodyPr>
          <a:lstStyle/>
          <a:p>
            <a:endParaRPr lang="es-419" dirty="0"/>
          </a:p>
        </p:txBody>
      </p:sp>
      <p:pic>
        <p:nvPicPr>
          <p:cNvPr id="8" name="Picture 2" descr="Que Es Un Proceso Y Ejemplos">
            <a:extLst>
              <a:ext uri="{FF2B5EF4-FFF2-40B4-BE49-F238E27FC236}">
                <a16:creationId xmlns:a16="http://schemas.microsoft.com/office/drawing/2014/main" id="{F9DFC775-2E34-E1A3-30DB-B3EDBD80E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283" y="1559023"/>
            <a:ext cx="9013385" cy="4506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FF4E4F6-1AFA-9104-5ADA-EA0C165F66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663" t="46394" r="31123" b="40953"/>
          <a:stretch/>
        </p:blipFill>
        <p:spPr>
          <a:xfrm>
            <a:off x="478380" y="474003"/>
            <a:ext cx="1429806" cy="5587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3EC807C-C464-6CC4-D4CF-12731550827A}"/>
              </a:ext>
            </a:extLst>
          </p:cNvPr>
          <p:cNvSpPr txBox="1"/>
          <p:nvPr/>
        </p:nvSpPr>
        <p:spPr>
          <a:xfrm>
            <a:off x="1713755" y="438689"/>
            <a:ext cx="536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600" dirty="0">
                <a:solidFill>
                  <a:srgbClr val="6D7F93"/>
                </a:solidFill>
              </a:rPr>
              <a:t>|Flujo de ejecución </a:t>
            </a:r>
          </a:p>
        </p:txBody>
      </p:sp>
    </p:spTree>
    <p:extLst>
      <p:ext uri="{BB962C8B-B14F-4D97-AF65-F5344CB8AC3E}">
        <p14:creationId xmlns:p14="http://schemas.microsoft.com/office/powerpoint/2010/main" val="3783685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adroTexto 44">
            <a:extLst>
              <a:ext uri="{FF2B5EF4-FFF2-40B4-BE49-F238E27FC236}">
                <a16:creationId xmlns:a16="http://schemas.microsoft.com/office/drawing/2014/main" id="{A43962F1-4C4D-8477-85EE-5E8C9322A9B0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7"/>
          </a:solidFill>
        </p:spPr>
        <p:txBody>
          <a:bodyPr wrap="square" rtlCol="0">
            <a:spAutoFit/>
          </a:bodyPr>
          <a:lstStyle/>
          <a:p>
            <a:endParaRPr lang="es-419" dirty="0"/>
          </a:p>
        </p:txBody>
      </p:sp>
      <p:pic>
        <p:nvPicPr>
          <p:cNvPr id="3" name="Picture 2" descr="Imagen De Hombre Atractivo De 30 Años Con Rastrojo Riendo Y Mostrando Los  Pulgares Hacia Arriba En La Cámara Aislada Sobre Fondo Rojo. Fotos,  Retratos, Imágenes Y Fotografía De Archivo Libres De">
            <a:extLst>
              <a:ext uri="{FF2B5EF4-FFF2-40B4-BE49-F238E27FC236}">
                <a16:creationId xmlns:a16="http://schemas.microsoft.com/office/drawing/2014/main" id="{23E66933-401B-1EFC-6AF2-66EC3F9B9A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599" t="9893" r="19784" b="9893"/>
          <a:stretch/>
        </p:blipFill>
        <p:spPr bwMode="auto">
          <a:xfrm>
            <a:off x="5296127" y="2160559"/>
            <a:ext cx="1590769" cy="152958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2" descr="✓ Imagen de Hombre adulto alegre señalando con el dedo en la mano en el  espacio de copia aislado sobre fondo blanco Fotografía de Stock">
            <a:extLst>
              <a:ext uri="{FF2B5EF4-FFF2-40B4-BE49-F238E27FC236}">
                <a16:creationId xmlns:a16="http://schemas.microsoft.com/office/drawing/2014/main" id="{8376C93F-AB3D-E906-7670-328AF64A72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301" t="7929" r="31506" b="38737"/>
          <a:stretch/>
        </p:blipFill>
        <p:spPr bwMode="auto">
          <a:xfrm>
            <a:off x="2304548" y="2160559"/>
            <a:ext cx="1590770" cy="151923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Contact Us - Business Woman Transparent Background Transparent PNG -  578x886 - Free Download on NicePNG">
            <a:extLst>
              <a:ext uri="{FF2B5EF4-FFF2-40B4-BE49-F238E27FC236}">
                <a16:creationId xmlns:a16="http://schemas.microsoft.com/office/drawing/2014/main" id="{44754CFE-1F42-76E0-E197-E0760D9BB9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7431"/>
          <a:stretch/>
        </p:blipFill>
        <p:spPr bwMode="auto">
          <a:xfrm>
            <a:off x="8287705" y="2160559"/>
            <a:ext cx="1592140" cy="1520493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15629D75-AB1E-B622-1E3E-7F966B669B4D}"/>
              </a:ext>
            </a:extLst>
          </p:cNvPr>
          <p:cNvSpPr txBox="1"/>
          <p:nvPr/>
        </p:nvSpPr>
        <p:spPr>
          <a:xfrm>
            <a:off x="1911467" y="4030380"/>
            <a:ext cx="23578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600" dirty="0">
                <a:solidFill>
                  <a:srgbClr val="6D7F93"/>
                </a:solidFill>
              </a:rPr>
              <a:t>Responsabilidad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4A69B5C-B3C6-2E34-BBE2-DAD78B5E537C}"/>
              </a:ext>
            </a:extLst>
          </p:cNvPr>
          <p:cNvSpPr txBox="1"/>
          <p:nvPr/>
        </p:nvSpPr>
        <p:spPr>
          <a:xfrm>
            <a:off x="1911467" y="4368934"/>
            <a:ext cx="23578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600" dirty="0">
                <a:solidFill>
                  <a:srgbClr val="6D7F93"/>
                </a:solidFill>
              </a:rPr>
              <a:t>Habilidades técnicas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42F38BA0-6077-4A4E-BC7A-9DECE6F1ACBF}"/>
              </a:ext>
            </a:extLst>
          </p:cNvPr>
          <p:cNvSpPr txBox="1"/>
          <p:nvPr/>
        </p:nvSpPr>
        <p:spPr>
          <a:xfrm>
            <a:off x="4915383" y="4035553"/>
            <a:ext cx="23578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600" dirty="0">
                <a:solidFill>
                  <a:srgbClr val="6D7F93"/>
                </a:solidFill>
              </a:rPr>
              <a:t>Responsabilidad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A4471611-5FCA-13E1-EBF3-7685CC9E9301}"/>
              </a:ext>
            </a:extLst>
          </p:cNvPr>
          <p:cNvSpPr txBox="1"/>
          <p:nvPr/>
        </p:nvSpPr>
        <p:spPr>
          <a:xfrm>
            <a:off x="4915383" y="4374107"/>
            <a:ext cx="23578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600" dirty="0">
                <a:solidFill>
                  <a:srgbClr val="6D7F93"/>
                </a:solidFill>
              </a:rPr>
              <a:t>Habilidades técnicas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B6A5E444-273A-DDCA-C1C8-956B07D33430}"/>
              </a:ext>
            </a:extLst>
          </p:cNvPr>
          <p:cNvSpPr txBox="1"/>
          <p:nvPr/>
        </p:nvSpPr>
        <p:spPr>
          <a:xfrm>
            <a:off x="7919299" y="4029732"/>
            <a:ext cx="23578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600" dirty="0">
                <a:solidFill>
                  <a:srgbClr val="6D7F93"/>
                </a:solidFill>
              </a:rPr>
              <a:t>Responsabilidad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42A5A743-A9D0-8DDF-9AE9-8438FA683B27}"/>
              </a:ext>
            </a:extLst>
          </p:cNvPr>
          <p:cNvSpPr txBox="1"/>
          <p:nvPr/>
        </p:nvSpPr>
        <p:spPr>
          <a:xfrm>
            <a:off x="7919299" y="4368286"/>
            <a:ext cx="23578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600" dirty="0">
                <a:solidFill>
                  <a:srgbClr val="6D7F93"/>
                </a:solidFill>
              </a:rPr>
              <a:t>Habilidades técnicas</a:t>
            </a:r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7320DBF5-11E4-5ABB-3FFB-E744594135D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50663" t="46394" r="31123" b="40953"/>
          <a:stretch/>
        </p:blipFill>
        <p:spPr>
          <a:xfrm>
            <a:off x="2564783" y="4788497"/>
            <a:ext cx="1044689" cy="408219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A12D506D-3AC3-94C4-7F53-31F928ADF30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 l="50663" t="46394" r="31123" b="40953"/>
          <a:stretch/>
        </p:blipFill>
        <p:spPr>
          <a:xfrm>
            <a:off x="5553283" y="4779058"/>
            <a:ext cx="1082082" cy="422831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5C7D0B32-10C7-7525-D2A5-92F962AD85F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 l="50663" t="46394" r="31123" b="40953"/>
          <a:stretch/>
        </p:blipFill>
        <p:spPr>
          <a:xfrm>
            <a:off x="8557199" y="4721530"/>
            <a:ext cx="1082082" cy="42283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E37CA29-154A-2FDA-AE83-2E5895E4F365}"/>
              </a:ext>
            </a:extLst>
          </p:cNvPr>
          <p:cNvSpPr txBox="1"/>
          <p:nvPr/>
        </p:nvSpPr>
        <p:spPr>
          <a:xfrm>
            <a:off x="1908186" y="3735512"/>
            <a:ext cx="23578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600" dirty="0">
                <a:solidFill>
                  <a:srgbClr val="6D7F93"/>
                </a:solidFill>
              </a:rPr>
              <a:t>Nombre y Apellido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1AD9F5A-432C-7690-0DB9-68EB16AC1700}"/>
              </a:ext>
            </a:extLst>
          </p:cNvPr>
          <p:cNvSpPr txBox="1"/>
          <p:nvPr/>
        </p:nvSpPr>
        <p:spPr>
          <a:xfrm>
            <a:off x="4907463" y="3737775"/>
            <a:ext cx="23578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600" dirty="0">
                <a:solidFill>
                  <a:srgbClr val="6D7F93"/>
                </a:solidFill>
              </a:rPr>
              <a:t>Nombre y Apellido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6A98835-23A2-94F4-3B1F-EF7EA6D44AD5}"/>
              </a:ext>
            </a:extLst>
          </p:cNvPr>
          <p:cNvSpPr txBox="1"/>
          <p:nvPr/>
        </p:nvSpPr>
        <p:spPr>
          <a:xfrm>
            <a:off x="7911379" y="3701773"/>
            <a:ext cx="23578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600" dirty="0">
                <a:solidFill>
                  <a:srgbClr val="6D7F93"/>
                </a:solidFill>
              </a:rPr>
              <a:t>Nombre y Apellido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918621B-94EC-9533-723F-A6123542C53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0663" t="46394" r="31123" b="40953"/>
          <a:stretch/>
        </p:blipFill>
        <p:spPr>
          <a:xfrm>
            <a:off x="478380" y="474003"/>
            <a:ext cx="1429806" cy="5587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8517F23-0296-6310-DE2C-0FE13B8E6FC0}"/>
              </a:ext>
            </a:extLst>
          </p:cNvPr>
          <p:cNvSpPr txBox="1"/>
          <p:nvPr/>
        </p:nvSpPr>
        <p:spPr>
          <a:xfrm>
            <a:off x="1713755" y="438689"/>
            <a:ext cx="536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600" dirty="0">
                <a:solidFill>
                  <a:srgbClr val="6D7F93"/>
                </a:solidFill>
              </a:rPr>
              <a:t>|Equipo </a:t>
            </a:r>
          </a:p>
        </p:txBody>
      </p:sp>
    </p:spTree>
    <p:extLst>
      <p:ext uri="{BB962C8B-B14F-4D97-AF65-F5344CB8AC3E}">
        <p14:creationId xmlns:p14="http://schemas.microsoft.com/office/powerpoint/2010/main" val="750455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adroTexto 44">
            <a:extLst>
              <a:ext uri="{FF2B5EF4-FFF2-40B4-BE49-F238E27FC236}">
                <a16:creationId xmlns:a16="http://schemas.microsoft.com/office/drawing/2014/main" id="{A43962F1-4C4D-8477-85EE-5E8C9322A9B0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7"/>
          </a:solidFill>
        </p:spPr>
        <p:txBody>
          <a:bodyPr wrap="square" rtlCol="0">
            <a:spAutoFit/>
          </a:bodyPr>
          <a:lstStyle/>
          <a:p>
            <a:endParaRPr lang="es-419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E4060E75-3665-EB15-53D7-8D8F4179EBF7}"/>
              </a:ext>
            </a:extLst>
          </p:cNvPr>
          <p:cNvGrpSpPr/>
          <p:nvPr/>
        </p:nvGrpSpPr>
        <p:grpSpPr>
          <a:xfrm>
            <a:off x="4421896" y="1879823"/>
            <a:ext cx="3488983" cy="4078449"/>
            <a:chOff x="4897016" y="2311609"/>
            <a:chExt cx="2397970" cy="2821945"/>
          </a:xfrm>
        </p:grpSpPr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7C5D064E-887D-E9DF-AB07-548C34F13EFE}"/>
                </a:ext>
              </a:extLst>
            </p:cNvPr>
            <p:cNvSpPr txBox="1"/>
            <p:nvPr/>
          </p:nvSpPr>
          <p:spPr>
            <a:xfrm>
              <a:off x="5032311" y="3025624"/>
              <a:ext cx="2127381" cy="6988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419" sz="2400" dirty="0">
                  <a:solidFill>
                    <a:srgbClr val="304966"/>
                  </a:solidFill>
                </a:rPr>
                <a:t>Puedes colocar tu Frase de cierre aquí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F92A1967-E102-DE6C-6B8F-7CAE2A6B25DD}"/>
                </a:ext>
              </a:extLst>
            </p:cNvPr>
            <p:cNvSpPr txBox="1"/>
            <p:nvPr/>
          </p:nvSpPr>
          <p:spPr>
            <a:xfrm>
              <a:off x="4897016" y="3907137"/>
              <a:ext cx="2397970" cy="830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419" sz="2400" b="1" dirty="0">
                  <a:solidFill>
                    <a:srgbClr val="304966"/>
                  </a:solidFill>
                </a:rPr>
                <a:t>Contacto:</a:t>
              </a:r>
            </a:p>
            <a:p>
              <a:pPr algn="ctr"/>
              <a:r>
                <a:rPr lang="es-419" sz="2400" dirty="0">
                  <a:solidFill>
                    <a:srgbClr val="304966"/>
                  </a:solidFill>
                  <a:hlinkClick r:id="rId2"/>
                </a:rPr>
                <a:t>correo@dominio.com</a:t>
              </a:r>
              <a:endParaRPr lang="es-419" sz="2400" dirty="0">
                <a:solidFill>
                  <a:srgbClr val="304966"/>
                </a:solidFill>
              </a:endParaRPr>
            </a:p>
            <a:p>
              <a:pPr algn="ctr"/>
              <a:endParaRPr lang="es-419" sz="2400" dirty="0">
                <a:solidFill>
                  <a:srgbClr val="304966"/>
                </a:solidFill>
              </a:endParaRP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7350B0AA-CB57-9FEE-2300-C3A739EF0933}"/>
                </a:ext>
              </a:extLst>
            </p:cNvPr>
            <p:cNvSpPr txBox="1"/>
            <p:nvPr/>
          </p:nvSpPr>
          <p:spPr>
            <a:xfrm>
              <a:off x="4969036" y="4434703"/>
              <a:ext cx="2325950" cy="6988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419" sz="2400" dirty="0">
                  <a:hlinkClick r:id="rId3"/>
                </a:rPr>
                <a:t>https://tupaginaweb.com</a:t>
              </a:r>
              <a:endParaRPr lang="es-419" sz="2400" dirty="0"/>
            </a:p>
            <a:p>
              <a:pPr algn="ctr"/>
              <a:endParaRPr lang="es-419" sz="2400" dirty="0"/>
            </a:p>
          </p:txBody>
        </p:sp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54007CF1-5D6C-F494-B3EE-C8DD02CF60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0663" t="46394" r="31123" b="40953"/>
            <a:stretch/>
          </p:blipFill>
          <p:spPr>
            <a:xfrm>
              <a:off x="5484650" y="2311609"/>
              <a:ext cx="1222700" cy="477778"/>
            </a:xfrm>
            <a:prstGeom prst="rect">
              <a:avLst/>
            </a:prstGeom>
          </p:spPr>
        </p:pic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8CFE65A4-9A1A-70ED-3C92-737E3B34932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663" t="46394" r="31123" b="40953"/>
          <a:stretch/>
        </p:blipFill>
        <p:spPr>
          <a:xfrm>
            <a:off x="478380" y="474003"/>
            <a:ext cx="1429806" cy="55870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14ED665-FA65-7923-AF22-2D77AFD00B66}"/>
              </a:ext>
            </a:extLst>
          </p:cNvPr>
          <p:cNvSpPr txBox="1"/>
          <p:nvPr/>
        </p:nvSpPr>
        <p:spPr>
          <a:xfrm>
            <a:off x="1713755" y="438689"/>
            <a:ext cx="536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600" dirty="0">
                <a:solidFill>
                  <a:srgbClr val="6D7F93"/>
                </a:solidFill>
              </a:rPr>
              <a:t>|Frase motivacional </a:t>
            </a:r>
          </a:p>
        </p:txBody>
      </p:sp>
    </p:spTree>
    <p:extLst>
      <p:ext uri="{BB962C8B-B14F-4D97-AF65-F5344CB8AC3E}">
        <p14:creationId xmlns:p14="http://schemas.microsoft.com/office/powerpoint/2010/main" val="25027958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407</Words>
  <Application>Microsoft Office PowerPoint</Application>
  <PresentationFormat>Panorámica</PresentationFormat>
  <Paragraphs>113</Paragraphs>
  <Slides>13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OSCAR</dc:creator>
  <cp:lastModifiedBy>Oscar Christian Medina Carpio</cp:lastModifiedBy>
  <cp:revision>8</cp:revision>
  <dcterms:created xsi:type="dcterms:W3CDTF">2024-06-02T04:20:43Z</dcterms:created>
  <dcterms:modified xsi:type="dcterms:W3CDTF">2026-09-02T16:38:35Z</dcterms:modified>
</cp:coreProperties>
</file>